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diagrams/layout1.xml" ContentType="application/vnd.openxmlformats-officedocument.drawingml.diagramLayout+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Default Extension="png" ContentType="image/png"/>
  <Default Extension="bin" ContentType="application/vnd.openxmlformats-officedocument.oleObject"/>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Default Extension="jpeg" ContentType="image/jpeg"/>
  <Override PartName="/ppt/slideLayouts/slideLayout3.xml" ContentType="application/vnd.openxmlformats-officedocument.presentationml.slideLayout+xml"/>
  <Override PartName="/ppt/diagrams/quickStyle1.xml" ContentType="application/vnd.openxmlformats-officedocument.drawingml.diagramStyl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Default Extension="gif" ContentType="image/gif"/>
  <Default Extension="vml" ContentType="application/vnd.openxmlformats-officedocument.vmlDrawing"/>
  <Override PartName="/ppt/slides/slide8.xml" ContentType="application/vnd.openxmlformats-officedocument.presentationml.slide+xml"/>
  <Override PartName="/ppt/slides/slide49.xml" ContentType="application/vnd.openxmlformats-officedocument.presentationml.slide+xml"/>
  <Override PartName="/ppt/handoutMasters/handoutMaster1.xml" ContentType="application/vnd.openxmlformats-officedocument.presentationml.handoutMaster+xml"/>
  <Override PartName="/ppt/diagrams/data1.xml" ContentType="application/vnd.openxmlformats-officedocument.drawingml.diagramData+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62"/>
  </p:notesMasterIdLst>
  <p:handoutMasterIdLst>
    <p:handoutMasterId r:id="rId63"/>
  </p:handoutMasterIdLst>
  <p:sldIdLst>
    <p:sldId id="297" r:id="rId2"/>
    <p:sldId id="256" r:id="rId3"/>
    <p:sldId id="281" r:id="rId4"/>
    <p:sldId id="312" r:id="rId5"/>
    <p:sldId id="299" r:id="rId6"/>
    <p:sldId id="300" r:id="rId7"/>
    <p:sldId id="301" r:id="rId8"/>
    <p:sldId id="302" r:id="rId9"/>
    <p:sldId id="303" r:id="rId10"/>
    <p:sldId id="280" r:id="rId11"/>
    <p:sldId id="283" r:id="rId12"/>
    <p:sldId id="304" r:id="rId13"/>
    <p:sldId id="286" r:id="rId14"/>
    <p:sldId id="305" r:id="rId15"/>
    <p:sldId id="313" r:id="rId16"/>
    <p:sldId id="314" r:id="rId17"/>
    <p:sldId id="306" r:id="rId18"/>
    <p:sldId id="324" r:id="rId19"/>
    <p:sldId id="307" r:id="rId20"/>
    <p:sldId id="308" r:id="rId21"/>
    <p:sldId id="258" r:id="rId22"/>
    <p:sldId id="309" r:id="rId23"/>
    <p:sldId id="310" r:id="rId24"/>
    <p:sldId id="311" r:id="rId25"/>
    <p:sldId id="321" r:id="rId26"/>
    <p:sldId id="288" r:id="rId27"/>
    <p:sldId id="322" r:id="rId28"/>
    <p:sldId id="289" r:id="rId29"/>
    <p:sldId id="290" r:id="rId30"/>
    <p:sldId id="315" r:id="rId31"/>
    <p:sldId id="316" r:id="rId32"/>
    <p:sldId id="317" r:id="rId33"/>
    <p:sldId id="318" r:id="rId34"/>
    <p:sldId id="319" r:id="rId35"/>
    <p:sldId id="320" r:id="rId36"/>
    <p:sldId id="291" r:id="rId37"/>
    <p:sldId id="292" r:id="rId38"/>
    <p:sldId id="293" r:id="rId39"/>
    <p:sldId id="323" r:id="rId40"/>
    <p:sldId id="277" r:id="rId41"/>
    <p:sldId id="294" r:id="rId42"/>
    <p:sldId id="295" r:id="rId43"/>
    <p:sldId id="263" r:id="rId44"/>
    <p:sldId id="262" r:id="rId45"/>
    <p:sldId id="264" r:id="rId46"/>
    <p:sldId id="265" r:id="rId47"/>
    <p:sldId id="266" r:id="rId48"/>
    <p:sldId id="267" r:id="rId49"/>
    <p:sldId id="278" r:id="rId50"/>
    <p:sldId id="279" r:id="rId51"/>
    <p:sldId id="268" r:id="rId52"/>
    <p:sldId id="269" r:id="rId53"/>
    <p:sldId id="270" r:id="rId54"/>
    <p:sldId id="271" r:id="rId55"/>
    <p:sldId id="272" r:id="rId56"/>
    <p:sldId id="273" r:id="rId57"/>
    <p:sldId id="274" r:id="rId58"/>
    <p:sldId id="275" r:id="rId59"/>
    <p:sldId id="296" r:id="rId60"/>
    <p:sldId id="298" r:id="rId6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33"/>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521" autoAdjust="0"/>
    <p:restoredTop sz="94660"/>
  </p:normalViewPr>
  <p:slideViewPr>
    <p:cSldViewPr>
      <p:cViewPr>
        <p:scale>
          <a:sx n="70" d="100"/>
          <a:sy n="70" d="100"/>
        </p:scale>
        <p:origin x="-522" y="-36"/>
      </p:cViewPr>
      <p:guideLst>
        <p:guide orient="horz" pos="2160"/>
        <p:guide pos="2880"/>
      </p:guideLst>
    </p:cSldViewPr>
  </p:slideViewPr>
  <p:notesTextViewPr>
    <p:cViewPr>
      <p:scale>
        <a:sx n="1" d="1"/>
        <a:sy n="1" d="1"/>
      </p:scale>
      <p:origin x="0" y="0"/>
    </p:cViewPr>
  </p:notesTextViewPr>
  <p:sorterViewPr>
    <p:cViewPr>
      <p:scale>
        <a:sx n="75" d="100"/>
        <a:sy n="75" d="100"/>
      </p:scale>
      <p:origin x="0" y="0"/>
    </p:cViewPr>
  </p:sorterViewPr>
  <p:notesViewPr>
    <p:cSldViewPr>
      <p:cViewPr varScale="1">
        <p:scale>
          <a:sx n="56" d="100"/>
          <a:sy n="56" d="100"/>
        </p:scale>
        <p:origin x="-1860" y="-102"/>
      </p:cViewPr>
      <p:guideLst>
        <p:guide orient="horz" pos="2880"/>
        <p:guide pos="2160"/>
      </p:guideLst>
    </p:cSldViewPr>
  </p:notes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45BB428-8D33-4659-B6CE-3251123EC1FE}" type="doc">
      <dgm:prSet loTypeId="urn:microsoft.com/office/officeart/2005/8/layout/hProcess3" loCatId="process" qsTypeId="urn:microsoft.com/office/officeart/2005/8/quickstyle/simple1" qsCatId="simple" csTypeId="urn:microsoft.com/office/officeart/2005/8/colors/accent1_2" csCatId="accent1" phldr="1"/>
      <dgm:spPr/>
    </dgm:pt>
    <dgm:pt modelId="{606E1F26-E04E-4955-BB6A-2E0EC7BAB851}">
      <dgm:prSet phldrT="[Text]" custT="1"/>
      <dgm:spPr/>
      <dgm:t>
        <a:bodyPr/>
        <a:lstStyle/>
        <a:p>
          <a:r>
            <a:rPr lang="en-US" sz="2000" b="1" dirty="0" smtClean="0"/>
            <a:t>Actual Bench Setup for experiment</a:t>
          </a:r>
          <a:endParaRPr lang="en-US" sz="2000" dirty="0"/>
        </a:p>
      </dgm:t>
    </dgm:pt>
    <dgm:pt modelId="{A31854DF-47C7-4CAF-9B3E-837F4CEA41D9}" type="parTrans" cxnId="{0389BBE3-2959-4387-837B-445EFD3129D1}">
      <dgm:prSet/>
      <dgm:spPr/>
      <dgm:t>
        <a:bodyPr/>
        <a:lstStyle/>
        <a:p>
          <a:endParaRPr lang="en-US"/>
        </a:p>
      </dgm:t>
    </dgm:pt>
    <dgm:pt modelId="{8C72E9DD-F722-4706-88C9-75F1BA8A11D1}" type="sibTrans" cxnId="{0389BBE3-2959-4387-837B-445EFD3129D1}">
      <dgm:prSet/>
      <dgm:spPr/>
      <dgm:t>
        <a:bodyPr/>
        <a:lstStyle/>
        <a:p>
          <a:endParaRPr lang="en-US"/>
        </a:p>
      </dgm:t>
    </dgm:pt>
    <dgm:pt modelId="{97531A14-6ADC-4FD9-86C2-4C4736E681DE}" type="pres">
      <dgm:prSet presAssocID="{445BB428-8D33-4659-B6CE-3251123EC1FE}" presName="Name0" presStyleCnt="0">
        <dgm:presLayoutVars>
          <dgm:dir/>
          <dgm:animLvl val="lvl"/>
          <dgm:resizeHandles val="exact"/>
        </dgm:presLayoutVars>
      </dgm:prSet>
      <dgm:spPr/>
    </dgm:pt>
    <dgm:pt modelId="{A6321CA3-1E28-4ADB-BE0F-0CCF9A702749}" type="pres">
      <dgm:prSet presAssocID="{445BB428-8D33-4659-B6CE-3251123EC1FE}" presName="dummy" presStyleCnt="0"/>
      <dgm:spPr/>
    </dgm:pt>
    <dgm:pt modelId="{EEAD4D66-81B6-47CA-B9B5-0C976FE63422}" type="pres">
      <dgm:prSet presAssocID="{445BB428-8D33-4659-B6CE-3251123EC1FE}" presName="linH" presStyleCnt="0"/>
      <dgm:spPr/>
    </dgm:pt>
    <dgm:pt modelId="{6BBF6839-184D-49F3-8471-D2121AEEFFAD}" type="pres">
      <dgm:prSet presAssocID="{445BB428-8D33-4659-B6CE-3251123EC1FE}" presName="padding1" presStyleCnt="0"/>
      <dgm:spPr/>
    </dgm:pt>
    <dgm:pt modelId="{5FDCF7C8-4D52-4A21-A94D-40015501DA05}" type="pres">
      <dgm:prSet presAssocID="{606E1F26-E04E-4955-BB6A-2E0EC7BAB851}" presName="linV" presStyleCnt="0"/>
      <dgm:spPr/>
    </dgm:pt>
    <dgm:pt modelId="{DD172E66-78A5-48E1-B56F-222B3DF46C52}" type="pres">
      <dgm:prSet presAssocID="{606E1F26-E04E-4955-BB6A-2E0EC7BAB851}" presName="spVertical1" presStyleCnt="0"/>
      <dgm:spPr/>
    </dgm:pt>
    <dgm:pt modelId="{72478CC3-8E81-4725-9AD0-79056ADEC03F}" type="pres">
      <dgm:prSet presAssocID="{606E1F26-E04E-4955-BB6A-2E0EC7BAB851}" presName="parTx" presStyleLbl="revTx" presStyleIdx="0" presStyleCnt="1" custLinFactNeighborX="-12442" custLinFactNeighborY="-9455">
        <dgm:presLayoutVars>
          <dgm:chMax val="0"/>
          <dgm:chPref val="0"/>
          <dgm:bulletEnabled val="1"/>
        </dgm:presLayoutVars>
      </dgm:prSet>
      <dgm:spPr/>
      <dgm:t>
        <a:bodyPr/>
        <a:lstStyle/>
        <a:p>
          <a:endParaRPr lang="en-US"/>
        </a:p>
      </dgm:t>
    </dgm:pt>
    <dgm:pt modelId="{13877EAE-5BAC-4CB9-826F-39BE7F96B685}" type="pres">
      <dgm:prSet presAssocID="{606E1F26-E04E-4955-BB6A-2E0EC7BAB851}" presName="spVertical2" presStyleCnt="0"/>
      <dgm:spPr/>
    </dgm:pt>
    <dgm:pt modelId="{A86E98E1-0D45-4737-BFC8-65A141BA854A}" type="pres">
      <dgm:prSet presAssocID="{606E1F26-E04E-4955-BB6A-2E0EC7BAB851}" presName="spVertical3" presStyleCnt="0"/>
      <dgm:spPr/>
    </dgm:pt>
    <dgm:pt modelId="{87CA4B5A-E7A1-48E9-B4D0-E6426DB421B5}" type="pres">
      <dgm:prSet presAssocID="{445BB428-8D33-4659-B6CE-3251123EC1FE}" presName="padding2" presStyleCnt="0"/>
      <dgm:spPr/>
    </dgm:pt>
    <dgm:pt modelId="{EEFEB610-F28B-4957-897D-D5ED2C209CCF}" type="pres">
      <dgm:prSet presAssocID="{445BB428-8D33-4659-B6CE-3251123EC1FE}" presName="negArrow" presStyleCnt="0"/>
      <dgm:spPr/>
    </dgm:pt>
    <dgm:pt modelId="{AF5B857C-874B-4222-9CC4-02B50C7DC969}" type="pres">
      <dgm:prSet presAssocID="{445BB428-8D33-4659-B6CE-3251123EC1FE}" presName="backgroundArrow" presStyleLbl="node1" presStyleIdx="0" presStyleCnt="1" custLinFactNeighborY="1696"/>
      <dgm:spPr/>
    </dgm:pt>
  </dgm:ptLst>
  <dgm:cxnLst>
    <dgm:cxn modelId="{0F826467-B2AA-495F-93ED-D042C2569346}" type="presOf" srcId="{445BB428-8D33-4659-B6CE-3251123EC1FE}" destId="{97531A14-6ADC-4FD9-86C2-4C4736E681DE}" srcOrd="0" destOrd="0" presId="urn:microsoft.com/office/officeart/2005/8/layout/hProcess3"/>
    <dgm:cxn modelId="{0389BBE3-2959-4387-837B-445EFD3129D1}" srcId="{445BB428-8D33-4659-B6CE-3251123EC1FE}" destId="{606E1F26-E04E-4955-BB6A-2E0EC7BAB851}" srcOrd="0" destOrd="0" parTransId="{A31854DF-47C7-4CAF-9B3E-837F4CEA41D9}" sibTransId="{8C72E9DD-F722-4706-88C9-75F1BA8A11D1}"/>
    <dgm:cxn modelId="{CF553DEF-C876-4F2D-8960-638730C34BD6}" type="presOf" srcId="{606E1F26-E04E-4955-BB6A-2E0EC7BAB851}" destId="{72478CC3-8E81-4725-9AD0-79056ADEC03F}" srcOrd="0" destOrd="0" presId="urn:microsoft.com/office/officeart/2005/8/layout/hProcess3"/>
    <dgm:cxn modelId="{A58A103F-DA47-406A-97D8-D9911F96C7D1}" type="presParOf" srcId="{97531A14-6ADC-4FD9-86C2-4C4736E681DE}" destId="{A6321CA3-1E28-4ADB-BE0F-0CCF9A702749}" srcOrd="0" destOrd="0" presId="urn:microsoft.com/office/officeart/2005/8/layout/hProcess3"/>
    <dgm:cxn modelId="{4B1051E2-A674-4643-BBA1-60B38D94894E}" type="presParOf" srcId="{97531A14-6ADC-4FD9-86C2-4C4736E681DE}" destId="{EEAD4D66-81B6-47CA-B9B5-0C976FE63422}" srcOrd="1" destOrd="0" presId="urn:microsoft.com/office/officeart/2005/8/layout/hProcess3"/>
    <dgm:cxn modelId="{1178995B-372A-45FE-A12B-D4DC5B1CC104}" type="presParOf" srcId="{EEAD4D66-81B6-47CA-B9B5-0C976FE63422}" destId="{6BBF6839-184D-49F3-8471-D2121AEEFFAD}" srcOrd="0" destOrd="0" presId="urn:microsoft.com/office/officeart/2005/8/layout/hProcess3"/>
    <dgm:cxn modelId="{0AC6088F-7FA4-4BD7-8B97-57584A0D82AA}" type="presParOf" srcId="{EEAD4D66-81B6-47CA-B9B5-0C976FE63422}" destId="{5FDCF7C8-4D52-4A21-A94D-40015501DA05}" srcOrd="1" destOrd="0" presId="urn:microsoft.com/office/officeart/2005/8/layout/hProcess3"/>
    <dgm:cxn modelId="{F9F02FA3-3381-4154-B503-177A12EEF2A7}" type="presParOf" srcId="{5FDCF7C8-4D52-4A21-A94D-40015501DA05}" destId="{DD172E66-78A5-48E1-B56F-222B3DF46C52}" srcOrd="0" destOrd="0" presId="urn:microsoft.com/office/officeart/2005/8/layout/hProcess3"/>
    <dgm:cxn modelId="{7479587F-DA2E-49FA-8AC8-5680DE6EBB6A}" type="presParOf" srcId="{5FDCF7C8-4D52-4A21-A94D-40015501DA05}" destId="{72478CC3-8E81-4725-9AD0-79056ADEC03F}" srcOrd="1" destOrd="0" presId="urn:microsoft.com/office/officeart/2005/8/layout/hProcess3"/>
    <dgm:cxn modelId="{5A2FF9FD-F1FF-4BEA-BF87-599430C026FE}" type="presParOf" srcId="{5FDCF7C8-4D52-4A21-A94D-40015501DA05}" destId="{13877EAE-5BAC-4CB9-826F-39BE7F96B685}" srcOrd="2" destOrd="0" presId="urn:microsoft.com/office/officeart/2005/8/layout/hProcess3"/>
    <dgm:cxn modelId="{620D5F3D-1204-4DA9-A2E2-F8124D9765C4}" type="presParOf" srcId="{5FDCF7C8-4D52-4A21-A94D-40015501DA05}" destId="{A86E98E1-0D45-4737-BFC8-65A141BA854A}" srcOrd="3" destOrd="0" presId="urn:microsoft.com/office/officeart/2005/8/layout/hProcess3"/>
    <dgm:cxn modelId="{79DD0B22-9D24-4818-B79A-C188CB19F857}" type="presParOf" srcId="{EEAD4D66-81B6-47CA-B9B5-0C976FE63422}" destId="{87CA4B5A-E7A1-48E9-B4D0-E6426DB421B5}" srcOrd="2" destOrd="0" presId="urn:microsoft.com/office/officeart/2005/8/layout/hProcess3"/>
    <dgm:cxn modelId="{191AB86A-C3AC-4007-B826-B148CA1328FE}" type="presParOf" srcId="{EEAD4D66-81B6-47CA-B9B5-0C976FE63422}" destId="{EEFEB610-F28B-4957-897D-D5ED2C209CCF}" srcOrd="3" destOrd="0" presId="urn:microsoft.com/office/officeart/2005/8/layout/hProcess3"/>
    <dgm:cxn modelId="{251DEDED-4A9B-412B-8531-18651CCE0D14}" type="presParOf" srcId="{EEAD4D66-81B6-47CA-B9B5-0C976FE63422}" destId="{AF5B857C-874B-4222-9CC4-02B50C7DC969}" srcOrd="4" destOrd="0" presId="urn:microsoft.com/office/officeart/2005/8/layout/hProcess3"/>
  </dgm:cxnLst>
  <dgm:bg/>
  <dgm:whole/>
</dgm:dataModel>
</file>

<file path=ppt/diagrams/layout1.xml><?xml version="1.0" encoding="utf-8"?>
<dgm:layoutDef xmlns:dgm="http://schemas.openxmlformats.org/drawingml/2006/diagram" xmlns:a="http://schemas.openxmlformats.org/drawingml/2006/main" uniqueId="urn:microsoft.com/office/officeart/2005/8/layout/hProcess3">
  <dgm:title val=""/>
  <dgm:desc val=""/>
  <dgm:catLst>
    <dgm:cat type="process" pri="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chOrder="t">
    <dgm:varLst>
      <dgm:dir/>
      <dgm:animLvl val="lvl"/>
      <dgm:resizeHandles val="exact"/>
    </dgm:varLst>
    <dgm:alg type="composite"/>
    <dgm:shape xmlns:r="http://schemas.openxmlformats.org/officeDocument/2006/relationships" r:blip="">
      <dgm:adjLst/>
    </dgm:shape>
    <dgm:presOf/>
    <dgm:constrLst>
      <dgm:constr type="w" for="ch" forName="dummy" refType="w"/>
      <dgm:constr type="h" for="ch" forName="dummy" refType="h"/>
      <dgm:constr type="h" for="ch" forName="dummy" refType="w" refFor="ch" refForName="dummy" op="lte" fact="0.4"/>
      <dgm:constr type="ctrX" for="ch" forName="dummy" refType="w" fact="0.5"/>
      <dgm:constr type="ctrY" for="ch" forName="dummy" refType="h" fact="0.5"/>
      <dgm:constr type="w" for="ch" forName="linH" refType="w"/>
      <dgm:constr type="h" for="ch" forName="linH" refType="h"/>
      <dgm:constr type="ctrX" for="ch" forName="linH" refType="w" fact="0.5"/>
      <dgm:constr type="ctrY" for="ch" forName="linH" refType="h" fact="0.5"/>
      <dgm:constr type="userP" for="ch" forName="linH" refType="h" refFor="ch" refForName="dummy" fact="0.25"/>
      <dgm:constr type="userT" for="des" forName="parTx" refType="w" refFor="ch" refForName="dummy" fact="0.2"/>
    </dgm:constrLst>
    <dgm:ruleLst/>
    <dgm:layoutNode name="dummy">
      <dgm:alg type="sp"/>
      <dgm:shape xmlns:r="http://schemas.openxmlformats.org/officeDocument/2006/relationships" r:blip="">
        <dgm:adjLst/>
      </dgm:shape>
      <dgm:presOf/>
      <dgm:constrLst/>
      <dgm:ruleLst/>
    </dgm:layoutNode>
    <dgm:layoutNode name="linH">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primFontSz" for="des" forName="parTx" val="65"/>
        <dgm:constr type="primFontSz" for="des" forName="desTx" refType="primFontSz" refFor="des" refForName="parTx" op="equ"/>
        <dgm:constr type="h" for="des" forName="parTx" refType="primFontSz" refFor="des" refForName="parTx"/>
        <dgm:constr type="h" for="des" forName="desTx" refType="primFontSz" refFor="des" refForName="parTx" fact="0.5"/>
        <dgm:constr type="h" for="des" forName="parTx" op="equ"/>
        <dgm:constr type="h" for="des" forName="desTx" op="equ"/>
        <dgm:constr type="h" for="ch" forName="backgroundArrow" refType="primFontSz" refFor="des" refForName="parTx" fact="2"/>
        <dgm:constr type="h" for="ch" forName="backgroundArrow" refType="h" refFor="des" refForName="parTx" op="lte" fact="2"/>
        <dgm:constr type="h" for="ch" forName="backgroundArrow" refType="h" refFor="des" refForName="parTx" op="gte" fact="2"/>
        <dgm:constr type="h" for="des" forName="spVertical1" refType="primFontSz" refFor="des" refForName="parTx" fact="0.5"/>
        <dgm:constr type="h" for="des" forName="spVertical1" refType="h" refFor="des" refForName="parTx" op="lte" fact="0.5"/>
        <dgm:constr type="h" for="des" forName="spVertical1" refType="h" refFor="des" refForName="parTx" op="gte" fact="0.5"/>
        <dgm:constr type="h" for="des" forName="spVertical2" refType="primFontSz" refFor="des" refForName="parTx" fact="0.5"/>
        <dgm:constr type="h" for="des" forName="spVertical2" refType="h" refFor="des" refForName="parTx" op="lte" fact="0.5"/>
        <dgm:constr type="h" for="des" forName="spVertical2" refType="h" refFor="des" refForName="parTx" op="gte" fact="0.5"/>
        <dgm:constr type="h" for="des" forName="spVertical3" refType="primFontSz" refFor="des" refForName="parTx" fact="-0.4"/>
        <dgm:constr type="h" for="des" forName="spVertical3" refType="h" refFor="des" refForName="parTx" op="lte" fact="-0.4"/>
        <dgm:constr type="h" for="des" forName="spVertical3" refType="h" refFor="des" refForName="parTx" op="gte" fact="-0.4"/>
        <dgm:constr type="w" for="ch" forName="backgroundArrow" refType="w"/>
        <dgm:constr type="w" for="ch" forName="negArrow" refType="w" fact="-1"/>
        <dgm:constr type="w" for="ch" forName="linV" refType="w"/>
        <dgm:constr type="w" for="ch" forName="space" refType="w" refFor="ch" refForName="linV" fact="0.2"/>
        <dgm:constr type="w" for="ch" forName="padding1" refType="w" fact="0.08"/>
        <dgm:constr type="userP"/>
        <dgm:constr type="w" for="ch" forName="padding2" refType="userP"/>
      </dgm:constrLst>
      <dgm:ruleLst>
        <dgm:rule type="w" for="ch" forName="linV" val="0" fact="NaN" max="NaN"/>
        <dgm:rule type="primFontSz" for="des" forName="parTx" val="5" fact="NaN" max="NaN"/>
      </dgm:ruleLst>
      <dgm:layoutNode name="padding1">
        <dgm:alg type="sp"/>
        <dgm:shape xmlns:r="http://schemas.openxmlformats.org/officeDocument/2006/relationships" r:blip="">
          <dgm:adjLst/>
        </dgm:shape>
        <dgm:presOf/>
        <dgm:constrLst/>
        <dgm:ruleLst/>
      </dgm:layoutNode>
      <dgm:forEach name="Name4" axis="ch" ptType="node">
        <dgm:layoutNode name="linV">
          <dgm:alg type="lin">
            <dgm:param type="linDir" val="fromT"/>
          </dgm:alg>
          <dgm:shape xmlns:r="http://schemas.openxmlformats.org/officeDocument/2006/relationships" r:blip="">
            <dgm:adjLst/>
          </dgm:shape>
          <dgm:presOf/>
          <dgm:constrLst>
            <dgm:constr type="w" for="ch" forName="spVertical1" refType="w"/>
            <dgm:constr type="w" for="ch" forName="parTx" refType="w"/>
            <dgm:constr type="w" for="ch" forName="spVertical2" refType="w"/>
            <dgm:constr type="w" for="ch" forName="spVertical3" refType="w"/>
            <dgm:constr type="w" for="ch" forName="desTx" refType="w"/>
          </dgm:constrLst>
          <dgm:ruleLst/>
          <dgm:layoutNode name="spVertical1">
            <dgm:alg type="sp"/>
            <dgm:shape xmlns:r="http://schemas.openxmlformats.org/officeDocument/2006/relationships" r:blip="">
              <dgm:adjLst/>
            </dgm:shape>
            <dgm:presOf/>
            <dgm:constrLst/>
            <dgm:ruleLst/>
          </dgm:layoutNode>
          <dgm:layoutNode name="parTx" styleLbl="revTx">
            <dgm:varLst>
              <dgm:chMax val="0"/>
              <dgm:chPref val="0"/>
              <dgm:bulletEnabled val="1"/>
            </dgm:varLst>
            <dgm:choose name="Name5">
              <dgm:if name="Name6" axis="root des" ptType="all node" func="maxDepth" op="gt" val="1">
                <dgm:alg type="tx">
                  <dgm:param type="parTxLTRAlign" val="l"/>
                  <dgm:param type="parTxRTLAlign" val="r"/>
                </dgm:alg>
              </dgm:if>
              <dgm:else name="Name7">
                <dgm:alg type="tx">
                  <dgm:param type="parTxLTRAlign" val="ctr"/>
                  <dgm:param type="parTxRTLAlign" val="ctr"/>
                </dgm:alg>
              </dgm:else>
            </dgm:choose>
            <dgm:shape xmlns:r="http://schemas.openxmlformats.org/officeDocument/2006/relationships" type="rect" r:blip="">
              <dgm:adjLst/>
            </dgm:shape>
            <dgm:presOf axis="self" ptType="node"/>
            <dgm:choose name="Name8">
              <dgm:if name="Name9" func="var" arg="dir" op="equ" val="norm">
                <dgm:constrLst>
                  <dgm:constr type="userT"/>
                  <dgm:constr type="h" refType="userT" op="lte"/>
                  <dgm:constr type="tMarg" refType="primFontSz" fact="0.8"/>
                  <dgm:constr type="bMarg" refType="tMarg"/>
                  <dgm:constr type="lMarg"/>
                  <dgm:constr type="rMarg"/>
                </dgm:constrLst>
              </dgm:if>
              <dgm:else name="Name10">
                <dgm:constrLst>
                  <dgm:constr type="userT"/>
                  <dgm:constr type="h" refType="userT" op="lte"/>
                  <dgm:constr type="tMarg" refType="primFontSz" fact="0.8"/>
                  <dgm:constr type="bMarg" refType="tMarg"/>
                  <dgm:constr type="lMarg"/>
                  <dgm:constr type="rMarg"/>
                </dgm:constrLst>
              </dgm:else>
            </dgm:choose>
            <dgm:ruleLst>
              <dgm:rule type="h" val="INF" fact="NaN" max="NaN"/>
            </dgm:ruleLst>
          </dgm:layoutNode>
          <dgm:layoutNode name="spVertical2">
            <dgm:alg type="sp"/>
            <dgm:shape xmlns:r="http://schemas.openxmlformats.org/officeDocument/2006/relationships" r:blip="">
              <dgm:adjLst/>
            </dgm:shape>
            <dgm:presOf/>
            <dgm:constrLst/>
            <dgm:ruleLst/>
          </dgm:layoutNode>
          <dgm:layoutNode name="spVertical3">
            <dgm:alg type="sp"/>
            <dgm:shape xmlns:r="http://schemas.openxmlformats.org/officeDocument/2006/relationships" r:blip="">
              <dgm:adjLst/>
            </dgm:shape>
            <dgm:presOf/>
            <dgm:constrLst/>
            <dgm:ruleLst/>
          </dgm:layoutNode>
          <dgm:choose name="Name11">
            <dgm:if name="Name12" axis="ch" ptType="node" func="cnt" op="gte" val="1">
              <dgm:layoutNode name="desTx" styleLbl="revTx">
                <dgm:varLst>
                  <dgm:bulletEnabled val="1"/>
                </dgm:varLst>
                <dgm:alg type="tx">
                  <dgm:param type="stBulletLvl" val="1"/>
                </dgm:alg>
                <dgm:shape xmlns:r="http://schemas.openxmlformats.org/officeDocument/2006/relationships" type="rect" r:blip="">
                  <dgm:adjLst/>
                </dgm:shape>
                <dgm:presOf axis="des" ptType="node"/>
                <dgm:constrLst>
                  <dgm:constr type="tMarg"/>
                  <dgm:constr type="bMarg"/>
                  <dgm:constr type="rMarg"/>
                  <dgm:constr type="lMarg"/>
                </dgm:constrLst>
                <dgm:ruleLst>
                  <dgm:rule type="h" val="INF" fact="NaN" max="NaN"/>
                </dgm:ruleLst>
              </dgm:layoutNode>
            </dgm:if>
            <dgm:else name="Name13"/>
          </dgm:choose>
        </dgm:layoutNod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name="padding2">
        <dgm:alg type="sp"/>
        <dgm:shape xmlns:r="http://schemas.openxmlformats.org/officeDocument/2006/relationships" r:blip="">
          <dgm:adjLst/>
        </dgm:shape>
        <dgm:presOf/>
        <dgm:constrLst/>
        <dgm:ruleLst/>
      </dgm:layoutNode>
      <dgm:layoutNode name="negArrow">
        <dgm:alg type="sp"/>
        <dgm:shape xmlns:r="http://schemas.openxmlformats.org/officeDocument/2006/relationships" r:blip="">
          <dgm:adjLst/>
        </dgm:shape>
        <dgm:presOf/>
        <dgm:constrLst/>
        <dgm:ruleLst/>
      </dgm:layoutNode>
      <dgm:layoutNode name="backgroundArrow" styleLbl="node1">
        <dgm:alg type="sp"/>
        <dgm:choose name="Name15">
          <dgm:if name="Name16" func="var" arg="dir" op="equ" val="norm">
            <dgm:shape xmlns:r="http://schemas.openxmlformats.org/officeDocument/2006/relationships" type="rightArrow" r:blip="">
              <dgm:adjLst/>
            </dgm:shape>
          </dgm:if>
          <dgm:else name="Name17">
            <dgm:shape xmlns:r="http://schemas.openxmlformats.org/officeDocument/2006/relationships" type="leftArrow" r:blip="">
              <dgm:adjLst/>
            </dgm:shape>
          </dgm:else>
        </dgm:choose>
        <dgm:presOf/>
        <dgm:constrLst/>
        <dgm:ruleLst/>
      </dgm:layoutNode>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2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2.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3.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3DFB081-67E1-4186-A676-694788837EAE}" type="datetimeFigureOut">
              <a:rPr lang="en-US" smtClean="0"/>
              <a:pPr/>
              <a:t>02/10/2012</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61EEA29-8E40-4515-84EE-068E9D76B495}" type="slidenum">
              <a:rPr lang="en-US" smtClean="0"/>
              <a:pPr/>
              <a:t>‹#›</a:t>
            </a:fld>
            <a:endParaRPr lang="en-US"/>
          </a:p>
        </p:txBody>
      </p:sp>
    </p:spTree>
    <p:extLst>
      <p:ext uri="{BB962C8B-B14F-4D97-AF65-F5344CB8AC3E}">
        <p14:creationId xmlns:p14="http://schemas.microsoft.com/office/powerpoint/2010/main" xmlns="" val="7063883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0B318BF-B8F6-4166-8907-077CDC163530}" type="datetimeFigureOut">
              <a:rPr lang="en-US" smtClean="0"/>
              <a:pPr/>
              <a:t>02/10/2012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E81B2DF-1ECA-4178-A9A1-DF63029E6A45}" type="slidenum">
              <a:rPr lang="en-US" smtClean="0"/>
              <a:pPr/>
              <a:t>‹#›</a:t>
            </a:fld>
            <a:endParaRPr lang="en-US"/>
          </a:p>
        </p:txBody>
      </p:sp>
    </p:spTree>
    <p:extLst>
      <p:ext uri="{BB962C8B-B14F-4D97-AF65-F5344CB8AC3E}">
        <p14:creationId xmlns:p14="http://schemas.microsoft.com/office/powerpoint/2010/main" xmlns="" val="2275144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 frequency</a:t>
            </a:r>
            <a:endParaRPr lang="en-IN" dirty="0"/>
          </a:p>
        </p:txBody>
      </p:sp>
      <p:sp>
        <p:nvSpPr>
          <p:cNvPr id="4" name="Slide Number Placeholder 3"/>
          <p:cNvSpPr>
            <a:spLocks noGrp="1"/>
          </p:cNvSpPr>
          <p:nvPr>
            <p:ph type="sldNum" sz="quarter" idx="10"/>
          </p:nvPr>
        </p:nvSpPr>
        <p:spPr/>
        <p:txBody>
          <a:bodyPr/>
          <a:lstStyle/>
          <a:p>
            <a:fld id="{DE81B2DF-1ECA-4178-A9A1-DF63029E6A45}" type="slidenum">
              <a:rPr lang="en-US" smtClean="0"/>
              <a:pPr/>
              <a:t>49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smtClean="0"/>
              <a:t>Click to edit Master title style</a:t>
            </a:r>
            <a:endParaRPr kumimoji="0" lang="en-US"/>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bwMode="auto">
          <a:xfrm rot="5400000">
            <a:off x="7764621" y="1174097"/>
            <a:ext cx="2286000" cy="381000"/>
          </a:xfrm>
        </p:spPr>
        <p:txBody>
          <a:bodyPr/>
          <a:lstStyle/>
          <a:p>
            <a:fld id="{373CB960-EF3B-4B4C-BE4B-EBA2C498DAA9}" type="datetime1">
              <a:rPr lang="en-US" smtClean="0"/>
              <a:t>02/10/2012</a:t>
            </a:fld>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C2C1A6A0-3F2F-4BAF-B319-837518E4456F}"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4"/>
          </p:nvPr>
        </p:nvSpPr>
        <p:spPr/>
        <p:txBody>
          <a:bodyPr rtlCol="0"/>
          <a:lstStyle/>
          <a:p>
            <a:fld id="{5B2E040C-837C-4898-9729-40118CA22D9A}" type="datetime1">
              <a:rPr lang="en-US" smtClean="0"/>
              <a:t>02/10/2012</a:t>
            </a:fld>
            <a:endParaRPr lang="en-US"/>
          </a:p>
        </p:txBody>
      </p:sp>
      <p:sp>
        <p:nvSpPr>
          <p:cNvPr id="9" name="Slide Number Placeholder 8"/>
          <p:cNvSpPr>
            <a:spLocks noGrp="1"/>
          </p:cNvSpPr>
          <p:nvPr>
            <p:ph type="sldNum" sz="quarter" idx="15"/>
          </p:nvPr>
        </p:nvSpPr>
        <p:spPr/>
        <p:txBody>
          <a:bodyPr rtlCol="0"/>
          <a:lstStyle/>
          <a:p>
            <a:fld id="{C2C1A6A0-3F2F-4BAF-B319-837518E4456F}" type="slidenum">
              <a:rPr lang="en-US" smtClean="0"/>
              <a:pPr/>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D0809BB7-7444-4D81-99E4-5A34600BEE19}" type="datetime1">
              <a:rPr lang="en-US" smtClean="0"/>
              <a:t>02/10/2012</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C2C1A6A0-3F2F-4BAF-B319-837518E4456F}"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E4B6B0F5-BCEF-4AEB-951E-AAB46F828014}" type="datetime1">
              <a:rPr lang="en-US" smtClean="0"/>
              <a:t>02/10/2012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C1A6A0-3F2F-4BAF-B319-837518E4456F}" type="slidenum">
              <a:rPr lang="en-US" smtClean="0"/>
              <a:pPr/>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E32DA5F3-5B64-4A64-9B01-C66F869E21A2}" type="datetime1">
              <a:rPr lang="en-US" smtClean="0"/>
              <a:t>02/10/2012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2C1A6A0-3F2F-4BAF-B319-837518E4456F}" type="slidenum">
              <a:rPr lang="en-US" smtClean="0"/>
              <a:pPr/>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6" name="Date Placeholder 5"/>
          <p:cNvSpPr>
            <a:spLocks noGrp="1"/>
          </p:cNvSpPr>
          <p:nvPr>
            <p:ph type="dt" sz="half" idx="10"/>
          </p:nvPr>
        </p:nvSpPr>
        <p:spPr/>
        <p:txBody>
          <a:bodyPr rtlCol="0"/>
          <a:lstStyle/>
          <a:p>
            <a:fld id="{527EDEAC-F26F-44DB-AAA4-76BFC81F9199}" type="datetime1">
              <a:rPr lang="en-US" smtClean="0"/>
              <a:t>02/10/2012</a:t>
            </a:fld>
            <a:endParaRPr lang="en-US"/>
          </a:p>
        </p:txBody>
      </p:sp>
      <p:sp>
        <p:nvSpPr>
          <p:cNvPr id="7" name="Slide Number Placeholder 6"/>
          <p:cNvSpPr>
            <a:spLocks noGrp="1"/>
          </p:cNvSpPr>
          <p:nvPr>
            <p:ph type="sldNum" sz="quarter" idx="11"/>
          </p:nvPr>
        </p:nvSpPr>
        <p:spPr/>
        <p:txBody>
          <a:bodyPr rtlCol="0"/>
          <a:lstStyle/>
          <a:p>
            <a:fld id="{C2C1A6A0-3F2F-4BAF-B319-837518E4456F}" type="slidenum">
              <a:rPr lang="en-US" smtClean="0"/>
              <a:pPr/>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DFA37AD-AD86-4232-9652-A0F94662A14B}" type="datetime1">
              <a:rPr lang="en-US" smtClean="0"/>
              <a:t>02/10/2012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2C1A6A0-3F2F-4BAF-B319-837518E4456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4"/>
          </p:nvPr>
        </p:nvSpPr>
        <p:spPr/>
        <p:txBody>
          <a:bodyPr rtlCol="0"/>
          <a:lstStyle/>
          <a:p>
            <a:fld id="{ED47D3F4-24F7-4BA5-A65E-57949B34BC07}" type="datetime1">
              <a:rPr lang="en-US" smtClean="0"/>
              <a:t>02/10/2012</a:t>
            </a:fld>
            <a:endParaRPr lang="en-US"/>
          </a:p>
        </p:txBody>
      </p:sp>
      <p:sp>
        <p:nvSpPr>
          <p:cNvPr id="22" name="Slide Number Placeholder 21"/>
          <p:cNvSpPr>
            <a:spLocks noGrp="1"/>
          </p:cNvSpPr>
          <p:nvPr>
            <p:ph type="sldNum" sz="quarter" idx="15"/>
          </p:nvPr>
        </p:nvSpPr>
        <p:spPr/>
        <p:txBody>
          <a:bodyPr rtlCol="0"/>
          <a:lstStyle/>
          <a:p>
            <a:fld id="{C2C1A6A0-3F2F-4BAF-B319-837518E4456F}" type="slidenum">
              <a:rPr lang="en-US" smtClean="0"/>
              <a:pPr/>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smtClean="0"/>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C56F39C0-DE6B-4E45-803F-032BD69DE008}" type="datetime1">
              <a:rPr lang="en-US" smtClean="0"/>
              <a:t>02/10/2012</a:t>
            </a:fld>
            <a:endParaRPr lang="en-US"/>
          </a:p>
        </p:txBody>
      </p:sp>
      <p:sp>
        <p:nvSpPr>
          <p:cNvPr id="18" name="Slide Number Placeholder 17"/>
          <p:cNvSpPr>
            <a:spLocks noGrp="1"/>
          </p:cNvSpPr>
          <p:nvPr>
            <p:ph type="sldNum" sz="quarter" idx="11"/>
          </p:nvPr>
        </p:nvSpPr>
        <p:spPr/>
        <p:txBody>
          <a:bodyPr rtlCol="0"/>
          <a:lstStyle/>
          <a:p>
            <a:fld id="{C2C1A6A0-3F2F-4BAF-B319-837518E4456F}" type="slidenum">
              <a:rPr lang="en-US" smtClean="0"/>
              <a:pPr/>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4C369206-3683-4EBF-929F-DC6CC77DD632}" type="datetime1">
              <a:rPr lang="en-US" smtClean="0"/>
              <a:t>02/10/2012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C1A6A0-3F2F-4BAF-B319-837518E4456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FD166617-FE21-415E-8B63-A6BD9C6F9CD8}" type="datetime1">
              <a:rPr lang="en-US" smtClean="0"/>
              <a:t>02/10/2012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C1A6A0-3F2F-4BAF-B319-837518E4456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A28479C8-2EDE-4D6E-BA98-0C5A34E92542}" type="datetime1">
              <a:rPr lang="en-US" smtClean="0"/>
              <a:t>02/10/2012</a:t>
            </a:fld>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C2C1A6A0-3F2F-4BAF-B319-837518E4456F}"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gif"/><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1.xml"/><Relationship Id="rId2" Type="http://schemas.openxmlformats.org/officeDocument/2006/relationships/image" Target="../media/image15.jpeg"/><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7.xml"/><Relationship Id="rId6" Type="http://schemas.openxmlformats.org/officeDocument/2006/relationships/image" Target="../media/image20.jpeg"/><Relationship Id="rId5" Type="http://schemas.openxmlformats.org/officeDocument/2006/relationships/image" Target="../media/image19.jpeg"/><Relationship Id="rId4" Type="http://schemas.openxmlformats.org/officeDocument/2006/relationships/image" Target="../media/image18.jpeg"/></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3.v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9.xml"/></Relationships>
</file>

<file path=ppt/slides/_rels/slide5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9.xml"/></Relationships>
</file>

<file path=ppt/slides/_rels/slide5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9.xml"/></Relationships>
</file>

<file path=ppt/slides/_rels/slide5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9.xml"/></Relationships>
</file>

<file path=ppt/slides/_rels/slide5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9.xml"/></Relationships>
</file>

<file path=ppt/slides/_rels/slide5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59.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9.xml"/></Relationships>
</file>

<file path=ppt/slides/_rels/slide6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285728"/>
            <a:ext cx="7467600" cy="6572272"/>
          </a:xfrm>
        </p:spPr>
        <p:txBody>
          <a:bodyPr>
            <a:normAutofit/>
          </a:bodyPr>
          <a:lstStyle/>
          <a:p>
            <a:pPr algn="ctr">
              <a:buNone/>
            </a:pPr>
            <a:r>
              <a:rPr lang="en-US" sz="2800" b="1" dirty="0" smtClean="0"/>
              <a:t>SUMMER TRAINING</a:t>
            </a:r>
          </a:p>
          <a:p>
            <a:pPr algn="ctr">
              <a:buNone/>
            </a:pPr>
            <a:r>
              <a:rPr lang="en-US" sz="2000" b="1" dirty="0" smtClean="0"/>
              <a:t>On</a:t>
            </a:r>
          </a:p>
          <a:p>
            <a:pPr algn="ctr">
              <a:buNone/>
            </a:pPr>
            <a:r>
              <a:rPr lang="en-US" b="1" dirty="0" smtClean="0"/>
              <a:t>MEASUREMENT  OF DIELECTRIC CONSTANT OF CEREALS THROUGH MICROWAVES</a:t>
            </a:r>
          </a:p>
          <a:p>
            <a:pPr algn="ctr">
              <a:buNone/>
            </a:pPr>
            <a:r>
              <a:rPr lang="en-US" sz="2000" b="1" dirty="0" smtClean="0"/>
              <a:t>At</a:t>
            </a:r>
          </a:p>
          <a:p>
            <a:pPr algn="ctr">
              <a:buNone/>
            </a:pPr>
            <a:r>
              <a:rPr lang="en-US" b="1" dirty="0" smtClean="0"/>
              <a:t>INTERNATIONAL CENTRE FOR RADIO SCIENCE, JODHPUR </a:t>
            </a:r>
          </a:p>
          <a:p>
            <a:pPr algn="ctr">
              <a:buNone/>
            </a:pPr>
            <a:r>
              <a:rPr lang="en-US" b="1" dirty="0" smtClean="0"/>
              <a:t>RAJASTHAN</a:t>
            </a:r>
          </a:p>
          <a:p>
            <a:pPr algn="ctr">
              <a:buNone/>
            </a:pPr>
            <a:endParaRPr lang="en-US" sz="2800" b="1" dirty="0" smtClean="0"/>
          </a:p>
          <a:p>
            <a:pPr algn="ctr">
              <a:buNone/>
            </a:pPr>
            <a:r>
              <a:rPr lang="en-US" b="1" dirty="0" smtClean="0"/>
              <a:t>                                                  Priya Saini</a:t>
            </a:r>
          </a:p>
          <a:p>
            <a:pPr algn="r">
              <a:buNone/>
            </a:pPr>
            <a:r>
              <a:rPr lang="en-US" b="1" dirty="0" smtClean="0"/>
              <a:t>       </a:t>
            </a:r>
            <a:r>
              <a:rPr lang="en-US" sz="2000" dirty="0" smtClean="0"/>
              <a:t>Electronics and Communication Engineering</a:t>
            </a:r>
          </a:p>
          <a:p>
            <a:pPr algn="r">
              <a:buNone/>
            </a:pPr>
            <a:r>
              <a:rPr lang="en-US" sz="2000" b="1" dirty="0" smtClean="0"/>
              <a:t>                                               </a:t>
            </a:r>
            <a:r>
              <a:rPr lang="en-US" sz="2000" dirty="0" smtClean="0"/>
              <a:t>4</a:t>
            </a:r>
            <a:r>
              <a:rPr lang="en-US" sz="2000" baseline="30000" dirty="0" smtClean="0"/>
              <a:t>th</a:t>
            </a:r>
            <a:r>
              <a:rPr lang="en-US" sz="2000" dirty="0" smtClean="0"/>
              <a:t> year,7</a:t>
            </a:r>
            <a:r>
              <a:rPr lang="en-US" sz="2000" baseline="30000" dirty="0" smtClean="0"/>
              <a:t>th</a:t>
            </a:r>
            <a:r>
              <a:rPr lang="en-US" sz="2000" dirty="0" smtClean="0"/>
              <a:t> semester</a:t>
            </a:r>
          </a:p>
          <a:p>
            <a:pPr algn="r">
              <a:buNone/>
            </a:pPr>
            <a:r>
              <a:rPr lang="en-US" sz="2000" dirty="0" smtClean="0"/>
              <a:t>JIET School of Engg. &amp; Tech. for Girls, Jodhpur</a:t>
            </a:r>
          </a:p>
          <a:p>
            <a:pPr algn="r">
              <a:buNone/>
            </a:pPr>
            <a:r>
              <a:rPr lang="en-US" sz="2000" b="1" dirty="0" smtClean="0"/>
              <a:t>                                             </a:t>
            </a:r>
            <a:r>
              <a:rPr lang="en-US" sz="2000" dirty="0" smtClean="0"/>
              <a:t>Rajasthan.</a:t>
            </a:r>
          </a:p>
          <a:p>
            <a:pPr algn="ctr">
              <a:buNone/>
            </a:pPr>
            <a:endParaRPr lang="en-US" b="1" dirty="0" smtClean="0"/>
          </a:p>
          <a:p>
            <a:pPr algn="ctr">
              <a:buNone/>
            </a:pPr>
            <a:endParaRPr lang="en-US" b="1" dirty="0" smtClean="0"/>
          </a:p>
          <a:p>
            <a:endParaRPr lang="en-US" dirty="0"/>
          </a:p>
        </p:txBody>
      </p:sp>
      <p:pic>
        <p:nvPicPr>
          <p:cNvPr id="4" name="Picture 7"/>
          <p:cNvPicPr>
            <a:picLocks noChangeAspect="1" noChangeArrowheads="1"/>
          </p:cNvPicPr>
          <p:nvPr/>
        </p:nvPicPr>
        <p:blipFill>
          <a:blip r:embed="rId2"/>
          <a:srcRect/>
          <a:stretch>
            <a:fillRect/>
          </a:stretch>
        </p:blipFill>
        <p:spPr bwMode="auto">
          <a:xfrm>
            <a:off x="7000892" y="0"/>
            <a:ext cx="1800225" cy="1733550"/>
          </a:xfrm>
          <a:prstGeom prst="rect">
            <a:avLst/>
          </a:prstGeom>
          <a:noFill/>
          <a:ln w="9525">
            <a:noFill/>
            <a:miter lim="800000"/>
            <a:headEnd/>
            <a:tailEnd/>
          </a:ln>
          <a:effectLst/>
        </p:spPr>
      </p:pic>
      <p:sp>
        <p:nvSpPr>
          <p:cNvPr id="5" name="Slide Number Placeholder 4"/>
          <p:cNvSpPr>
            <a:spLocks noGrp="1"/>
          </p:cNvSpPr>
          <p:nvPr>
            <p:ph type="sldNum" sz="quarter" idx="15"/>
          </p:nvPr>
        </p:nvSpPr>
        <p:spPr/>
        <p:txBody>
          <a:bodyPr/>
          <a:lstStyle/>
          <a:p>
            <a:fld id="{C2C1A6A0-3F2F-4BAF-B319-837518E4456F}" type="slidenum">
              <a:rPr lang="en-US" smtClean="0"/>
              <a:pPr/>
              <a:t>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with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checkerboard(across)">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643174" y="-357214"/>
            <a:ext cx="5227320" cy="7500966"/>
          </a:xfrm>
          <a:solidFill>
            <a:schemeClr val="tx1">
              <a:lumMod val="75000"/>
              <a:lumOff val="25000"/>
            </a:schemeClr>
          </a:solidFill>
          <a:ln>
            <a:noFill/>
          </a:ln>
          <a:effectLst>
            <a:outerShdw blurRad="184150" dist="241300" dir="11520000" sx="110000" sy="110000" algn="ctr">
              <a:srgbClr val="000000">
                <a:alpha val="18000"/>
              </a:srgbClr>
            </a:outerShdw>
          </a:effectLst>
          <a:scene3d>
            <a:camera prst="perspectiveFront" fov="5100000">
              <a:rot lat="0" lon="2100000" rev="0"/>
            </a:camera>
            <a:lightRig rig="flood" dir="t">
              <a:rot lat="0" lon="0" rev="13800000"/>
            </a:lightRig>
          </a:scene3d>
          <a:sp3d extrusionH="107950" prstMaterial="plastic">
            <a:bevelT w="82550" h="63500" prst="divot"/>
            <a:bevelB/>
          </a:sp3d>
        </p:spPr>
        <p:txBody>
          <a:bodyPr>
            <a:noAutofit/>
          </a:bodyPr>
          <a:lstStyle/>
          <a:p>
            <a:r>
              <a:rPr lang="en-US" sz="5400" cap="none"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Measurement </a:t>
            </a:r>
            <a:br>
              <a:rPr lang="en-US" sz="5400" cap="none"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br>
            <a:r>
              <a:rPr lang="en-US" sz="5400" cap="none"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of </a:t>
            </a:r>
            <a:br>
              <a:rPr lang="en-US" sz="5400" cap="none"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br>
            <a:r>
              <a:rPr lang="en-US" sz="5400" cap="none"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dielectric</a:t>
            </a:r>
            <a:br>
              <a:rPr lang="en-US" sz="5400" cap="none"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br>
            <a:r>
              <a:rPr lang="en-US" sz="5400" cap="none"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constant </a:t>
            </a:r>
            <a:br>
              <a:rPr lang="en-US" sz="5400" cap="none"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br>
            <a:r>
              <a:rPr lang="en-US" sz="5400" cap="none"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of </a:t>
            </a:r>
            <a:br>
              <a:rPr lang="en-US" sz="5400" cap="none"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br>
            <a:r>
              <a:rPr lang="en-US" sz="5400" cap="none"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various </a:t>
            </a:r>
            <a:br>
              <a:rPr lang="en-US" sz="5400" cap="none"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br>
            <a:r>
              <a:rPr lang="en-US" sz="5400" cap="none"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cereals</a:t>
            </a:r>
            <a:r>
              <a:rPr lang="en-US" sz="40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
            </a:r>
            <a:br>
              <a:rPr lang="en-US" sz="40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br>
            <a:r>
              <a:rPr lang="en-US" sz="40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
            </a:r>
            <a:br>
              <a:rPr lang="en-US" sz="4000" b="1"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br>
            <a:endParaRPr lang="en-US" sz="40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
        <p:nvSpPr>
          <p:cNvPr id="5" name="TextBox 4"/>
          <p:cNvSpPr txBox="1"/>
          <p:nvPr/>
        </p:nvSpPr>
        <p:spPr>
          <a:xfrm>
            <a:off x="990600" y="3200400"/>
            <a:ext cx="2286000" cy="584775"/>
          </a:xfrm>
          <a:prstGeom prst="rect">
            <a:avLst/>
          </a:prstGeom>
          <a:noFill/>
        </p:spPr>
        <p:txBody>
          <a:bodyPr wrap="square" rtlCol="0">
            <a:spAutoFit/>
          </a:bodyPr>
          <a:lstStyle/>
          <a:p>
            <a:pPr algn="ctr"/>
            <a:endParaRPr lang="en-US" sz="3200" dirty="0" smtClean="0">
              <a:latin typeface="Arial Rounded MT Bold" pitchFamily="34" charset="0"/>
            </a:endParaRPr>
          </a:p>
        </p:txBody>
      </p:sp>
      <p:sp>
        <p:nvSpPr>
          <p:cNvPr id="4" name="Slide Number Placeholder 3"/>
          <p:cNvSpPr>
            <a:spLocks noGrp="1"/>
          </p:cNvSpPr>
          <p:nvPr>
            <p:ph type="sldNum" sz="quarter" idx="12"/>
          </p:nvPr>
        </p:nvSpPr>
        <p:spPr/>
        <p:txBody>
          <a:bodyPr/>
          <a:lstStyle/>
          <a:p>
            <a:fld id="{C2C1A6A0-3F2F-4BAF-B319-837518E4456F}" type="slidenum">
              <a:rPr lang="en-US" smtClean="0"/>
              <a:pPr/>
              <a:t>2</a:t>
            </a:fld>
            <a:endParaRPr lang="en-US"/>
          </a:p>
        </p:txBody>
      </p:sp>
    </p:spTree>
    <p:extLst>
      <p:ext uri="{BB962C8B-B14F-4D97-AF65-F5344CB8AC3E}">
        <p14:creationId xmlns:p14="http://schemas.microsoft.com/office/powerpoint/2010/main" xmlns="" val="2539868550"/>
      </p:ext>
    </p:extLst>
  </p:cSld>
  <p:clrMapOvr>
    <a:masterClrMapping/>
  </p:clrMapOvr>
  <p:transition>
    <p:wip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00100" y="714356"/>
            <a:ext cx="7429552" cy="4893647"/>
          </a:xfrm>
          <a:prstGeom prst="rect">
            <a:avLst/>
          </a:prstGeom>
          <a:noFill/>
        </p:spPr>
        <p:txBody>
          <a:bodyPr wrap="square" rtlCol="0">
            <a:spAutoFit/>
          </a:bodyPr>
          <a:lstStyle/>
          <a:p>
            <a:r>
              <a:rPr lang="en-US" sz="2400" b="1" dirty="0" smtClean="0">
                <a:solidFill>
                  <a:schemeClr val="accent1">
                    <a:lumMod val="75000"/>
                  </a:schemeClr>
                </a:solidFill>
              </a:rPr>
              <a:t>CONTENTS</a:t>
            </a:r>
            <a:r>
              <a:rPr lang="en-IN" sz="2400" b="1" dirty="0" smtClean="0">
                <a:solidFill>
                  <a:schemeClr val="accent1">
                    <a:lumMod val="75000"/>
                  </a:schemeClr>
                </a:solidFill>
              </a:rPr>
              <a:t>:</a:t>
            </a:r>
          </a:p>
          <a:p>
            <a:pPr>
              <a:buBlip>
                <a:blip r:embed="rId2"/>
              </a:buBlip>
            </a:pPr>
            <a:r>
              <a:rPr lang="en-US" sz="2400" dirty="0" smtClean="0"/>
              <a:t>Introduction to Microwaves</a:t>
            </a:r>
          </a:p>
          <a:p>
            <a:pPr>
              <a:buBlip>
                <a:blip r:embed="rId2"/>
              </a:buBlip>
            </a:pPr>
            <a:r>
              <a:rPr lang="en-US" sz="2400" dirty="0" smtClean="0"/>
              <a:t>Applications  of Microwaves</a:t>
            </a:r>
          </a:p>
          <a:p>
            <a:pPr>
              <a:buBlip>
                <a:blip r:embed="rId2"/>
              </a:buBlip>
            </a:pPr>
            <a:r>
              <a:rPr lang="en-US" sz="2400" dirty="0" smtClean="0"/>
              <a:t>Microwave Remote sensing</a:t>
            </a:r>
          </a:p>
          <a:p>
            <a:pPr>
              <a:buBlip>
                <a:blip r:embed="rId2"/>
              </a:buBlip>
            </a:pPr>
            <a:r>
              <a:rPr lang="en-IN" sz="2400" dirty="0" smtClean="0"/>
              <a:t>Introduction to project</a:t>
            </a:r>
          </a:p>
          <a:p>
            <a:pPr>
              <a:buBlip>
                <a:blip r:embed="rId2"/>
              </a:buBlip>
            </a:pPr>
            <a:r>
              <a:rPr lang="en-IN" sz="2400" dirty="0" smtClean="0"/>
              <a:t>Measurement of Cereals</a:t>
            </a:r>
          </a:p>
          <a:p>
            <a:pPr>
              <a:buBlip>
                <a:blip r:embed="rId2"/>
              </a:buBlip>
            </a:pPr>
            <a:r>
              <a:rPr lang="en-IN" sz="2400" dirty="0" smtClean="0"/>
              <a:t>Mathematical formulations for dielectric constant measurement</a:t>
            </a:r>
          </a:p>
          <a:p>
            <a:pPr>
              <a:buBlip>
                <a:blip r:embed="rId2"/>
              </a:buBlip>
            </a:pPr>
            <a:r>
              <a:rPr lang="en-IN" sz="2400" dirty="0" smtClean="0"/>
              <a:t>Graphs for cereals for 3 states</a:t>
            </a:r>
          </a:p>
          <a:p>
            <a:pPr>
              <a:buBlip>
                <a:blip r:embed="rId2"/>
              </a:buBlip>
            </a:pPr>
            <a:r>
              <a:rPr lang="en-IN" sz="2400" dirty="0" smtClean="0"/>
              <a:t>Overview</a:t>
            </a:r>
          </a:p>
          <a:p>
            <a:pPr>
              <a:buBlip>
                <a:blip r:embed="rId2"/>
              </a:buBlip>
            </a:pPr>
            <a:r>
              <a:rPr lang="en-IN" sz="2400" dirty="0" smtClean="0"/>
              <a:t>Results</a:t>
            </a:r>
          </a:p>
          <a:p>
            <a:pPr>
              <a:buBlip>
                <a:blip r:embed="rId2"/>
              </a:buBlip>
            </a:pPr>
            <a:r>
              <a:rPr lang="en-IN" sz="2400" dirty="0" smtClean="0"/>
              <a:t>Conclusion  </a:t>
            </a:r>
          </a:p>
          <a:p>
            <a:pPr>
              <a:buBlip>
                <a:blip r:embed="rId2"/>
              </a:buBlip>
            </a:pPr>
            <a:endParaRPr lang="en-US" sz="2400" b="1" dirty="0" smtClean="0"/>
          </a:p>
        </p:txBody>
      </p:sp>
      <p:sp>
        <p:nvSpPr>
          <p:cNvPr id="3" name="Slide Number Placeholder 2"/>
          <p:cNvSpPr>
            <a:spLocks noGrp="1"/>
          </p:cNvSpPr>
          <p:nvPr>
            <p:ph type="sldNum" sz="quarter" idx="12"/>
          </p:nvPr>
        </p:nvSpPr>
        <p:spPr/>
        <p:txBody>
          <a:bodyPr/>
          <a:lstStyle/>
          <a:p>
            <a:fld id="{C2C1A6A0-3F2F-4BAF-B319-837518E4456F}" type="slidenum">
              <a:rPr lang="en-US" smtClean="0"/>
              <a:pPr/>
              <a:t>3</a:t>
            </a:fld>
            <a:endParaRPr lang="en-US"/>
          </a:p>
        </p:txBody>
      </p:sp>
    </p:spTree>
    <p:extLst>
      <p:ext uri="{BB962C8B-B14F-4D97-AF65-F5344CB8AC3E}">
        <p14:creationId xmlns:p14="http://schemas.microsoft.com/office/powerpoint/2010/main" xmlns="" val="938787360"/>
      </p:ext>
    </p:extLst>
  </p:cSld>
  <p:clrMapOvr>
    <a:masterClrMapping/>
  </p:clrMapOvr>
  <p:transition>
    <p:pull dir="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500034" y="357166"/>
            <a:ext cx="7467600" cy="703282"/>
          </a:xfrm>
        </p:spPr>
        <p:style>
          <a:lnRef idx="2">
            <a:schemeClr val="accent1"/>
          </a:lnRef>
          <a:fillRef idx="1">
            <a:schemeClr val="lt1"/>
          </a:fillRef>
          <a:effectRef idx="0">
            <a:schemeClr val="accent1"/>
          </a:effectRef>
          <a:fontRef idx="minor">
            <a:schemeClr val="dk1"/>
          </a:fontRef>
        </p:style>
        <p:txBody>
          <a:bodyPr/>
          <a:lstStyle/>
          <a:p>
            <a:r>
              <a:rPr lang="en-US" b="1" dirty="0" smtClean="0">
                <a:solidFill>
                  <a:schemeClr val="tx1"/>
                </a:solidFill>
              </a:rPr>
              <a:t>BRIEF ABOUT COMPANY</a:t>
            </a:r>
            <a:endParaRPr lang="en-US" b="1" dirty="0">
              <a:solidFill>
                <a:schemeClr val="tx1"/>
              </a:solidFill>
            </a:endParaRPr>
          </a:p>
        </p:txBody>
      </p:sp>
      <p:sp>
        <p:nvSpPr>
          <p:cNvPr id="9" name="Content Placeholder 8"/>
          <p:cNvSpPr>
            <a:spLocks noGrp="1"/>
          </p:cNvSpPr>
          <p:nvPr>
            <p:ph sz="quarter" idx="1"/>
          </p:nvPr>
        </p:nvSpPr>
        <p:spPr/>
        <p:txBody>
          <a:bodyPr/>
          <a:lstStyle/>
          <a:p>
            <a:r>
              <a:rPr lang="en-US" dirty="0" smtClean="0"/>
              <a:t>In January 1996 the formation of promoters group started and by June 1997 about 10 promoters signed for starting the </a:t>
            </a:r>
            <a:r>
              <a:rPr lang="en-US" b="1" dirty="0" smtClean="0"/>
              <a:t>International Centre for Radio Science (ICRS)</a:t>
            </a:r>
            <a:r>
              <a:rPr lang="en-US" dirty="0" smtClean="0"/>
              <a:t> as a registered society.</a:t>
            </a:r>
          </a:p>
          <a:p>
            <a:r>
              <a:rPr lang="en-US" dirty="0" smtClean="0"/>
              <a:t>The ICRS was registered as society on 24th June 1997. The management committee was set up under the Chairmanship of </a:t>
            </a:r>
            <a:r>
              <a:rPr lang="en-US" b="1" dirty="0" smtClean="0"/>
              <a:t>Prof. O.P.N. Calla </a:t>
            </a:r>
            <a:r>
              <a:rPr lang="en-US" dirty="0" smtClean="0"/>
              <a:t>who earlier in May 1996 was invited by Promoters to become the First Director (Founder Director) of ICRS in the meeting held on 15th May 1996 at New Delhi.</a:t>
            </a:r>
            <a:endParaRPr lang="en-US" dirty="0"/>
          </a:p>
        </p:txBody>
      </p:sp>
      <p:pic>
        <p:nvPicPr>
          <p:cNvPr id="1026" name="Picture 2" descr="C:\Documents and Settings\Priya Saini\My Documents\training report n paper n ppts\logo.png"/>
          <p:cNvPicPr>
            <a:picLocks noChangeAspect="1" noChangeArrowheads="1"/>
          </p:cNvPicPr>
          <p:nvPr/>
        </p:nvPicPr>
        <p:blipFill>
          <a:blip r:embed="rId2"/>
          <a:srcRect/>
          <a:stretch>
            <a:fillRect/>
          </a:stretch>
        </p:blipFill>
        <p:spPr bwMode="auto">
          <a:xfrm>
            <a:off x="6643702" y="0"/>
            <a:ext cx="2214578" cy="1714488"/>
          </a:xfrm>
          <a:prstGeom prst="rect">
            <a:avLst/>
          </a:prstGeom>
          <a:noFill/>
        </p:spPr>
      </p:pic>
      <p:sp>
        <p:nvSpPr>
          <p:cNvPr id="5" name="Slide Number Placeholder 4"/>
          <p:cNvSpPr>
            <a:spLocks noGrp="1"/>
          </p:cNvSpPr>
          <p:nvPr>
            <p:ph type="sldNum" sz="quarter" idx="15"/>
          </p:nvPr>
        </p:nvSpPr>
        <p:spPr/>
        <p:txBody>
          <a:bodyPr/>
          <a:lstStyle/>
          <a:p>
            <a:fld id="{C2C1A6A0-3F2F-4BAF-B319-837518E4456F}" type="slidenum">
              <a:rPr lang="en-US" smtClean="0"/>
              <a:pPr/>
              <a:t>4</a:t>
            </a:fld>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upload.wikimedia.org/wikipedia/commons/thumb/a/ad/Electromagneticwave3Dfromside.gif/220px-Electromagneticwave3Dfromside.gif"/>
          <p:cNvPicPr>
            <a:picLocks noChangeAspect="1" noChangeArrowheads="1" noCrop="1"/>
          </p:cNvPicPr>
          <p:nvPr/>
        </p:nvPicPr>
        <p:blipFill>
          <a:blip r:embed="rId2"/>
          <a:srcRect/>
          <a:stretch>
            <a:fillRect/>
          </a:stretch>
        </p:blipFill>
        <p:spPr bwMode="auto">
          <a:xfrm>
            <a:off x="214282" y="1285860"/>
            <a:ext cx="4214810" cy="2500330"/>
          </a:xfrm>
          <a:prstGeom prst="rect">
            <a:avLst/>
          </a:prstGeom>
          <a:noFill/>
        </p:spPr>
      </p:pic>
      <p:pic>
        <p:nvPicPr>
          <p:cNvPr id="3" name="Picture 4" descr="http://upload.wikimedia.org/wikipedia/commons/thumb/4/4c/Electromagneticwave3D.gif/220px-Electromagneticwave3D.gif"/>
          <p:cNvPicPr>
            <a:picLocks noChangeAspect="1" noChangeArrowheads="1" noCrop="1"/>
          </p:cNvPicPr>
          <p:nvPr/>
        </p:nvPicPr>
        <p:blipFill>
          <a:blip r:embed="rId3"/>
          <a:srcRect/>
          <a:stretch>
            <a:fillRect/>
          </a:stretch>
        </p:blipFill>
        <p:spPr bwMode="auto">
          <a:xfrm>
            <a:off x="357158" y="4143380"/>
            <a:ext cx="4000528" cy="2143140"/>
          </a:xfrm>
          <a:prstGeom prst="rect">
            <a:avLst/>
          </a:prstGeom>
          <a:noFill/>
        </p:spPr>
      </p:pic>
      <p:sp>
        <p:nvSpPr>
          <p:cNvPr id="4" name="Rectangle 3"/>
          <p:cNvSpPr/>
          <p:nvPr/>
        </p:nvSpPr>
        <p:spPr>
          <a:xfrm>
            <a:off x="4572000" y="785794"/>
            <a:ext cx="4572000" cy="3416320"/>
          </a:xfrm>
          <a:prstGeom prst="rect">
            <a:avLst/>
          </a:prstGeom>
        </p:spPr>
        <p:txBody>
          <a:bodyPr>
            <a:spAutoFit/>
          </a:bodyPr>
          <a:lstStyle/>
          <a:p>
            <a:pPr>
              <a:buFont typeface="Wingdings" pitchFamily="2" charset="2"/>
              <a:buChar char="v"/>
            </a:pPr>
            <a:r>
              <a:rPr lang="en-US" sz="2400" dirty="0" smtClean="0"/>
              <a:t>Electromagnetic waves can be imagined as a self-propagating transverse oscillating wave of electric and magnetic fields. </a:t>
            </a:r>
          </a:p>
          <a:p>
            <a:pPr>
              <a:buFont typeface="Wingdings" pitchFamily="2" charset="2"/>
              <a:buChar char="v"/>
            </a:pPr>
            <a:endParaRPr lang="en-US" sz="2400" dirty="0" smtClean="0"/>
          </a:p>
          <a:p>
            <a:pPr>
              <a:buFont typeface="Wingdings" pitchFamily="2" charset="2"/>
              <a:buChar char="v"/>
            </a:pPr>
            <a:r>
              <a:rPr lang="en-US" sz="2400" dirty="0" smtClean="0"/>
              <a:t>This 3D diagram shows a plane linearly polarized wave propagating  from left to right</a:t>
            </a:r>
            <a:endParaRPr lang="en-US" sz="2400" dirty="0"/>
          </a:p>
        </p:txBody>
      </p:sp>
      <p:sp>
        <p:nvSpPr>
          <p:cNvPr id="5" name="Rectangle 4"/>
          <p:cNvSpPr/>
          <p:nvPr/>
        </p:nvSpPr>
        <p:spPr>
          <a:xfrm>
            <a:off x="4572000" y="4357694"/>
            <a:ext cx="4572000" cy="1938992"/>
          </a:xfrm>
          <a:prstGeom prst="rect">
            <a:avLst/>
          </a:prstGeom>
        </p:spPr>
        <p:txBody>
          <a:bodyPr>
            <a:spAutoFit/>
          </a:bodyPr>
          <a:lstStyle/>
          <a:p>
            <a:pPr>
              <a:buFont typeface="Wingdings" pitchFamily="2" charset="2"/>
              <a:buChar char="v"/>
            </a:pPr>
            <a:r>
              <a:rPr lang="en-US" sz="2400" dirty="0" smtClean="0"/>
              <a:t>Note that the electric and magnetic fields in such a wave are in-phase with each other, reaching minima and maxima together.</a:t>
            </a:r>
            <a:endParaRPr lang="en-US" sz="2400" dirty="0"/>
          </a:p>
        </p:txBody>
      </p:sp>
      <p:sp>
        <p:nvSpPr>
          <p:cNvPr id="6" name="Rectangle 5"/>
          <p:cNvSpPr/>
          <p:nvPr/>
        </p:nvSpPr>
        <p:spPr>
          <a:xfrm>
            <a:off x="1643042" y="0"/>
            <a:ext cx="5205592" cy="707886"/>
          </a:xfrm>
          <a:prstGeom prst="rect">
            <a:avLst/>
          </a:prstGeom>
        </p:spPr>
        <p:txBody>
          <a:bodyPr wrap="none">
            <a:spAutoFit/>
          </a:bodyPr>
          <a:lstStyle/>
          <a:p>
            <a:r>
              <a:rPr lang="en-US" sz="4000" b="1" dirty="0" smtClean="0">
                <a:effectLst>
                  <a:outerShdw blurRad="38100" dist="38100" dir="2700000" algn="tl">
                    <a:srgbClr val="000000">
                      <a:alpha val="43137"/>
                    </a:srgbClr>
                  </a:outerShdw>
                </a:effectLst>
                <a:latin typeface="Times New Roman" pitchFamily="18" charset="0"/>
                <a:cs typeface="Times New Roman" pitchFamily="18" charset="0"/>
              </a:rPr>
              <a:t>Electromagnetic waves</a:t>
            </a:r>
            <a:endParaRPr lang="en-US" sz="4000"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7" name="Slide Number Placeholder 6"/>
          <p:cNvSpPr>
            <a:spLocks noGrp="1"/>
          </p:cNvSpPr>
          <p:nvPr>
            <p:ph type="sldNum" sz="quarter" idx="12"/>
          </p:nvPr>
        </p:nvSpPr>
        <p:spPr/>
        <p:txBody>
          <a:bodyPr/>
          <a:lstStyle/>
          <a:p>
            <a:fld id="{C2C1A6A0-3F2F-4BAF-B319-837518E4456F}" type="slidenum">
              <a:rPr lang="en-US" smtClean="0"/>
              <a:pPr/>
              <a:t>5</a:t>
            </a:fld>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28728" y="357166"/>
            <a:ext cx="6904454" cy="584775"/>
          </a:xfrm>
          <a:prstGeom prst="rect">
            <a:avLst/>
          </a:prstGeom>
        </p:spPr>
        <p:txBody>
          <a:bodyPr wrap="none">
            <a:spAutoFit/>
          </a:bodyPr>
          <a:lstStyle/>
          <a:p>
            <a:r>
              <a:rPr lang="en-US" sz="3200" b="1" dirty="0" smtClean="0">
                <a:effectLst>
                  <a:outerShdw blurRad="38100" dist="38100" dir="2700000" algn="tl">
                    <a:srgbClr val="000000">
                      <a:alpha val="43137"/>
                    </a:srgbClr>
                  </a:outerShdw>
                </a:effectLst>
                <a:latin typeface="Times New Roman" pitchFamily="18" charset="0"/>
                <a:cs typeface="Times New Roman" pitchFamily="18" charset="0"/>
              </a:rPr>
              <a:t>ELECTROMAGNETIC SPECTRUM</a:t>
            </a:r>
            <a:endParaRPr lang="en-US" sz="3200" b="1"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Rectangle 2"/>
          <p:cNvSpPr/>
          <p:nvPr/>
        </p:nvSpPr>
        <p:spPr>
          <a:xfrm>
            <a:off x="1000100" y="1214422"/>
            <a:ext cx="6786610" cy="4893647"/>
          </a:xfrm>
          <a:prstGeom prst="rect">
            <a:avLst/>
          </a:prstGeom>
        </p:spPr>
        <p:txBody>
          <a:bodyPr wrap="square">
            <a:spAutoFit/>
          </a:bodyPr>
          <a:lstStyle/>
          <a:p>
            <a:pPr>
              <a:buFont typeface="Wingdings" pitchFamily="2" charset="2"/>
              <a:buChar char="v"/>
            </a:pPr>
            <a:r>
              <a:rPr lang="en-US" sz="2400" dirty="0" smtClean="0">
                <a:solidFill>
                  <a:sysClr val="windowText" lastClr="000000"/>
                </a:solidFill>
                <a:latin typeface="Times New Roman" pitchFamily="18" charset="0"/>
                <a:cs typeface="Times New Roman" pitchFamily="18" charset="0"/>
              </a:rPr>
              <a:t>The </a:t>
            </a:r>
            <a:r>
              <a:rPr lang="en-US" sz="2400" b="1" dirty="0" smtClean="0">
                <a:latin typeface="Times New Roman" pitchFamily="18" charset="0"/>
                <a:cs typeface="Times New Roman" pitchFamily="18" charset="0"/>
              </a:rPr>
              <a:t>electromagnetic spectrum</a:t>
            </a:r>
            <a:r>
              <a:rPr lang="en-US" sz="2400" b="1" dirty="0" smtClean="0">
                <a:solidFill>
                  <a:sysClr val="windowText" lastClr="000000"/>
                </a:solidFill>
                <a:latin typeface="Times New Roman" pitchFamily="18" charset="0"/>
                <a:cs typeface="Times New Roman" pitchFamily="18" charset="0"/>
              </a:rPr>
              <a:t>,</a:t>
            </a:r>
            <a:r>
              <a:rPr lang="en-US" sz="2400" dirty="0" smtClean="0">
                <a:solidFill>
                  <a:sysClr val="windowText" lastClr="000000"/>
                </a:solidFill>
                <a:latin typeface="Times New Roman" pitchFamily="18" charset="0"/>
                <a:cs typeface="Times New Roman" pitchFamily="18" charset="0"/>
              </a:rPr>
              <a:t> in order of increasing frequency and decreasing </a:t>
            </a:r>
            <a:r>
              <a:rPr lang="en-US" sz="2400" b="1" dirty="0" smtClean="0">
                <a:solidFill>
                  <a:sysClr val="windowText" lastClr="000000"/>
                </a:solidFill>
                <a:latin typeface="Times New Roman" pitchFamily="18" charset="0"/>
                <a:cs typeface="Times New Roman" pitchFamily="18" charset="0"/>
              </a:rPr>
              <a:t>wavelength</a:t>
            </a:r>
            <a:r>
              <a:rPr lang="en-US" sz="2400" dirty="0" smtClean="0">
                <a:solidFill>
                  <a:sysClr val="windowText" lastClr="000000"/>
                </a:solidFill>
                <a:latin typeface="Times New Roman" pitchFamily="18" charset="0"/>
                <a:cs typeface="Times New Roman" pitchFamily="18" charset="0"/>
              </a:rPr>
              <a:t>, consists of </a:t>
            </a:r>
            <a:r>
              <a:rPr lang="en-US" sz="2400" b="1" dirty="0" smtClean="0">
                <a:solidFill>
                  <a:sysClr val="windowText" lastClr="000000"/>
                </a:solidFill>
                <a:latin typeface="Times New Roman" pitchFamily="18" charset="0"/>
                <a:cs typeface="Times New Roman" pitchFamily="18" charset="0"/>
              </a:rPr>
              <a:t>radio </a:t>
            </a:r>
            <a:r>
              <a:rPr lang="en-US" sz="2400" b="1" dirty="0" smtClean="0">
                <a:solidFill>
                  <a:sysClr val="windowText" lastClr="000000"/>
                </a:solidFill>
                <a:latin typeface="Times New Roman" pitchFamily="18" charset="0"/>
                <a:cs typeface="Times New Roman" pitchFamily="18" charset="0"/>
              </a:rPr>
              <a:t>waves, </a:t>
            </a:r>
            <a:r>
              <a:rPr lang="en-US" sz="2400" b="1" dirty="0" smtClean="0">
                <a:solidFill>
                  <a:sysClr val="windowText" lastClr="000000"/>
                </a:solidFill>
                <a:latin typeface="Times New Roman" pitchFamily="18" charset="0"/>
                <a:cs typeface="Times New Roman" pitchFamily="18" charset="0"/>
              </a:rPr>
              <a:t>microwaves, </a:t>
            </a:r>
            <a:r>
              <a:rPr lang="en-US" sz="2400" b="1" dirty="0" smtClean="0">
                <a:solidFill>
                  <a:sysClr val="windowText" lastClr="000000"/>
                </a:solidFill>
                <a:latin typeface="Times New Roman" pitchFamily="18" charset="0"/>
                <a:cs typeface="Times New Roman" pitchFamily="18" charset="0"/>
              </a:rPr>
              <a:t>infrared radiation</a:t>
            </a:r>
            <a:r>
              <a:rPr lang="en-US" sz="2400" b="1" dirty="0" smtClean="0">
                <a:solidFill>
                  <a:sysClr val="windowText" lastClr="000000"/>
                </a:solidFill>
                <a:latin typeface="Times New Roman" pitchFamily="18" charset="0"/>
                <a:cs typeface="Times New Roman" pitchFamily="18" charset="0"/>
              </a:rPr>
              <a:t>, visible light</a:t>
            </a:r>
            <a:r>
              <a:rPr lang="en-US" sz="2400" dirty="0" smtClean="0">
                <a:solidFill>
                  <a:sysClr val="windowText" lastClr="000000"/>
                </a:solidFill>
                <a:latin typeface="Times New Roman" pitchFamily="18" charset="0"/>
                <a:cs typeface="Times New Roman" pitchFamily="18" charset="0"/>
              </a:rPr>
              <a:t>, </a:t>
            </a:r>
            <a:r>
              <a:rPr lang="en-US" sz="2400" b="1" dirty="0" smtClean="0">
                <a:solidFill>
                  <a:sysClr val="windowText" lastClr="000000"/>
                </a:solidFill>
                <a:latin typeface="Times New Roman" pitchFamily="18" charset="0"/>
                <a:cs typeface="Times New Roman" pitchFamily="18" charset="0"/>
              </a:rPr>
              <a:t>ultraviolet radiation, X-rays and gamma rays</a:t>
            </a:r>
            <a:r>
              <a:rPr lang="en-US" sz="2400" dirty="0" smtClean="0">
                <a:solidFill>
                  <a:sysClr val="windowText" lastClr="000000"/>
                </a:solidFill>
                <a:latin typeface="Times New Roman" pitchFamily="18" charset="0"/>
                <a:cs typeface="Times New Roman" pitchFamily="18" charset="0"/>
              </a:rPr>
              <a:t>. </a:t>
            </a:r>
          </a:p>
          <a:p>
            <a:pPr>
              <a:buFont typeface="Wingdings" pitchFamily="2" charset="2"/>
              <a:buChar char="v"/>
            </a:pPr>
            <a:endParaRPr lang="en-US" sz="2400" dirty="0" smtClean="0">
              <a:solidFill>
                <a:sysClr val="windowText" lastClr="000000"/>
              </a:solidFill>
              <a:latin typeface="Times New Roman" pitchFamily="18" charset="0"/>
              <a:cs typeface="Times New Roman" pitchFamily="18" charset="0"/>
            </a:endParaRPr>
          </a:p>
          <a:p>
            <a:pPr>
              <a:buFont typeface="Wingdings" pitchFamily="2" charset="2"/>
              <a:buChar char="v"/>
            </a:pPr>
            <a:r>
              <a:rPr lang="en-US" sz="2400" dirty="0" smtClean="0">
                <a:solidFill>
                  <a:sysClr val="windowText" lastClr="000000"/>
                </a:solidFill>
                <a:latin typeface="Times New Roman" pitchFamily="18" charset="0"/>
                <a:cs typeface="Times New Roman" pitchFamily="18" charset="0"/>
              </a:rPr>
              <a:t>The </a:t>
            </a:r>
            <a:r>
              <a:rPr lang="en-US" sz="2400" b="1" dirty="0" smtClean="0">
                <a:solidFill>
                  <a:sysClr val="windowText" lastClr="000000"/>
                </a:solidFill>
                <a:latin typeface="Times New Roman" pitchFamily="18" charset="0"/>
                <a:cs typeface="Times New Roman" pitchFamily="18" charset="0"/>
              </a:rPr>
              <a:t>eyes</a:t>
            </a:r>
            <a:r>
              <a:rPr lang="en-US" sz="2400" dirty="0" smtClean="0">
                <a:solidFill>
                  <a:sysClr val="windowText" lastClr="000000"/>
                </a:solidFill>
                <a:latin typeface="Times New Roman" pitchFamily="18" charset="0"/>
                <a:cs typeface="Times New Roman" pitchFamily="18" charset="0"/>
              </a:rPr>
              <a:t> of various </a:t>
            </a:r>
            <a:r>
              <a:rPr lang="en-US" sz="2400" b="1" dirty="0" smtClean="0">
                <a:solidFill>
                  <a:sysClr val="windowText" lastClr="000000"/>
                </a:solidFill>
                <a:latin typeface="Times New Roman" pitchFamily="18" charset="0"/>
                <a:cs typeface="Times New Roman" pitchFamily="18" charset="0"/>
              </a:rPr>
              <a:t>organisms </a:t>
            </a:r>
            <a:r>
              <a:rPr lang="en-US" sz="2400" dirty="0" smtClean="0">
                <a:solidFill>
                  <a:sysClr val="windowText" lastClr="000000"/>
                </a:solidFill>
                <a:latin typeface="Times New Roman" pitchFamily="18" charset="0"/>
                <a:cs typeface="Times New Roman" pitchFamily="18" charset="0"/>
              </a:rPr>
              <a:t>sense a small and somewhat variable window of frequencies of EMR called the </a:t>
            </a:r>
            <a:r>
              <a:rPr lang="en-US" sz="2400" b="1" dirty="0" smtClean="0">
                <a:solidFill>
                  <a:sysClr val="windowText" lastClr="000000"/>
                </a:solidFill>
                <a:latin typeface="Times New Roman" pitchFamily="18" charset="0"/>
                <a:cs typeface="Times New Roman" pitchFamily="18" charset="0"/>
              </a:rPr>
              <a:t>visible spectrum</a:t>
            </a:r>
            <a:r>
              <a:rPr lang="en-US" sz="2400" dirty="0" smtClean="0">
                <a:solidFill>
                  <a:sysClr val="windowText" lastClr="000000"/>
                </a:solidFill>
                <a:latin typeface="Times New Roman" pitchFamily="18" charset="0"/>
                <a:cs typeface="Times New Roman" pitchFamily="18" charset="0"/>
              </a:rPr>
              <a:t>.</a:t>
            </a:r>
          </a:p>
          <a:p>
            <a:pPr>
              <a:buFont typeface="Wingdings" pitchFamily="2" charset="2"/>
              <a:buChar char="v"/>
            </a:pPr>
            <a:endParaRPr lang="en-US" sz="2400" dirty="0" smtClean="0">
              <a:solidFill>
                <a:sysClr val="windowText" lastClr="000000"/>
              </a:solidFill>
              <a:latin typeface="Times New Roman" pitchFamily="18" charset="0"/>
              <a:cs typeface="Times New Roman" pitchFamily="18" charset="0"/>
            </a:endParaRPr>
          </a:p>
          <a:p>
            <a:pPr>
              <a:buFont typeface="Wingdings" pitchFamily="2" charset="2"/>
              <a:buChar char="v"/>
            </a:pPr>
            <a:r>
              <a:rPr lang="en-US" sz="2400" dirty="0" smtClean="0">
                <a:latin typeface="Times New Roman" pitchFamily="18" charset="0"/>
                <a:cs typeface="Times New Roman" pitchFamily="18" charset="0"/>
              </a:rPr>
              <a:t>Microwaves form part of the EM spectrum with frequencies ranging from 300 MHz to 300 GHz and wavelengths of 1 m to 1 mm respectively.</a:t>
            </a:r>
            <a:endParaRPr lang="en-US" sz="2400" dirty="0">
              <a:solidFill>
                <a:sysClr val="windowText" lastClr="000000"/>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C2C1A6A0-3F2F-4BAF-B319-837518E4456F}" type="slidenum">
              <a:rPr lang="en-US" smtClean="0"/>
              <a:pPr/>
              <a:t>6</a:t>
            </a:fld>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http://upload.wikimedia.org/wikipedia/commons/thumb/f/f1/EM_spectrum.svg/490px-EM_spectrum.svg.png"/>
          <p:cNvPicPr>
            <a:picLocks noChangeAspect="1" noChangeArrowheads="1"/>
          </p:cNvPicPr>
          <p:nvPr/>
        </p:nvPicPr>
        <p:blipFill>
          <a:blip r:embed="rId2"/>
          <a:srcRect/>
          <a:stretch>
            <a:fillRect/>
          </a:stretch>
        </p:blipFill>
        <p:spPr bwMode="auto">
          <a:xfrm>
            <a:off x="0" y="0"/>
            <a:ext cx="8643966" cy="4429132"/>
          </a:xfrm>
          <a:prstGeom prst="rect">
            <a:avLst/>
          </a:prstGeom>
          <a:noFill/>
        </p:spPr>
      </p:pic>
      <p:sp>
        <p:nvSpPr>
          <p:cNvPr id="3" name="Rectangle 2"/>
          <p:cNvSpPr/>
          <p:nvPr/>
        </p:nvSpPr>
        <p:spPr>
          <a:xfrm>
            <a:off x="0" y="3626346"/>
            <a:ext cx="9286908" cy="3231654"/>
          </a:xfrm>
          <a:prstGeom prst="rect">
            <a:avLst/>
          </a:prstGeom>
        </p:spPr>
        <p:txBody>
          <a:bodyPr wrap="square">
            <a:spAutoFit/>
          </a:bodyPr>
          <a:lstStyle/>
          <a:p>
            <a:r>
              <a:rPr lang="en-US" dirty="0" smtClean="0"/>
              <a:t/>
            </a:r>
            <a:br>
              <a:rPr lang="en-US" dirty="0" smtClean="0"/>
            </a:br>
            <a:r>
              <a:rPr lang="en-US" dirty="0" smtClean="0"/>
              <a:t/>
            </a:r>
            <a:br>
              <a:rPr lang="en-US" dirty="0" smtClean="0"/>
            </a:br>
            <a:r>
              <a:rPr lang="en-US" sz="2400" dirty="0" smtClean="0"/>
              <a:t>Microwaves can be further classified into three bands: the Ultra High Frequency (UHF) band  with  frequencies  ranging  from  300 MHz  to  3 GHz,  </a:t>
            </a:r>
            <a:endParaRPr lang="en-US" sz="2400" dirty="0" smtClean="0"/>
          </a:p>
          <a:p>
            <a:r>
              <a:rPr lang="en-US" sz="2400" dirty="0" smtClean="0"/>
              <a:t>the  </a:t>
            </a:r>
            <a:r>
              <a:rPr lang="en-US" sz="2400" dirty="0" smtClean="0"/>
              <a:t>Super  High  Frequency (SHF) band with frequencies ranging from 3 to 30 GHz and </a:t>
            </a:r>
            <a:endParaRPr lang="en-US" sz="2400" dirty="0" smtClean="0"/>
          </a:p>
          <a:p>
            <a:r>
              <a:rPr lang="en-US" sz="2400" dirty="0" smtClean="0"/>
              <a:t>the </a:t>
            </a:r>
            <a:r>
              <a:rPr lang="en-US" sz="2400" dirty="0" smtClean="0"/>
              <a:t>Extremely High Frequency (EHF) band with frequencies ranging from 30 to 300 GHz.</a:t>
            </a:r>
            <a:endParaRPr lang="en-US" sz="2400" dirty="0"/>
          </a:p>
        </p:txBody>
      </p:sp>
      <p:sp>
        <p:nvSpPr>
          <p:cNvPr id="4" name="Slide Number Placeholder 3"/>
          <p:cNvSpPr>
            <a:spLocks noGrp="1"/>
          </p:cNvSpPr>
          <p:nvPr>
            <p:ph type="sldNum" sz="quarter" idx="12"/>
          </p:nvPr>
        </p:nvSpPr>
        <p:spPr/>
        <p:txBody>
          <a:bodyPr/>
          <a:lstStyle/>
          <a:p>
            <a:fld id="{C2C1A6A0-3F2F-4BAF-B319-837518E4456F}" type="slidenum">
              <a:rPr lang="en-US" smtClean="0"/>
              <a:pPr/>
              <a:t>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Bottom)">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28596" y="571480"/>
            <a:ext cx="8715404" cy="1569660"/>
          </a:xfrm>
          <a:prstGeom prst="rect">
            <a:avLst/>
          </a:prstGeom>
        </p:spPr>
        <p:txBody>
          <a:bodyPr wrap="square">
            <a:spAutoFit/>
          </a:bodyPr>
          <a:lstStyle/>
          <a:p>
            <a:pPr>
              <a:buFont typeface="Wingdings" pitchFamily="2" charset="2"/>
              <a:buChar char="v"/>
            </a:pPr>
            <a:r>
              <a:rPr lang="en-US" sz="2400" dirty="0" smtClean="0">
                <a:latin typeface="Times New Roman" pitchFamily="18" charset="0"/>
                <a:cs typeface="Times New Roman" pitchFamily="18" charset="0"/>
              </a:rPr>
              <a:t>Microwaves  are  short waves with  wavelength ranging from one meter to  one millimeter, or equivalently, with frequency between 0.3 GHz and 30 GHz.</a:t>
            </a:r>
          </a:p>
          <a:p>
            <a:pPr lvl="3" algn="just"/>
            <a:endParaRPr lang="en-US" sz="2400" dirty="0" smtClean="0">
              <a:latin typeface="Times New Roman" pitchFamily="18" charset="0"/>
              <a:cs typeface="Times New Roman" pitchFamily="18" charset="0"/>
            </a:endParaRPr>
          </a:p>
        </p:txBody>
      </p:sp>
      <p:sp>
        <p:nvSpPr>
          <p:cNvPr id="4" name="Rectangle 3"/>
          <p:cNvSpPr/>
          <p:nvPr/>
        </p:nvSpPr>
        <p:spPr>
          <a:xfrm>
            <a:off x="428596" y="1714488"/>
            <a:ext cx="4240263" cy="461665"/>
          </a:xfrm>
          <a:prstGeom prst="rect">
            <a:avLst/>
          </a:prstGeom>
        </p:spPr>
        <p:txBody>
          <a:bodyPr wrap="none">
            <a:spAutoFit/>
          </a:bodyPr>
          <a:lstStyle/>
          <a:p>
            <a:r>
              <a:rPr lang="en-US"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Microwave bands designations:-</a:t>
            </a:r>
            <a:endParaRPr lang="en-US" sz="2400" dirty="0"/>
          </a:p>
        </p:txBody>
      </p:sp>
      <p:graphicFrame>
        <p:nvGraphicFramePr>
          <p:cNvPr id="5" name="Table 4"/>
          <p:cNvGraphicFramePr>
            <a:graphicFrameLocks noGrp="1"/>
          </p:cNvGraphicFramePr>
          <p:nvPr/>
        </p:nvGraphicFramePr>
        <p:xfrm>
          <a:off x="-1" y="2143113"/>
          <a:ext cx="9001158" cy="4738178"/>
        </p:xfrm>
        <a:graphic>
          <a:graphicData uri="http://schemas.openxmlformats.org/drawingml/2006/table">
            <a:tbl>
              <a:tblPr firstRow="1" bandRow="1">
                <a:tableStyleId>{5C22544A-7EE6-4342-B048-85BDC9FD1C3A}</a:tableStyleId>
              </a:tblPr>
              <a:tblGrid>
                <a:gridCol w="3000386"/>
                <a:gridCol w="3000386"/>
                <a:gridCol w="3000386"/>
              </a:tblGrid>
              <a:tr h="423261">
                <a:tc>
                  <a:txBody>
                    <a:bodyPr/>
                    <a:lstStyle/>
                    <a:p>
                      <a:pPr algn="ctr"/>
                      <a:r>
                        <a:rPr lang="en-US" b="1" dirty="0" smtClean="0"/>
                        <a:t> Band</a:t>
                      </a:r>
                      <a:endParaRPr lang="en-US" b="1" dirty="0"/>
                    </a:p>
                  </a:txBody>
                  <a:tcPr/>
                </a:tc>
                <a:tc>
                  <a:txBody>
                    <a:bodyPr/>
                    <a:lstStyle/>
                    <a:p>
                      <a:pPr algn="ctr"/>
                      <a:r>
                        <a:rPr lang="en-US" b="1" dirty="0" smtClean="0"/>
                        <a:t>Frequency</a:t>
                      </a:r>
                      <a:r>
                        <a:rPr lang="en-US" b="1" baseline="0" dirty="0" smtClean="0"/>
                        <a:t> Region</a:t>
                      </a:r>
                      <a:endParaRPr lang="en-US" b="1" dirty="0"/>
                    </a:p>
                  </a:txBody>
                  <a:tcPr/>
                </a:tc>
                <a:tc>
                  <a:txBody>
                    <a:bodyPr/>
                    <a:lstStyle/>
                    <a:p>
                      <a:r>
                        <a:rPr lang="en-US" sz="1800" b="1" kern="1200" dirty="0" smtClean="0">
                          <a:solidFill>
                            <a:schemeClr val="lt1"/>
                          </a:solidFill>
                          <a:latin typeface="+mn-lt"/>
                          <a:ea typeface="+mn-ea"/>
                          <a:cs typeface="+mn-cs"/>
                        </a:rPr>
                        <a:t>Origin of name</a:t>
                      </a:r>
                      <a:endParaRPr lang="en-US" b="1" dirty="0"/>
                    </a:p>
                  </a:txBody>
                  <a:tcPr/>
                </a:tc>
              </a:tr>
              <a:tr h="423261">
                <a:tc>
                  <a:txBody>
                    <a:bodyPr/>
                    <a:lstStyle/>
                    <a:p>
                      <a:pPr algn="ctr"/>
                      <a:r>
                        <a:rPr lang="en-US" dirty="0" smtClean="0"/>
                        <a:t>L</a:t>
                      </a:r>
                      <a:endParaRPr lang="en-US" dirty="0"/>
                    </a:p>
                  </a:txBody>
                  <a:tcPr/>
                </a:tc>
                <a:tc>
                  <a:txBody>
                    <a:bodyPr/>
                    <a:lstStyle/>
                    <a:p>
                      <a:pPr algn="ctr"/>
                      <a:r>
                        <a:rPr lang="en-US" dirty="0" smtClean="0"/>
                        <a:t>1-2</a:t>
                      </a:r>
                      <a:r>
                        <a:rPr lang="en-US" sz="1800" dirty="0" smtClean="0"/>
                        <a:t>GHz.</a:t>
                      </a:r>
                      <a:endParaRPr lang="en-US" dirty="0"/>
                    </a:p>
                  </a:txBody>
                  <a:tcPr/>
                </a:tc>
                <a:tc>
                  <a:txBody>
                    <a:bodyPr/>
                    <a:lstStyle/>
                    <a:p>
                      <a:pPr marL="0" marR="0" algn="ctr">
                        <a:lnSpc>
                          <a:spcPct val="150000"/>
                        </a:lnSpc>
                        <a:spcBef>
                          <a:spcPts val="0"/>
                        </a:spcBef>
                        <a:spcAft>
                          <a:spcPts val="0"/>
                        </a:spcAft>
                      </a:pPr>
                      <a:r>
                        <a:rPr lang="en-US" sz="1800" b="1" dirty="0">
                          <a:latin typeface="Times New Roman"/>
                          <a:ea typeface="Times New Roman"/>
                          <a:cs typeface="Times New Roman"/>
                        </a:rPr>
                        <a:t>L</a:t>
                      </a:r>
                      <a:r>
                        <a:rPr lang="en-US" sz="1800" dirty="0">
                          <a:latin typeface="Times New Roman"/>
                          <a:ea typeface="Times New Roman"/>
                          <a:cs typeface="Times New Roman"/>
                        </a:rPr>
                        <a:t>ong wave</a:t>
                      </a:r>
                      <a:endParaRPr lang="en-US" sz="1800" dirty="0">
                        <a:latin typeface="Calibri"/>
                        <a:ea typeface="Calibri"/>
                        <a:cs typeface="Times New Roman"/>
                      </a:endParaRPr>
                    </a:p>
                  </a:txBody>
                  <a:tcPr marL="9525" marR="9525" marT="9525" marB="9525" anchor="ctr"/>
                </a:tc>
              </a:tr>
              <a:tr h="423261">
                <a:tc>
                  <a:txBody>
                    <a:bodyPr/>
                    <a:lstStyle/>
                    <a:p>
                      <a:pPr algn="ctr"/>
                      <a:r>
                        <a:rPr lang="en-US" dirty="0" smtClean="0"/>
                        <a:t>S</a:t>
                      </a:r>
                      <a:endParaRPr lang="en-US" dirty="0"/>
                    </a:p>
                  </a:txBody>
                  <a:tcPr/>
                </a:tc>
                <a:tc>
                  <a:txBody>
                    <a:bodyPr/>
                    <a:lstStyle/>
                    <a:p>
                      <a:pPr algn="ctr"/>
                      <a:r>
                        <a:rPr lang="en-US" dirty="0" smtClean="0"/>
                        <a:t>2-4</a:t>
                      </a:r>
                      <a:r>
                        <a:rPr lang="en-US" sz="1800" dirty="0" smtClean="0"/>
                        <a:t>GHz.</a:t>
                      </a:r>
                      <a:endParaRPr lang="en-US" dirty="0"/>
                    </a:p>
                  </a:txBody>
                  <a:tcPr/>
                </a:tc>
                <a:tc>
                  <a:txBody>
                    <a:bodyPr/>
                    <a:lstStyle/>
                    <a:p>
                      <a:pPr marL="0" marR="0" algn="ctr">
                        <a:lnSpc>
                          <a:spcPct val="150000"/>
                        </a:lnSpc>
                        <a:spcBef>
                          <a:spcPts val="0"/>
                        </a:spcBef>
                        <a:spcAft>
                          <a:spcPts val="0"/>
                        </a:spcAft>
                      </a:pPr>
                      <a:r>
                        <a:rPr lang="en-US" sz="1800" b="1" dirty="0">
                          <a:latin typeface="Times New Roman"/>
                          <a:ea typeface="Times New Roman"/>
                          <a:cs typeface="Times New Roman"/>
                        </a:rPr>
                        <a:t>S</a:t>
                      </a:r>
                      <a:r>
                        <a:rPr lang="en-US" sz="1800" dirty="0">
                          <a:latin typeface="Times New Roman"/>
                          <a:ea typeface="Times New Roman"/>
                          <a:cs typeface="Times New Roman"/>
                        </a:rPr>
                        <a:t>hort wave</a:t>
                      </a:r>
                      <a:endParaRPr lang="en-US" sz="1800" dirty="0">
                        <a:latin typeface="Calibri"/>
                        <a:ea typeface="Calibri"/>
                        <a:cs typeface="Times New Roman"/>
                      </a:endParaRPr>
                    </a:p>
                  </a:txBody>
                  <a:tcPr marL="9525" marR="9525" marT="9525" marB="9525" anchor="ctr"/>
                </a:tc>
              </a:tr>
              <a:tr h="423261">
                <a:tc>
                  <a:txBody>
                    <a:bodyPr/>
                    <a:lstStyle/>
                    <a:p>
                      <a:pPr algn="ctr"/>
                      <a:r>
                        <a:rPr lang="en-US" dirty="0" smtClean="0"/>
                        <a:t>C</a:t>
                      </a:r>
                      <a:endParaRPr lang="en-US" dirty="0"/>
                    </a:p>
                  </a:txBody>
                  <a:tcPr/>
                </a:tc>
                <a:tc>
                  <a:txBody>
                    <a:bodyPr/>
                    <a:lstStyle/>
                    <a:p>
                      <a:pPr algn="ctr"/>
                      <a:r>
                        <a:rPr lang="en-US" dirty="0" smtClean="0"/>
                        <a:t>4-8</a:t>
                      </a:r>
                      <a:r>
                        <a:rPr lang="en-US" sz="1800" dirty="0" smtClean="0"/>
                        <a:t>GHz.</a:t>
                      </a:r>
                      <a:endParaRPr lang="en-US" dirty="0"/>
                    </a:p>
                  </a:txBody>
                  <a:tcPr/>
                </a:tc>
                <a:tc>
                  <a:txBody>
                    <a:bodyPr/>
                    <a:lstStyle/>
                    <a:p>
                      <a:pPr marL="0" marR="0" algn="ctr">
                        <a:lnSpc>
                          <a:spcPct val="150000"/>
                        </a:lnSpc>
                        <a:spcBef>
                          <a:spcPts val="0"/>
                        </a:spcBef>
                        <a:spcAft>
                          <a:spcPts val="0"/>
                        </a:spcAft>
                      </a:pPr>
                      <a:r>
                        <a:rPr lang="en-US" sz="1800" b="1" dirty="0">
                          <a:latin typeface="Times New Roman"/>
                          <a:ea typeface="Times New Roman"/>
                          <a:cs typeface="Times New Roman"/>
                        </a:rPr>
                        <a:t>C</a:t>
                      </a:r>
                      <a:r>
                        <a:rPr lang="en-US" sz="1800" dirty="0">
                          <a:latin typeface="Times New Roman"/>
                          <a:ea typeface="Times New Roman"/>
                          <a:cs typeface="Times New Roman"/>
                        </a:rPr>
                        <a:t>ompromise between S and X</a:t>
                      </a:r>
                      <a:endParaRPr lang="en-US" sz="1800" dirty="0">
                        <a:latin typeface="Calibri"/>
                        <a:ea typeface="Calibri"/>
                        <a:cs typeface="Times New Roman"/>
                      </a:endParaRPr>
                    </a:p>
                  </a:txBody>
                  <a:tcPr marL="9525" marR="9525" marT="9525" marB="9525" anchor="ctr"/>
                </a:tc>
              </a:tr>
              <a:tr h="791871">
                <a:tc>
                  <a:txBody>
                    <a:bodyPr/>
                    <a:lstStyle/>
                    <a:p>
                      <a:pPr algn="ctr"/>
                      <a:r>
                        <a:rPr lang="en-US" dirty="0" smtClean="0"/>
                        <a:t>X</a:t>
                      </a:r>
                      <a:endParaRPr lang="en-US" dirty="0"/>
                    </a:p>
                  </a:txBody>
                  <a:tcPr/>
                </a:tc>
                <a:tc>
                  <a:txBody>
                    <a:bodyPr/>
                    <a:lstStyle/>
                    <a:p>
                      <a:pPr algn="ctr"/>
                      <a:r>
                        <a:rPr lang="en-US" dirty="0" smtClean="0"/>
                        <a:t>8-12</a:t>
                      </a:r>
                      <a:r>
                        <a:rPr lang="en-US" sz="1800" dirty="0" smtClean="0"/>
                        <a:t>GHz.</a:t>
                      </a:r>
                      <a:endParaRPr lang="en-US" dirty="0"/>
                    </a:p>
                  </a:txBody>
                  <a:tcPr/>
                </a:tc>
                <a:tc>
                  <a:txBody>
                    <a:bodyPr/>
                    <a:lstStyle/>
                    <a:p>
                      <a:r>
                        <a:rPr lang="en-US" sz="1800" kern="1200" dirty="0" smtClean="0">
                          <a:solidFill>
                            <a:schemeClr val="dk1"/>
                          </a:solidFill>
                          <a:latin typeface="+mn-lt"/>
                          <a:ea typeface="+mn-ea"/>
                          <a:cs typeface="+mn-cs"/>
                        </a:rPr>
                        <a:t>Used in </a:t>
                      </a:r>
                      <a:r>
                        <a:rPr lang="en-US" sz="1800" u="sng" kern="1200" dirty="0" smtClean="0">
                          <a:solidFill>
                            <a:schemeClr val="dk1"/>
                          </a:solidFill>
                          <a:latin typeface="+mn-lt"/>
                          <a:ea typeface="+mn-ea"/>
                          <a:cs typeface="+mn-cs"/>
                          <a:hlinkClick r:id=""/>
                        </a:rPr>
                        <a:t>WW II</a:t>
                      </a:r>
                      <a:r>
                        <a:rPr lang="en-US" sz="1800" kern="1200" dirty="0" smtClean="0">
                          <a:solidFill>
                            <a:schemeClr val="dk1"/>
                          </a:solidFill>
                          <a:latin typeface="+mn-lt"/>
                          <a:ea typeface="+mn-ea"/>
                          <a:cs typeface="+mn-cs"/>
                        </a:rPr>
                        <a:t> for </a:t>
                      </a:r>
                      <a:r>
                        <a:rPr lang="en-US" sz="1800" u="sng" kern="1200" dirty="0" smtClean="0">
                          <a:solidFill>
                            <a:schemeClr val="dk1"/>
                          </a:solidFill>
                          <a:latin typeface="+mn-lt"/>
                          <a:ea typeface="+mn-ea"/>
                          <a:cs typeface="+mn-cs"/>
                          <a:hlinkClick r:id=""/>
                        </a:rPr>
                        <a:t>fire control</a:t>
                      </a:r>
                      <a:r>
                        <a:rPr lang="en-US" sz="1800" kern="1200" dirty="0" smtClean="0">
                          <a:solidFill>
                            <a:schemeClr val="dk1"/>
                          </a:solidFill>
                          <a:latin typeface="+mn-lt"/>
                          <a:ea typeface="+mn-ea"/>
                          <a:cs typeface="+mn-cs"/>
                        </a:rPr>
                        <a:t>, X for cross</a:t>
                      </a:r>
                    </a:p>
                    <a:p>
                      <a:endParaRPr lang="en-US" sz="1800" dirty="0"/>
                    </a:p>
                  </a:txBody>
                  <a:tcPr/>
                </a:tc>
              </a:tr>
              <a:tr h="423261">
                <a:tc>
                  <a:txBody>
                    <a:bodyPr/>
                    <a:lstStyle/>
                    <a:p>
                      <a:pPr algn="ctr"/>
                      <a:r>
                        <a:rPr lang="en-US" dirty="0" smtClean="0"/>
                        <a:t>Ku</a:t>
                      </a:r>
                      <a:endParaRPr lang="en-US" dirty="0"/>
                    </a:p>
                  </a:txBody>
                  <a:tcPr/>
                </a:tc>
                <a:tc>
                  <a:txBody>
                    <a:bodyPr/>
                    <a:lstStyle/>
                    <a:p>
                      <a:pPr algn="ctr"/>
                      <a:r>
                        <a:rPr lang="en-US" dirty="0" smtClean="0"/>
                        <a:t>12-18</a:t>
                      </a:r>
                      <a:r>
                        <a:rPr lang="en-US" sz="1800" dirty="0" smtClean="0"/>
                        <a:t>GHz.</a:t>
                      </a:r>
                    </a:p>
                  </a:txBody>
                  <a:tcPr/>
                </a:tc>
                <a:tc>
                  <a:txBody>
                    <a:bodyPr/>
                    <a:lstStyle/>
                    <a:p>
                      <a:pPr marL="0" marR="0" algn="ctr">
                        <a:lnSpc>
                          <a:spcPct val="150000"/>
                        </a:lnSpc>
                        <a:spcBef>
                          <a:spcPts val="0"/>
                        </a:spcBef>
                        <a:spcAft>
                          <a:spcPts val="0"/>
                        </a:spcAft>
                      </a:pPr>
                      <a:r>
                        <a:rPr lang="en-US" sz="1800" b="1" dirty="0" err="1">
                          <a:latin typeface="Times New Roman"/>
                          <a:ea typeface="Times New Roman"/>
                          <a:cs typeface="Times New Roman"/>
                        </a:rPr>
                        <a:t>K</a:t>
                      </a:r>
                      <a:r>
                        <a:rPr lang="en-US" sz="1800" dirty="0" err="1">
                          <a:latin typeface="Times New Roman"/>
                          <a:ea typeface="Times New Roman"/>
                          <a:cs typeface="Times New Roman"/>
                        </a:rPr>
                        <a:t>urz</a:t>
                      </a:r>
                      <a:r>
                        <a:rPr lang="en-US" sz="1800" dirty="0">
                          <a:latin typeface="Times New Roman"/>
                          <a:ea typeface="Times New Roman"/>
                          <a:cs typeface="Times New Roman"/>
                        </a:rPr>
                        <a:t>-</a:t>
                      </a:r>
                      <a:r>
                        <a:rPr lang="en-US" sz="1800" b="1" dirty="0">
                          <a:latin typeface="Times New Roman"/>
                          <a:ea typeface="Times New Roman"/>
                          <a:cs typeface="Times New Roman"/>
                        </a:rPr>
                        <a:t>u</a:t>
                      </a:r>
                      <a:r>
                        <a:rPr lang="en-US" sz="1800" dirty="0">
                          <a:latin typeface="Times New Roman"/>
                          <a:ea typeface="Times New Roman"/>
                          <a:cs typeface="Times New Roman"/>
                        </a:rPr>
                        <a:t>nder</a:t>
                      </a:r>
                      <a:endParaRPr lang="en-US" sz="1800" dirty="0">
                        <a:latin typeface="Calibri"/>
                        <a:ea typeface="Calibri"/>
                        <a:cs typeface="Times New Roman"/>
                      </a:endParaRPr>
                    </a:p>
                  </a:txBody>
                  <a:tcPr marL="9525" marR="9525" marT="9525" marB="9525" anchor="ctr"/>
                </a:tc>
              </a:tr>
              <a:tr h="423261">
                <a:tc>
                  <a:txBody>
                    <a:bodyPr/>
                    <a:lstStyle/>
                    <a:p>
                      <a:pPr algn="ctr"/>
                      <a:r>
                        <a:rPr lang="en-US" dirty="0" smtClean="0"/>
                        <a:t>K</a:t>
                      </a:r>
                      <a:endParaRPr lang="en-US" dirty="0"/>
                    </a:p>
                  </a:txBody>
                  <a:tcPr/>
                </a:tc>
                <a:tc>
                  <a:txBody>
                    <a:bodyPr/>
                    <a:lstStyle/>
                    <a:p>
                      <a:pPr algn="ctr"/>
                      <a:r>
                        <a:rPr lang="en-US" dirty="0" smtClean="0"/>
                        <a:t>18-27</a:t>
                      </a:r>
                      <a:r>
                        <a:rPr lang="en-US" sz="1800" dirty="0" smtClean="0"/>
                        <a:t>GHz.</a:t>
                      </a:r>
                    </a:p>
                  </a:txBody>
                  <a:tcPr/>
                </a:tc>
                <a:tc>
                  <a:txBody>
                    <a:bodyPr/>
                    <a:lstStyle/>
                    <a:p>
                      <a:pPr marL="0" marR="0" algn="ctr">
                        <a:lnSpc>
                          <a:spcPct val="150000"/>
                        </a:lnSpc>
                        <a:spcBef>
                          <a:spcPts val="0"/>
                        </a:spcBef>
                        <a:spcAft>
                          <a:spcPts val="0"/>
                        </a:spcAft>
                      </a:pPr>
                      <a:r>
                        <a:rPr lang="en-US" sz="1800" dirty="0">
                          <a:latin typeface="Times New Roman"/>
                          <a:ea typeface="Times New Roman"/>
                          <a:cs typeface="Times New Roman"/>
                          <a:hlinkClick r:id=""/>
                        </a:rPr>
                        <a:t>German</a:t>
                      </a:r>
                      <a:r>
                        <a:rPr lang="en-US" sz="1800" dirty="0">
                          <a:latin typeface="Calibri"/>
                          <a:ea typeface="Calibri"/>
                          <a:cs typeface="Times New Roman"/>
                        </a:rPr>
                        <a:t> </a:t>
                      </a:r>
                      <a:r>
                        <a:rPr lang="en-US" sz="1800" b="1" dirty="0" err="1">
                          <a:latin typeface="Times New Roman"/>
                          <a:ea typeface="Times New Roman"/>
                          <a:cs typeface="Times New Roman"/>
                        </a:rPr>
                        <a:t>K</a:t>
                      </a:r>
                      <a:r>
                        <a:rPr lang="en-US" sz="1800" dirty="0" err="1">
                          <a:latin typeface="Times New Roman"/>
                          <a:ea typeface="Times New Roman"/>
                          <a:cs typeface="Times New Roman"/>
                        </a:rPr>
                        <a:t>urz</a:t>
                      </a:r>
                      <a:r>
                        <a:rPr lang="en-US" sz="1800" dirty="0">
                          <a:latin typeface="Times New Roman"/>
                          <a:ea typeface="Times New Roman"/>
                          <a:cs typeface="Times New Roman"/>
                        </a:rPr>
                        <a:t> (short)</a:t>
                      </a:r>
                      <a:endParaRPr lang="en-US" sz="1800" dirty="0">
                        <a:latin typeface="Calibri"/>
                        <a:ea typeface="Calibri"/>
                        <a:cs typeface="Times New Roman"/>
                      </a:endParaRPr>
                    </a:p>
                  </a:txBody>
                  <a:tcPr marL="9525" marR="9525" marT="9525" marB="9525" anchor="ctr"/>
                </a:tc>
              </a:tr>
              <a:tr h="423261">
                <a:tc>
                  <a:txBody>
                    <a:bodyPr/>
                    <a:lstStyle/>
                    <a:p>
                      <a:pPr algn="ctr"/>
                      <a:r>
                        <a:rPr lang="en-US" dirty="0" smtClean="0"/>
                        <a:t>Ka</a:t>
                      </a:r>
                      <a:endParaRPr lang="en-US" dirty="0"/>
                    </a:p>
                  </a:txBody>
                  <a:tcPr/>
                </a:tc>
                <a:tc>
                  <a:txBody>
                    <a:bodyPr/>
                    <a:lstStyle/>
                    <a:p>
                      <a:pPr algn="ctr"/>
                      <a:r>
                        <a:rPr lang="en-US" dirty="0" smtClean="0"/>
                        <a:t>27-40</a:t>
                      </a:r>
                      <a:r>
                        <a:rPr lang="en-US" sz="1800" dirty="0" smtClean="0"/>
                        <a:t>GHz.</a:t>
                      </a:r>
                      <a:endParaRPr lang="en-US" dirty="0"/>
                    </a:p>
                  </a:txBody>
                  <a:tcPr/>
                </a:tc>
                <a:tc>
                  <a:txBody>
                    <a:bodyPr/>
                    <a:lstStyle/>
                    <a:p>
                      <a:pPr marL="0" marR="0" algn="ctr">
                        <a:lnSpc>
                          <a:spcPct val="150000"/>
                        </a:lnSpc>
                        <a:spcBef>
                          <a:spcPts val="0"/>
                        </a:spcBef>
                        <a:spcAft>
                          <a:spcPts val="0"/>
                        </a:spcAft>
                      </a:pPr>
                      <a:r>
                        <a:rPr lang="en-US" sz="1800" b="1" dirty="0" err="1">
                          <a:latin typeface="Times New Roman"/>
                          <a:ea typeface="Times New Roman"/>
                          <a:cs typeface="Times New Roman"/>
                        </a:rPr>
                        <a:t>K</a:t>
                      </a:r>
                      <a:r>
                        <a:rPr lang="en-US" sz="1800" dirty="0" err="1">
                          <a:latin typeface="Times New Roman"/>
                          <a:ea typeface="Times New Roman"/>
                          <a:cs typeface="Times New Roman"/>
                        </a:rPr>
                        <a:t>urz</a:t>
                      </a:r>
                      <a:r>
                        <a:rPr lang="en-US" sz="1800" dirty="0">
                          <a:latin typeface="Times New Roman"/>
                          <a:ea typeface="Times New Roman"/>
                          <a:cs typeface="Times New Roman"/>
                        </a:rPr>
                        <a:t>-</a:t>
                      </a:r>
                      <a:r>
                        <a:rPr lang="en-US" sz="1800" b="1" dirty="0">
                          <a:latin typeface="Times New Roman"/>
                          <a:ea typeface="Times New Roman"/>
                          <a:cs typeface="Times New Roman"/>
                        </a:rPr>
                        <a:t>a</a:t>
                      </a:r>
                      <a:r>
                        <a:rPr lang="en-US" sz="1800" dirty="0">
                          <a:latin typeface="Times New Roman"/>
                          <a:ea typeface="Times New Roman"/>
                          <a:cs typeface="Times New Roman"/>
                        </a:rPr>
                        <a:t>bove</a:t>
                      </a:r>
                      <a:endParaRPr lang="en-US" sz="1800" dirty="0">
                        <a:latin typeface="Calibri"/>
                        <a:ea typeface="Calibri"/>
                        <a:cs typeface="Times New Roman"/>
                      </a:endParaRPr>
                    </a:p>
                  </a:txBody>
                  <a:tcPr marL="9525" marR="9525" marT="9525" marB="9525" anchor="ctr"/>
                </a:tc>
              </a:tr>
              <a:tr h="817337">
                <a:tc>
                  <a:txBody>
                    <a:bodyPr/>
                    <a:lstStyle/>
                    <a:p>
                      <a:pPr algn="ctr"/>
                      <a:r>
                        <a:rPr lang="en-US" dirty="0" smtClean="0"/>
                        <a:t>Millimeter</a:t>
                      </a:r>
                      <a:endParaRPr lang="en-US" dirty="0"/>
                    </a:p>
                  </a:txBody>
                  <a:tcPr/>
                </a:tc>
                <a:tc>
                  <a:txBody>
                    <a:bodyPr/>
                    <a:lstStyle/>
                    <a:p>
                      <a:pPr algn="ctr"/>
                      <a:r>
                        <a:rPr lang="en-US" dirty="0" smtClean="0"/>
                        <a:t>40-300GHz.</a:t>
                      </a:r>
                      <a:endParaRPr lang="en-US" dirty="0"/>
                    </a:p>
                  </a:txBody>
                  <a:tcPr/>
                </a:tc>
                <a:tc>
                  <a:txBody>
                    <a:bodyPr/>
                    <a:lstStyle/>
                    <a:p>
                      <a:endParaRPr lang="en-US" sz="1600" dirty="0"/>
                    </a:p>
                  </a:txBody>
                  <a:tcPr/>
                </a:tc>
              </a:tr>
            </a:tbl>
          </a:graphicData>
        </a:graphic>
      </p:graphicFrame>
      <p:sp>
        <p:nvSpPr>
          <p:cNvPr id="6" name="Rectangle 5"/>
          <p:cNvSpPr/>
          <p:nvPr/>
        </p:nvSpPr>
        <p:spPr>
          <a:xfrm>
            <a:off x="1643042" y="0"/>
            <a:ext cx="3857652" cy="584775"/>
          </a:xfrm>
          <a:prstGeom prst="rect">
            <a:avLst/>
          </a:prstGeom>
        </p:spPr>
        <p:txBody>
          <a:bodyPr wrap="square">
            <a:spAutoFit/>
          </a:bodyPr>
          <a:lstStyle/>
          <a:p>
            <a:r>
              <a:rPr lang="en-US" sz="3200" b="1" u="sng" dirty="0" smtClean="0">
                <a:effectLst>
                  <a:outerShdw blurRad="38100" dist="38100" dir="2700000" algn="tl">
                    <a:srgbClr val="000000">
                      <a:alpha val="43137"/>
                    </a:srgbClr>
                  </a:outerShdw>
                </a:effectLst>
                <a:latin typeface="Times New Roman" pitchFamily="18" charset="0"/>
                <a:cs typeface="Times New Roman" pitchFamily="18" charset="0"/>
              </a:rPr>
              <a:t>Introduction</a:t>
            </a:r>
            <a:r>
              <a:rPr lang="en-US" b="1" u="sng" dirty="0" smtClean="0">
                <a:effectLst>
                  <a:outerShdw blurRad="38100" dist="38100" dir="2700000" algn="tl">
                    <a:srgbClr val="000000">
                      <a:alpha val="43137"/>
                    </a:srgbClr>
                  </a:outerShdw>
                </a:effectLst>
              </a:rPr>
              <a:t> </a:t>
            </a:r>
            <a:r>
              <a:rPr lang="en-US" sz="3200" b="1" u="sng" dirty="0" smtClean="0">
                <a:effectLst>
                  <a:outerShdw blurRad="38100" dist="38100" dir="2700000" algn="tl">
                    <a:srgbClr val="000000">
                      <a:alpha val="43137"/>
                    </a:srgbClr>
                  </a:outerShdw>
                </a:effectLst>
                <a:latin typeface="Times New Roman" pitchFamily="18" charset="0"/>
                <a:cs typeface="Times New Roman" pitchFamily="18" charset="0"/>
              </a:rPr>
              <a:t>to</a:t>
            </a:r>
            <a:r>
              <a:rPr lang="en-US" b="1" u="sng" dirty="0" smtClean="0"/>
              <a:t> </a:t>
            </a:r>
            <a:endParaRPr lang="en-US" dirty="0"/>
          </a:p>
        </p:txBody>
      </p:sp>
      <p:sp>
        <p:nvSpPr>
          <p:cNvPr id="7" name="Rectangle 6"/>
          <p:cNvSpPr/>
          <p:nvPr/>
        </p:nvSpPr>
        <p:spPr>
          <a:xfrm>
            <a:off x="4286248" y="0"/>
            <a:ext cx="2299604" cy="584775"/>
          </a:xfrm>
          <a:prstGeom prst="rect">
            <a:avLst/>
          </a:prstGeom>
        </p:spPr>
        <p:txBody>
          <a:bodyPr wrap="none">
            <a:spAutoFit/>
          </a:bodyPr>
          <a:lstStyle/>
          <a:p>
            <a:r>
              <a:rPr lang="en-US" sz="3200" b="1" u="sng" dirty="0" smtClean="0">
                <a:effectLst>
                  <a:outerShdw blurRad="38100" dist="38100" dir="2700000" algn="tl">
                    <a:srgbClr val="000000">
                      <a:alpha val="43137"/>
                    </a:srgbClr>
                  </a:outerShdw>
                </a:effectLst>
                <a:latin typeface="Times New Roman" pitchFamily="18" charset="0"/>
                <a:cs typeface="Times New Roman" pitchFamily="18" charset="0"/>
              </a:rPr>
              <a:t>Microwaves</a:t>
            </a:r>
            <a:endParaRPr lang="en-US" sz="3200"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8" name="Slide Number Placeholder 7"/>
          <p:cNvSpPr>
            <a:spLocks noGrp="1"/>
          </p:cNvSpPr>
          <p:nvPr>
            <p:ph type="sldNum" sz="quarter" idx="12"/>
          </p:nvPr>
        </p:nvSpPr>
        <p:spPr/>
        <p:txBody>
          <a:bodyPr/>
          <a:lstStyle/>
          <a:p>
            <a:fld id="{C2C1A6A0-3F2F-4BAF-B319-837518E4456F}" type="slidenum">
              <a:rPr lang="en-US" smtClean="0"/>
              <a:pPr/>
              <a:t>8</a:t>
            </a:fld>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0034" y="571480"/>
            <a:ext cx="5286412" cy="6155531"/>
          </a:xfrm>
          <a:prstGeom prst="rect">
            <a:avLst/>
          </a:prstGeom>
        </p:spPr>
        <p:txBody>
          <a:bodyPr wrap="square">
            <a:spAutoFit/>
          </a:bodyPr>
          <a:lstStyle/>
          <a:p>
            <a:r>
              <a:rPr lang="en-US" sz="3200" b="1" u="sng" dirty="0" smtClean="0">
                <a:effectLst>
                  <a:outerShdw blurRad="38100" dist="38100" dir="2700000" algn="tl">
                    <a:srgbClr val="000000">
                      <a:alpha val="43137"/>
                    </a:srgbClr>
                  </a:outerShdw>
                </a:effectLst>
                <a:latin typeface="Times New Roman" pitchFamily="18" charset="0"/>
                <a:cs typeface="Times New Roman" pitchFamily="18" charset="0"/>
              </a:rPr>
              <a:t>ORIGINATOR OF MICROWAVES</a:t>
            </a:r>
          </a:p>
          <a:p>
            <a:endParaRPr lang="en-US" b="1" u="sng" dirty="0" smtClean="0">
              <a:latin typeface="Times New Roman" pitchFamily="18" charset="0"/>
              <a:cs typeface="Times New Roman" pitchFamily="18" charset="0"/>
            </a:endParaRPr>
          </a:p>
          <a:p>
            <a:r>
              <a:rPr lang="en-US" sz="2400" b="1" dirty="0" smtClean="0">
                <a:latin typeface="Times New Roman" pitchFamily="18" charset="0"/>
                <a:cs typeface="Times New Roman" pitchFamily="18" charset="0"/>
              </a:rPr>
              <a:t>In the 1890s, the Indian physicist </a:t>
            </a:r>
            <a:br>
              <a:rPr lang="en-US" sz="2400" b="1" dirty="0" smtClean="0">
                <a:latin typeface="Times New Roman" pitchFamily="18" charset="0"/>
                <a:cs typeface="Times New Roman" pitchFamily="18" charset="0"/>
              </a:rPr>
            </a:br>
            <a:r>
              <a:rPr lang="en-US" sz="2400" b="1" dirty="0" err="1" smtClean="0">
                <a:latin typeface="Times New Roman" pitchFamily="18" charset="0"/>
                <a:cs typeface="Times New Roman" pitchFamily="18" charset="0"/>
              </a:rPr>
              <a:t>Jagadish</a:t>
            </a:r>
            <a:r>
              <a:rPr lang="en-US" sz="2400" b="1" dirty="0" smtClean="0">
                <a:latin typeface="Times New Roman" pitchFamily="18" charset="0"/>
                <a:cs typeface="Times New Roman" pitchFamily="18" charset="0"/>
              </a:rPr>
              <a:t> Chandra Bose extended Hertz’s experiment</a:t>
            </a:r>
            <a:br>
              <a:rPr lang="en-US" sz="2400" b="1" dirty="0" smtClean="0">
                <a:latin typeface="Times New Roman" pitchFamily="18" charset="0"/>
                <a:cs typeface="Times New Roman" pitchFamily="18" charset="0"/>
              </a:rPr>
            </a:br>
            <a:r>
              <a:rPr lang="en-US" sz="2400" b="1" dirty="0" smtClean="0">
                <a:latin typeface="Times New Roman" pitchFamily="18" charset="0"/>
                <a:cs typeface="Times New Roman" pitchFamily="18" charset="0"/>
              </a:rPr>
              <a:t>using an improved apparatus at higher frequencies ranging from 60 to 120 GHz.</a:t>
            </a:r>
            <a:br>
              <a:rPr lang="en-US" sz="2400" b="1" dirty="0" smtClean="0">
                <a:latin typeface="Times New Roman" pitchFamily="18" charset="0"/>
                <a:cs typeface="Times New Roman" pitchFamily="18" charset="0"/>
              </a:rPr>
            </a:br>
            <a:r>
              <a:rPr lang="en-US" sz="2400" b="1" dirty="0" smtClean="0">
                <a:latin typeface="Times New Roman" pitchFamily="18" charset="0"/>
                <a:cs typeface="Times New Roman" pitchFamily="18" charset="0"/>
              </a:rPr>
              <a:t>However, the rapid development of microwave technology came during World War  II  with the  urgent need  to  improve radar  detection  of  enemy  aircraft  and submarines and the invention of the high-power cavity magnetron.</a:t>
            </a:r>
            <a:endParaRPr lang="en-US" sz="2400" b="1" dirty="0">
              <a:latin typeface="Times New Roman" pitchFamily="18" charset="0"/>
              <a:cs typeface="Times New Roman" pitchFamily="18" charset="0"/>
            </a:endParaRPr>
          </a:p>
        </p:txBody>
      </p:sp>
      <p:pic>
        <p:nvPicPr>
          <p:cNvPr id="3" name="Picture 2" descr="http://www.freeindia.org/biographies/greatscientists/jcbose/jcbose.jpg"/>
          <p:cNvPicPr>
            <a:picLocks noChangeAspect="1" noChangeArrowheads="1"/>
          </p:cNvPicPr>
          <p:nvPr/>
        </p:nvPicPr>
        <p:blipFill>
          <a:blip r:embed="rId2"/>
          <a:srcRect/>
          <a:stretch>
            <a:fillRect/>
          </a:stretch>
        </p:blipFill>
        <p:spPr bwMode="auto">
          <a:xfrm>
            <a:off x="6000760" y="1214422"/>
            <a:ext cx="2514600" cy="3000396"/>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fld id="{C2C1A6A0-3F2F-4BAF-B319-837518E4456F}" type="slidenum">
              <a:rPr lang="en-US" smtClean="0"/>
              <a:pPr/>
              <a:t>9</a:t>
            </a:fld>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20" y="-500090"/>
            <a:ext cx="6858048" cy="2571768"/>
          </a:xfrm>
        </p:spPr>
        <p:txBody>
          <a:bodyPr>
            <a:normAutofit fontScale="90000"/>
          </a:bodyPr>
          <a:lstStyle/>
          <a:p>
            <a:r>
              <a:rPr lang="en-US" sz="3600" b="1" i="1" dirty="0" smtClean="0">
                <a:ln w="17780" cmpd="sng">
                  <a:solidFill>
                    <a:srgbClr val="FFFFFF"/>
                  </a:solidFill>
                  <a:prstDash val="solid"/>
                  <a:miter lim="800000"/>
                </a:ln>
                <a:solidFill>
                  <a:schemeClr val="tx1"/>
                </a:solidFill>
                <a:effectLst>
                  <a:outerShdw blurRad="50800" algn="tl" rotWithShape="0">
                    <a:srgbClr val="000000"/>
                  </a:outerShdw>
                </a:effectLst>
                <a:latin typeface="Times New Roman" pitchFamily="18" charset="0"/>
                <a:cs typeface="Times New Roman" pitchFamily="18" charset="0"/>
              </a:rPr>
              <a:t/>
            </a:r>
            <a:br>
              <a:rPr lang="en-US" sz="3600" b="1" i="1" dirty="0" smtClean="0">
                <a:ln w="17780" cmpd="sng">
                  <a:solidFill>
                    <a:srgbClr val="FFFFFF"/>
                  </a:solidFill>
                  <a:prstDash val="solid"/>
                  <a:miter lim="800000"/>
                </a:ln>
                <a:solidFill>
                  <a:schemeClr val="tx1"/>
                </a:solidFill>
                <a:effectLst>
                  <a:outerShdw blurRad="50800" algn="tl" rotWithShape="0">
                    <a:srgbClr val="000000"/>
                  </a:outerShdw>
                </a:effectLst>
                <a:latin typeface="Times New Roman" pitchFamily="18" charset="0"/>
                <a:cs typeface="Times New Roman" pitchFamily="18" charset="0"/>
              </a:rPr>
            </a:br>
            <a:r>
              <a:rPr lang="en-US" sz="3600" b="1" i="1" dirty="0" smtClean="0">
                <a:ln w="17780" cmpd="sng">
                  <a:solidFill>
                    <a:srgbClr val="FFFFFF"/>
                  </a:solidFill>
                  <a:prstDash val="solid"/>
                  <a:miter lim="800000"/>
                </a:ln>
                <a:solidFill>
                  <a:schemeClr val="tx1"/>
                </a:solidFill>
                <a:effectLst>
                  <a:outerShdw blurRad="50800" algn="tl" rotWithShape="0">
                    <a:srgbClr val="000000"/>
                  </a:outerShdw>
                </a:effectLst>
                <a:latin typeface="Times New Roman" pitchFamily="18" charset="0"/>
                <a:cs typeface="Times New Roman" pitchFamily="18" charset="0"/>
              </a:rPr>
              <a:t/>
            </a:r>
            <a:br>
              <a:rPr lang="en-US" sz="3600" b="1" i="1" dirty="0" smtClean="0">
                <a:ln w="17780" cmpd="sng">
                  <a:solidFill>
                    <a:srgbClr val="FFFFFF"/>
                  </a:solidFill>
                  <a:prstDash val="solid"/>
                  <a:miter lim="800000"/>
                </a:ln>
                <a:solidFill>
                  <a:schemeClr val="tx1"/>
                </a:solidFill>
                <a:effectLst>
                  <a:outerShdw blurRad="50800" algn="tl" rotWithShape="0">
                    <a:srgbClr val="000000"/>
                  </a:outerShdw>
                </a:effectLst>
                <a:latin typeface="Times New Roman" pitchFamily="18" charset="0"/>
                <a:cs typeface="Times New Roman" pitchFamily="18" charset="0"/>
              </a:rPr>
            </a:br>
            <a:r>
              <a:rPr lang="en-US" sz="3600" b="1" i="1" dirty="0" smtClean="0">
                <a:ln w="17780" cmpd="sng">
                  <a:solidFill>
                    <a:srgbClr val="FFFFFF"/>
                  </a:solidFill>
                  <a:prstDash val="solid"/>
                  <a:miter lim="800000"/>
                </a:ln>
                <a:solidFill>
                  <a:schemeClr val="tx1"/>
                </a:solidFill>
                <a:effectLst>
                  <a:outerShdw blurRad="50800" algn="tl" rotWithShape="0">
                    <a:srgbClr val="000000"/>
                  </a:outerShdw>
                </a:effectLst>
                <a:latin typeface="Times New Roman" pitchFamily="18" charset="0"/>
                <a:cs typeface="Times New Roman" pitchFamily="18" charset="0"/>
              </a:rPr>
              <a:t/>
            </a:r>
            <a:br>
              <a:rPr lang="en-US" sz="3600" b="1" i="1" dirty="0" smtClean="0">
                <a:ln w="17780" cmpd="sng">
                  <a:solidFill>
                    <a:srgbClr val="FFFFFF"/>
                  </a:solidFill>
                  <a:prstDash val="solid"/>
                  <a:miter lim="800000"/>
                </a:ln>
                <a:solidFill>
                  <a:schemeClr val="tx1"/>
                </a:solidFill>
                <a:effectLst>
                  <a:outerShdw blurRad="50800" algn="tl" rotWithShape="0">
                    <a:srgbClr val="000000"/>
                  </a:outerShdw>
                </a:effectLst>
                <a:latin typeface="Times New Roman" pitchFamily="18" charset="0"/>
                <a:cs typeface="Times New Roman" pitchFamily="18" charset="0"/>
              </a:rPr>
            </a:br>
            <a:r>
              <a:rPr lang="en-US" sz="3600" b="1" i="1" dirty="0" smtClean="0">
                <a:ln w="17780" cmpd="sng">
                  <a:solidFill>
                    <a:srgbClr val="FFFFFF"/>
                  </a:solidFill>
                  <a:prstDash val="solid"/>
                  <a:miter lim="800000"/>
                </a:ln>
                <a:solidFill>
                  <a:schemeClr val="tx1"/>
                </a:solidFill>
                <a:effectLst>
                  <a:outerShdw blurRad="50800" algn="tl" rotWithShape="0">
                    <a:srgbClr val="000000"/>
                  </a:outerShdw>
                </a:effectLst>
                <a:latin typeface="Times New Roman" pitchFamily="18" charset="0"/>
                <a:cs typeface="Times New Roman" pitchFamily="18" charset="0"/>
              </a:rPr>
              <a:t>WHAT ARE MICROWAVES</a:t>
            </a:r>
            <a:r>
              <a:rPr lang="en-US" sz="3600" b="1" i="1" dirty="0" smtClean="0">
                <a:ln w="17780" cmpd="sng">
                  <a:solidFill>
                    <a:srgbClr val="FFFFFF"/>
                  </a:solidFill>
                  <a:prstDash val="solid"/>
                  <a:miter lim="800000"/>
                </a:ln>
                <a:solidFill>
                  <a:schemeClr val="tx1"/>
                </a:solidFill>
                <a:effectLst>
                  <a:outerShdw blurRad="50800" algn="tl" rotWithShape="0">
                    <a:srgbClr val="000000"/>
                  </a:outerShdw>
                </a:effectLst>
                <a:latin typeface="Times New Roman" pitchFamily="18" charset="0"/>
                <a:cs typeface="Times New Roman" pitchFamily="18" charset="0"/>
              </a:rPr>
              <a:t>?</a:t>
            </a:r>
            <a:r>
              <a:rPr lang="en-US" sz="2800" b="1" dirty="0" smtClean="0">
                <a:ln w="17780" cmpd="sng">
                  <a:solidFill>
                    <a:srgbClr val="FFFFFF"/>
                  </a:solidFill>
                  <a:prstDash val="solid"/>
                  <a:miter lim="800000"/>
                </a:ln>
                <a:effectLst>
                  <a:outerShdw blurRad="50800" algn="tl" rotWithShape="0">
                    <a:srgbClr val="000000"/>
                  </a:outerShdw>
                </a:effectLst>
              </a:rPr>
              <a:t/>
            </a:r>
            <a:br>
              <a:rPr lang="en-US" sz="2800" b="1" dirty="0" smtClean="0">
                <a:ln w="17780" cmpd="sng">
                  <a:solidFill>
                    <a:srgbClr val="FFFFFF"/>
                  </a:solidFill>
                  <a:prstDash val="solid"/>
                  <a:miter lim="800000"/>
                </a:ln>
                <a:effectLst>
                  <a:outerShdw blurRad="50800" algn="tl" rotWithShape="0">
                    <a:srgbClr val="000000"/>
                  </a:outerShdw>
                </a:effectLst>
              </a:rPr>
            </a:br>
            <a:r>
              <a:rPr lang="en-US" sz="3100" b="1" u="sng" dirty="0" smtClean="0">
                <a:solidFill>
                  <a:schemeClr val="tx1"/>
                </a:solidFill>
              </a:rPr>
              <a:t/>
            </a:r>
            <a:br>
              <a:rPr lang="en-US" sz="3100" b="1" u="sng" dirty="0" smtClean="0">
                <a:solidFill>
                  <a:schemeClr val="tx1"/>
                </a:solidFill>
              </a:rPr>
            </a:br>
            <a:r>
              <a:rPr lang="en-US" sz="2400" dirty="0" smtClean="0">
                <a:solidFill>
                  <a:schemeClr val="tx1"/>
                </a:solidFill>
              </a:rPr>
              <a:t/>
            </a:r>
            <a:br>
              <a:rPr lang="en-US" sz="2400" dirty="0" smtClean="0">
                <a:solidFill>
                  <a:schemeClr val="tx1"/>
                </a:solidFill>
              </a:rPr>
            </a:br>
            <a:r>
              <a:rPr lang="en-US" sz="2200" dirty="0" smtClean="0">
                <a:solidFill>
                  <a:schemeClr val="tx1"/>
                </a:solidFill>
              </a:rPr>
              <a:t> </a:t>
            </a:r>
            <a:r>
              <a:rPr lang="en-US" sz="2200" b="1" dirty="0" smtClean="0">
                <a:solidFill>
                  <a:schemeClr val="tx1"/>
                </a:solidFill>
              </a:rPr>
              <a:t/>
            </a:r>
            <a:br>
              <a:rPr lang="en-US" sz="2200" b="1" dirty="0" smtClean="0">
                <a:solidFill>
                  <a:schemeClr val="tx1"/>
                </a:solidFill>
              </a:rPr>
            </a:br>
            <a:endParaRPr lang="en-US" sz="2200" dirty="0">
              <a:solidFill>
                <a:schemeClr val="tx1"/>
              </a:solidFill>
            </a:endParaRPr>
          </a:p>
        </p:txBody>
      </p:sp>
      <p:pic>
        <p:nvPicPr>
          <p:cNvPr id="4" name="Picture 2"/>
          <p:cNvPicPr>
            <a:picLocks noChangeAspect="1" noChangeArrowheads="1"/>
          </p:cNvPicPr>
          <p:nvPr/>
        </p:nvPicPr>
        <p:blipFill>
          <a:blip r:embed="rId2" cstate="print">
            <a:extLst>
              <a:ext uri="{28A0092B-C50C-407E-A947-70E740481C1C}">
                <a14:useLocalDpi xmlns="" xmlns:a14="http://schemas.microsoft.com/office/drawing/2010/main" val="0"/>
              </a:ext>
            </a:extLst>
          </a:blip>
          <a:srcRect l="12154" r="12154"/>
          <a:stretch>
            <a:fillRect/>
          </a:stretch>
        </p:blipFill>
        <p:spPr bwMode="auto">
          <a:xfrm>
            <a:off x="5257800" y="3200400"/>
            <a:ext cx="3799742" cy="316335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 name="Rectangle 4"/>
          <p:cNvSpPr/>
          <p:nvPr/>
        </p:nvSpPr>
        <p:spPr>
          <a:xfrm>
            <a:off x="357158" y="714356"/>
            <a:ext cx="5072098" cy="5816977"/>
          </a:xfrm>
          <a:prstGeom prst="rect">
            <a:avLst/>
          </a:prstGeom>
        </p:spPr>
        <p:txBody>
          <a:bodyPr wrap="square">
            <a:spAutoFit/>
          </a:bodyPr>
          <a:lstStyle/>
          <a:p>
            <a:r>
              <a:rPr lang="en-US" sz="2400" b="1" dirty="0" smtClean="0">
                <a:latin typeface="Times New Roman" pitchFamily="18" charset="0"/>
                <a:cs typeface="Times New Roman" pitchFamily="18" charset="0"/>
              </a:rPr>
              <a:t>Microwaves  and Electromagnetic Radiation:-</a:t>
            </a:r>
            <a:r>
              <a:rPr lang="en-US" sz="2400" dirty="0" smtClean="0">
                <a:solidFill>
                  <a:schemeClr val="tx2">
                    <a:lumMod val="10000"/>
                  </a:schemeClr>
                </a:solidFill>
                <a:latin typeface="Times New Roman" pitchFamily="18" charset="0"/>
                <a:cs typeface="Times New Roman" pitchFamily="18" charset="0"/>
              </a:rPr>
              <a:t>Electromagnetic (EM) radiation is a form of energy radiated in the form of a wave traveling at the speed of light, comprising both </a:t>
            </a:r>
            <a:r>
              <a:rPr lang="en-US" sz="2400" b="1" dirty="0" smtClean="0">
                <a:solidFill>
                  <a:schemeClr val="tx2">
                    <a:lumMod val="10000"/>
                  </a:schemeClr>
                </a:solidFill>
                <a:latin typeface="Times New Roman" pitchFamily="18" charset="0"/>
                <a:cs typeface="Times New Roman" pitchFamily="18" charset="0"/>
              </a:rPr>
              <a:t>electric and magnetic fields</a:t>
            </a:r>
            <a:r>
              <a:rPr lang="en-US" sz="2400" dirty="0" smtClean="0">
                <a:solidFill>
                  <a:schemeClr val="tx2">
                    <a:lumMod val="10000"/>
                  </a:schemeClr>
                </a:solidFill>
                <a:latin typeface="Times New Roman" pitchFamily="18" charset="0"/>
                <a:cs typeface="Times New Roman" pitchFamily="18" charset="0"/>
              </a:rPr>
              <a:t> that oscillate at right angles to each other and in the direction of propagation. </a:t>
            </a:r>
            <a:endParaRPr lang="en-US" sz="2400" dirty="0" smtClean="0">
              <a:solidFill>
                <a:schemeClr val="tx2">
                  <a:lumMod val="10000"/>
                </a:schemeClr>
              </a:solidFill>
              <a:latin typeface="Times New Roman" pitchFamily="18" charset="0"/>
              <a:cs typeface="Times New Roman" pitchFamily="18" charset="0"/>
            </a:endParaRPr>
          </a:p>
          <a:p>
            <a:r>
              <a:rPr lang="en-US" sz="2400" dirty="0" smtClean="0">
                <a:latin typeface="Times New Roman" pitchFamily="18" charset="0"/>
                <a:cs typeface="Times New Roman" pitchFamily="18" charset="0"/>
              </a:rPr>
              <a:t>The </a:t>
            </a:r>
            <a:r>
              <a:rPr lang="en-US" sz="2400" dirty="0" smtClean="0">
                <a:latin typeface="Times New Roman" pitchFamily="18" charset="0"/>
                <a:cs typeface="Times New Roman" pitchFamily="18" charset="0"/>
              </a:rPr>
              <a:t>electromagnetic field is that part of space which contains and surrounds bodies in electric or magnetic conditions</a:t>
            </a:r>
            <a:r>
              <a:rPr lang="en-US" sz="2400" dirty="0" smtClean="0">
                <a:latin typeface="Times New Roman" pitchFamily="18" charset="0"/>
                <a:cs typeface="Times New Roman" pitchFamily="18" charset="0"/>
              </a:rPr>
              <a:t>.</a:t>
            </a:r>
          </a:p>
          <a:p>
            <a:r>
              <a:rPr lang="en-US" sz="2400" dirty="0" smtClean="0">
                <a:solidFill>
                  <a:schemeClr val="tx2">
                    <a:lumMod val="10000"/>
                  </a:schemeClr>
                </a:solidFill>
                <a:latin typeface="Times New Roman" pitchFamily="18" charset="0"/>
                <a:cs typeface="Times New Roman" pitchFamily="18" charset="0"/>
              </a:rPr>
              <a:t>The propagation of an electro- magnetic wave is illustrated in Figure.</a:t>
            </a:r>
            <a:endParaRPr lang="en-US" sz="2400" dirty="0" smtClean="0">
              <a:latin typeface="Times New Roman" pitchFamily="18" charset="0"/>
              <a:cs typeface="Times New Roman" pitchFamily="18" charset="0"/>
            </a:endParaRPr>
          </a:p>
          <a:p>
            <a:r>
              <a:rPr lang="en-US" dirty="0" smtClean="0">
                <a:solidFill>
                  <a:schemeClr val="tx2">
                    <a:lumMod val="10000"/>
                  </a:schemeClr>
                </a:solidFill>
              </a:rPr>
              <a:t/>
            </a:r>
            <a:br>
              <a:rPr lang="en-US" dirty="0" smtClean="0">
                <a:solidFill>
                  <a:schemeClr val="tx2">
                    <a:lumMod val="10000"/>
                  </a:schemeClr>
                </a:solidFill>
              </a:rPr>
            </a:br>
            <a:endParaRPr lang="en-US" dirty="0"/>
          </a:p>
        </p:txBody>
      </p:sp>
      <p:sp>
        <p:nvSpPr>
          <p:cNvPr id="6" name="Slide Number Placeholder 5"/>
          <p:cNvSpPr>
            <a:spLocks noGrp="1"/>
          </p:cNvSpPr>
          <p:nvPr>
            <p:ph type="sldNum" sz="quarter" idx="15"/>
          </p:nvPr>
        </p:nvSpPr>
        <p:spPr/>
        <p:txBody>
          <a:bodyPr/>
          <a:lstStyle/>
          <a:p>
            <a:fld id="{C2C1A6A0-3F2F-4BAF-B319-837518E4456F}" type="slidenum">
              <a:rPr lang="en-US" smtClean="0"/>
              <a:pPr/>
              <a:t>10</a:t>
            </a:fld>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2910" y="642918"/>
            <a:ext cx="5072098" cy="5143536"/>
          </a:xfrm>
        </p:spPr>
        <p:txBody>
          <a:bodyPr>
            <a:normAutofit/>
          </a:bodyPr>
          <a:lstStyle/>
          <a:p>
            <a:r>
              <a:rPr lang="en-US" sz="2000" u="sng" dirty="0" smtClean="0">
                <a:solidFill>
                  <a:schemeClr val="bg1"/>
                </a:solidFill>
                <a:latin typeface="Times New Roman" pitchFamily="18" charset="0"/>
                <a:cs typeface="Times New Roman" pitchFamily="18" charset="0"/>
              </a:rPr>
              <a:t>Microwave Heating</a:t>
            </a:r>
            <a:endParaRPr lang="en-US" sz="2000" dirty="0">
              <a:solidFill>
                <a:schemeClr val="tx1"/>
              </a:solidFill>
            </a:endParaRPr>
          </a:p>
        </p:txBody>
      </p:sp>
      <p:sp>
        <p:nvSpPr>
          <p:cNvPr id="5" name="Rectangle 4"/>
          <p:cNvSpPr/>
          <p:nvPr/>
        </p:nvSpPr>
        <p:spPr>
          <a:xfrm>
            <a:off x="1285852" y="285728"/>
            <a:ext cx="6526467" cy="707886"/>
          </a:xfrm>
          <a:prstGeom prst="rect">
            <a:avLst/>
          </a:prstGeom>
        </p:spPr>
        <p:txBody>
          <a:bodyPr wrap="none">
            <a:spAutoFit/>
          </a:bodyPr>
          <a:lstStyle/>
          <a:p>
            <a:r>
              <a:rPr lang="en-US" sz="4000" b="1" dirty="0" smtClean="0">
                <a:effectLst>
                  <a:outerShdw blurRad="38100" dist="38100" dir="2700000" algn="tl">
                    <a:srgbClr val="000000">
                      <a:alpha val="43137"/>
                    </a:srgbClr>
                  </a:outerShdw>
                </a:effectLst>
                <a:latin typeface="Times New Roman" pitchFamily="18" charset="0"/>
                <a:cs typeface="Times New Roman" pitchFamily="18" charset="0"/>
              </a:rPr>
              <a:t>Applications  of Microwaves</a:t>
            </a:r>
            <a:r>
              <a:rPr lang="en-US" dirty="0" smtClean="0">
                <a:latin typeface="Times New Roman" pitchFamily="18" charset="0"/>
                <a:cs typeface="Times New Roman" pitchFamily="18" charset="0"/>
              </a:rPr>
              <a:t>: </a:t>
            </a:r>
            <a:endParaRPr lang="en-US" dirty="0"/>
          </a:p>
        </p:txBody>
      </p:sp>
      <p:sp>
        <p:nvSpPr>
          <p:cNvPr id="6" name="Rectangle 5"/>
          <p:cNvSpPr/>
          <p:nvPr/>
        </p:nvSpPr>
        <p:spPr>
          <a:xfrm>
            <a:off x="571472" y="1643050"/>
            <a:ext cx="3040448" cy="461665"/>
          </a:xfrm>
          <a:prstGeom prst="rect">
            <a:avLst/>
          </a:prstGeom>
        </p:spPr>
        <p:txBody>
          <a:bodyPr wrap="none">
            <a:spAutoFit/>
          </a:bodyPr>
          <a:lstStyle/>
          <a:p>
            <a:pPr>
              <a:buFont typeface="Wingdings" pitchFamily="2" charset="2"/>
              <a:buChar char="v"/>
            </a:pPr>
            <a:r>
              <a:rPr lang="en-US" sz="2400" b="1" dirty="0" smtClean="0">
                <a:latin typeface="Times New Roman" pitchFamily="18" charset="0"/>
                <a:cs typeface="Times New Roman" pitchFamily="18" charset="0"/>
              </a:rPr>
              <a:t>Microwave Heating</a:t>
            </a:r>
            <a:endParaRPr lang="en-US" sz="2400" b="1" dirty="0"/>
          </a:p>
        </p:txBody>
      </p:sp>
      <p:sp>
        <p:nvSpPr>
          <p:cNvPr id="7" name="Rectangle 6"/>
          <p:cNvSpPr/>
          <p:nvPr/>
        </p:nvSpPr>
        <p:spPr>
          <a:xfrm>
            <a:off x="500034" y="2285992"/>
            <a:ext cx="6572296" cy="461665"/>
          </a:xfrm>
          <a:prstGeom prst="rect">
            <a:avLst/>
          </a:prstGeom>
        </p:spPr>
        <p:txBody>
          <a:bodyPr wrap="square">
            <a:spAutoFit/>
          </a:bodyPr>
          <a:lstStyle/>
          <a:p>
            <a:pPr>
              <a:buFont typeface="Wingdings" pitchFamily="2" charset="2"/>
              <a:buChar char="v"/>
            </a:pPr>
            <a:r>
              <a:rPr lang="en-US" sz="2400" b="1" dirty="0" smtClean="0">
                <a:latin typeface="Times New Roman" pitchFamily="18" charset="0"/>
                <a:cs typeface="Times New Roman" pitchFamily="18" charset="0"/>
              </a:rPr>
              <a:t>  Radio </a:t>
            </a:r>
            <a:r>
              <a:rPr lang="en-US" sz="2400" b="1" dirty="0" smtClean="0">
                <a:latin typeface="Times New Roman" pitchFamily="18" charset="0"/>
                <a:cs typeface="Times New Roman" pitchFamily="18" charset="0"/>
              </a:rPr>
              <a:t>Detection and Ranging (Radar)</a:t>
            </a:r>
            <a:endParaRPr lang="en-US" sz="2400" dirty="0">
              <a:latin typeface="Times New Roman" pitchFamily="18" charset="0"/>
              <a:cs typeface="Times New Roman" pitchFamily="18" charset="0"/>
            </a:endParaRPr>
          </a:p>
        </p:txBody>
      </p:sp>
      <p:sp>
        <p:nvSpPr>
          <p:cNvPr id="8" name="Rectangle 7"/>
          <p:cNvSpPr/>
          <p:nvPr/>
        </p:nvSpPr>
        <p:spPr>
          <a:xfrm>
            <a:off x="500034" y="2928934"/>
            <a:ext cx="3235822" cy="461665"/>
          </a:xfrm>
          <a:prstGeom prst="rect">
            <a:avLst/>
          </a:prstGeom>
        </p:spPr>
        <p:txBody>
          <a:bodyPr wrap="none">
            <a:spAutoFit/>
          </a:bodyPr>
          <a:lstStyle/>
          <a:p>
            <a:pPr>
              <a:buFont typeface="Wingdings" pitchFamily="2" charset="2"/>
              <a:buChar char="v"/>
            </a:pPr>
            <a:r>
              <a:rPr lang="en-US" sz="2400" b="1" dirty="0" smtClean="0">
                <a:latin typeface="Times New Roman" pitchFamily="18" charset="0"/>
                <a:cs typeface="Times New Roman" pitchFamily="18" charset="0"/>
              </a:rPr>
              <a:t>Medical Applications</a:t>
            </a:r>
            <a:endParaRPr lang="en-US" sz="2400" dirty="0">
              <a:latin typeface="Times New Roman" pitchFamily="18" charset="0"/>
              <a:cs typeface="Times New Roman" pitchFamily="18" charset="0"/>
            </a:endParaRPr>
          </a:p>
        </p:txBody>
      </p:sp>
      <p:sp>
        <p:nvSpPr>
          <p:cNvPr id="10" name="Rectangle 9"/>
          <p:cNvSpPr/>
          <p:nvPr/>
        </p:nvSpPr>
        <p:spPr>
          <a:xfrm>
            <a:off x="500034" y="3643314"/>
            <a:ext cx="2699778" cy="1200329"/>
          </a:xfrm>
          <a:prstGeom prst="rect">
            <a:avLst/>
          </a:prstGeom>
        </p:spPr>
        <p:txBody>
          <a:bodyPr wrap="none">
            <a:spAutoFit/>
          </a:bodyPr>
          <a:lstStyle/>
          <a:p>
            <a:pPr>
              <a:buFont typeface="Wingdings" pitchFamily="2" charset="2"/>
              <a:buChar char="v"/>
            </a:pPr>
            <a:r>
              <a:rPr lang="en-US" sz="2400" b="1" dirty="0" smtClean="0">
                <a:latin typeface="Times New Roman" pitchFamily="18" charset="0"/>
                <a:cs typeface="Times New Roman" pitchFamily="18" charset="0"/>
              </a:rPr>
              <a:t>Communications</a:t>
            </a:r>
          </a:p>
          <a:p>
            <a:pPr>
              <a:buFont typeface="Wingdings" pitchFamily="2" charset="2"/>
              <a:buChar char="v"/>
            </a:pPr>
            <a:endParaRPr lang="en-US" sz="2400" b="1" dirty="0" smtClean="0">
              <a:latin typeface="Times New Roman" pitchFamily="18" charset="0"/>
              <a:cs typeface="Times New Roman" pitchFamily="18" charset="0"/>
            </a:endParaRPr>
          </a:p>
          <a:p>
            <a:pPr>
              <a:buFont typeface="Wingdings" pitchFamily="2" charset="2"/>
              <a:buChar char="v"/>
            </a:pPr>
            <a:r>
              <a:rPr lang="en-US" sz="2400" b="1" dirty="0" smtClean="0">
                <a:latin typeface="Times New Roman" pitchFamily="18" charset="0"/>
                <a:cs typeface="Times New Roman" pitchFamily="18" charset="0"/>
              </a:rPr>
              <a:t>Remote Sensing</a:t>
            </a:r>
            <a:endParaRPr lang="en-US" sz="2400" b="1" dirty="0">
              <a:latin typeface="Times New Roman" pitchFamily="18" charset="0"/>
              <a:cs typeface="Times New Roman" pitchFamily="18" charset="0"/>
            </a:endParaRPr>
          </a:p>
        </p:txBody>
      </p:sp>
      <p:sp>
        <p:nvSpPr>
          <p:cNvPr id="11" name="Slide Number Placeholder 10"/>
          <p:cNvSpPr>
            <a:spLocks noGrp="1"/>
          </p:cNvSpPr>
          <p:nvPr>
            <p:ph type="sldNum" sz="quarter" idx="15"/>
          </p:nvPr>
        </p:nvSpPr>
        <p:spPr/>
        <p:txBody>
          <a:bodyPr/>
          <a:lstStyle/>
          <a:p>
            <a:fld id="{C2C1A6A0-3F2F-4BAF-B319-837518E4456F}" type="slidenum">
              <a:rPr lang="en-US" smtClean="0"/>
              <a:pPr/>
              <a:t>11</a:t>
            </a:fld>
            <a:endParaRPr lang="en-US"/>
          </a:p>
        </p:txBody>
      </p:sp>
    </p:spTree>
  </p:cSld>
  <p:clrMapOvr>
    <a:masterClrMapping/>
  </p:clrMapOvr>
  <p:transition>
    <p:pull dir="d"/>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5984" y="0"/>
            <a:ext cx="4501553" cy="584775"/>
          </a:xfrm>
          <a:prstGeom prst="rect">
            <a:avLst/>
          </a:prstGeom>
        </p:spPr>
        <p:txBody>
          <a:bodyPr wrap="square">
            <a:spAutoFit/>
          </a:bodyPr>
          <a:lstStyle/>
          <a:p>
            <a:pPr algn="ctr"/>
            <a:r>
              <a:rPr lang="en-US" sz="3200" b="1" u="sng" dirty="0" smtClean="0">
                <a:effectLst>
                  <a:outerShdw blurRad="38100" dist="38100" dir="2700000" algn="tl">
                    <a:srgbClr val="000000">
                      <a:alpha val="43137"/>
                    </a:srgbClr>
                  </a:outerShdw>
                </a:effectLst>
                <a:latin typeface="Times New Roman" pitchFamily="18" charset="0"/>
                <a:cs typeface="Times New Roman" pitchFamily="18" charset="0"/>
              </a:rPr>
              <a:t>Microwave Advantages</a:t>
            </a:r>
            <a:endParaRPr lang="en-US" sz="3200" b="1" u="sng"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Rectangle 2"/>
          <p:cNvSpPr/>
          <p:nvPr/>
        </p:nvSpPr>
        <p:spPr>
          <a:xfrm>
            <a:off x="500034" y="1071546"/>
            <a:ext cx="7500990" cy="3693319"/>
          </a:xfrm>
          <a:prstGeom prst="rect">
            <a:avLst/>
          </a:prstGeom>
        </p:spPr>
        <p:txBody>
          <a:bodyPr wrap="square">
            <a:spAutoFit/>
          </a:bodyPr>
          <a:lstStyle/>
          <a:p>
            <a:pPr>
              <a:buClr>
                <a:schemeClr val="tx1"/>
              </a:buClr>
              <a:buFont typeface="Wingdings" pitchFamily="2" charset="2"/>
              <a:buChar char="v"/>
            </a:pPr>
            <a:r>
              <a:rPr lang="en-US" sz="2400" dirty="0" smtClean="0">
                <a:latin typeface="Times New Roman" pitchFamily="18" charset="0"/>
                <a:cs typeface="Times New Roman" pitchFamily="18" charset="0"/>
              </a:rPr>
              <a:t>All Weather penetration Capability</a:t>
            </a:r>
          </a:p>
          <a:p>
            <a:pPr>
              <a:buClr>
                <a:schemeClr val="tx1"/>
              </a:buClr>
              <a:buFont typeface="Wingdings" pitchFamily="2" charset="2"/>
              <a:buChar char="v"/>
            </a:pPr>
            <a:r>
              <a:rPr lang="en-US" sz="2400" dirty="0" smtClean="0">
                <a:latin typeface="Times New Roman" pitchFamily="18" charset="0"/>
                <a:cs typeface="Times New Roman" pitchFamily="18" charset="0"/>
              </a:rPr>
              <a:t>Day Night Capability (independent of illumination of sun).</a:t>
            </a:r>
          </a:p>
          <a:p>
            <a:pPr>
              <a:buClr>
                <a:schemeClr val="tx1"/>
              </a:buClr>
              <a:buFont typeface="Wingdings" pitchFamily="2" charset="2"/>
              <a:buChar char="v"/>
            </a:pPr>
            <a:r>
              <a:rPr lang="en-US" sz="2400" dirty="0" smtClean="0">
                <a:latin typeface="Times New Roman" pitchFamily="18" charset="0"/>
                <a:cs typeface="Times New Roman" pitchFamily="18" charset="0"/>
              </a:rPr>
              <a:t>Penetration through Soil &amp; Vegetation</a:t>
            </a:r>
          </a:p>
          <a:p>
            <a:pPr>
              <a:buClr>
                <a:schemeClr val="tx1"/>
              </a:buClr>
              <a:buFont typeface="Wingdings" pitchFamily="2" charset="2"/>
              <a:buChar char="v"/>
            </a:pPr>
            <a:r>
              <a:rPr lang="en-US" sz="2400" dirty="0" smtClean="0">
                <a:latin typeface="Times New Roman" pitchFamily="18" charset="0"/>
                <a:cs typeface="Times New Roman" pitchFamily="18" charset="0"/>
              </a:rPr>
              <a:t>Sensitivity to Moisture</a:t>
            </a:r>
            <a:r>
              <a:rPr lang="en-US" sz="2400" b="1" dirty="0" smtClean="0">
                <a:solidFill>
                  <a:schemeClr val="bg1"/>
                </a:solidFill>
                <a:latin typeface="Times New Roman" pitchFamily="18" charset="0"/>
                <a:cs typeface="Times New Roman" pitchFamily="18" charset="0"/>
              </a:rPr>
              <a:t> </a:t>
            </a:r>
            <a:r>
              <a:rPr lang="en-US" sz="2400" dirty="0" smtClean="0">
                <a:latin typeface="Times New Roman" pitchFamily="18" charset="0"/>
                <a:cs typeface="Times New Roman" pitchFamily="18" charset="0"/>
              </a:rPr>
              <a:t>(in liquid or vapor forms).</a:t>
            </a:r>
          </a:p>
          <a:p>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pPr>
              <a:buNone/>
            </a:pPr>
            <a:r>
              <a:rPr lang="en-US" sz="2400" dirty="0" smtClean="0">
                <a:latin typeface="Times New Roman" pitchFamily="18" charset="0"/>
                <a:cs typeface="Times New Roman" pitchFamily="18" charset="0"/>
              </a:rPr>
              <a:t>As Frequency        As wavelength          penetration</a:t>
            </a:r>
            <a:endParaRPr lang="en-US" sz="2400" dirty="0">
              <a:latin typeface="Times New Roman" pitchFamily="18" charset="0"/>
              <a:cs typeface="Times New Roman" pitchFamily="18" charset="0"/>
            </a:endParaRPr>
          </a:p>
        </p:txBody>
      </p:sp>
      <p:sp>
        <p:nvSpPr>
          <p:cNvPr id="4" name="Down Arrow 3"/>
          <p:cNvSpPr/>
          <p:nvPr/>
        </p:nvSpPr>
        <p:spPr>
          <a:xfrm>
            <a:off x="2357422" y="3643314"/>
            <a:ext cx="484632" cy="140703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Up Arrow 4"/>
          <p:cNvSpPr/>
          <p:nvPr/>
        </p:nvSpPr>
        <p:spPr>
          <a:xfrm>
            <a:off x="4857752" y="3571876"/>
            <a:ext cx="484632" cy="1478474"/>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Up Arrow 5"/>
          <p:cNvSpPr/>
          <p:nvPr/>
        </p:nvSpPr>
        <p:spPr>
          <a:xfrm>
            <a:off x="6929454" y="3571876"/>
            <a:ext cx="484632" cy="1549912"/>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lide Number Placeholder 6"/>
          <p:cNvSpPr>
            <a:spLocks noGrp="1"/>
          </p:cNvSpPr>
          <p:nvPr>
            <p:ph type="sldNum" sz="quarter" idx="12"/>
          </p:nvPr>
        </p:nvSpPr>
        <p:spPr/>
        <p:txBody>
          <a:bodyPr/>
          <a:lstStyle/>
          <a:p>
            <a:fld id="{C2C1A6A0-3F2F-4BAF-B319-837518E4456F}" type="slidenum">
              <a:rPr lang="en-US" smtClean="0"/>
              <a:pPr/>
              <a:t>12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7" presetClass="entr" presetSubtype="4"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7" presetClass="entr" presetSubtype="4"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7" presetClass="entr" presetSubtype="4" fill="hold" grpId="0" nodeType="after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14290"/>
            <a:ext cx="5429288" cy="2000264"/>
          </a:xfrm>
        </p:spPr>
        <p:txBody>
          <a:bodyPr>
            <a:normAutofit fontScale="90000"/>
          </a:bodyPr>
          <a:lstStyle/>
          <a:p>
            <a:r>
              <a:rPr lang="en-US" sz="3600" b="1" dirty="0" smtClean="0">
                <a:ln w="10541" cmpd="sng">
                  <a:solidFill>
                    <a:srgbClr val="7D7D7D">
                      <a:tint val="100000"/>
                      <a:shade val="100000"/>
                      <a:satMod val="110000"/>
                    </a:srgbClr>
                  </a:solidFill>
                  <a:prstDash val="solid"/>
                </a:ln>
                <a:solidFill>
                  <a:schemeClr val="tx1"/>
                </a:solidFill>
                <a:effectLst>
                  <a:outerShdw blurRad="38100" dist="38100" dir="2700000" algn="tl">
                    <a:srgbClr val="000000">
                      <a:alpha val="43137"/>
                    </a:srgbClr>
                  </a:outerShdw>
                </a:effectLst>
              </a:rPr>
              <a:t>MICROWAVE REMOTE SENSING</a:t>
            </a:r>
            <a:r>
              <a:rPr lang="en-US" sz="3600" b="1" dirty="0" smtClean="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rPr>
              <a:t/>
            </a:r>
            <a:br>
              <a:rPr lang="en-US" sz="3600" b="1" dirty="0" smtClean="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rPr>
            </a:br>
            <a:r>
              <a:rPr lang="en-US" sz="3600" b="1" dirty="0" smtClean="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rPr>
              <a:t/>
            </a:r>
            <a:br>
              <a:rPr lang="en-US" sz="3600" b="1" dirty="0" smtClean="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rPr>
            </a:br>
            <a:endParaRPr lang="en-US" b="1" dirty="0">
              <a:solidFill>
                <a:schemeClr val="tx1"/>
              </a:solidFill>
            </a:endParaRPr>
          </a:p>
        </p:txBody>
      </p:sp>
      <p:pic>
        <p:nvPicPr>
          <p:cNvPr id="4" name="Picture 2" descr="http://www.crisp.nus.edu.sg/~research/tutorial/mw.gif"/>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6000760" y="857232"/>
            <a:ext cx="2795285" cy="3200400"/>
          </a:xfrm>
          <a:prstGeom prst="rect">
            <a:avLst/>
          </a:prstGeom>
          <a:noFill/>
          <a:extLst>
            <a:ext uri="{909E8E84-426E-40DD-AFC4-6F175D3DCCD1}">
              <a14:hiddenFill xmlns="" xmlns:a14="http://schemas.microsoft.com/office/drawing/2010/main">
                <a:solidFill>
                  <a:srgbClr val="FFFFFF"/>
                </a:solidFill>
              </a14:hiddenFill>
            </a:ext>
          </a:extLst>
        </p:spPr>
      </p:pic>
      <p:sp>
        <p:nvSpPr>
          <p:cNvPr id="5" name="Rectangle 4"/>
          <p:cNvSpPr/>
          <p:nvPr/>
        </p:nvSpPr>
        <p:spPr>
          <a:xfrm>
            <a:off x="428596" y="1714488"/>
            <a:ext cx="5000660" cy="4524315"/>
          </a:xfrm>
          <a:prstGeom prst="rect">
            <a:avLst/>
          </a:prstGeom>
        </p:spPr>
        <p:txBody>
          <a:bodyPr wrap="square">
            <a:spAutoFit/>
          </a:bodyPr>
          <a:lstStyle/>
          <a:p>
            <a:r>
              <a:rPr lang="en-US" sz="2400" dirty="0" smtClean="0">
                <a:latin typeface="Times New Roman" pitchFamily="18" charset="0"/>
                <a:cs typeface="Times New Roman" pitchFamily="18" charset="0"/>
              </a:rPr>
              <a:t>Interactions between reflected, absorbed, and transmitted energy can be detected by remote sensing. The differences in </a:t>
            </a:r>
            <a:r>
              <a:rPr lang="en-US" sz="2400" dirty="0" err="1" smtClean="0">
                <a:latin typeface="Times New Roman" pitchFamily="18" charset="0"/>
                <a:cs typeface="Times New Roman" pitchFamily="18" charset="0"/>
              </a:rPr>
              <a:t>cereals’s</a:t>
            </a:r>
            <a:r>
              <a:rPr lang="en-US" sz="2400" dirty="0" smtClean="0">
                <a:latin typeface="Times New Roman" pitchFamily="18" charset="0"/>
                <a:cs typeface="Times New Roman" pitchFamily="18" charset="0"/>
              </a:rPr>
              <a:t> surface, textures, shapes or even how much the quantity of moisture is present in cereals, determine how much energy will be reflected, absorbed or transmitted. The relationship between reflected, absorbed and transmitted energy is used to determine spectral signatures of individual plants. </a:t>
            </a:r>
            <a:endParaRPr lang="en-US" sz="2400" dirty="0">
              <a:latin typeface="Times New Roman" pitchFamily="18" charset="0"/>
              <a:cs typeface="Times New Roman" pitchFamily="18" charset="0"/>
            </a:endParaRPr>
          </a:p>
        </p:txBody>
      </p:sp>
      <p:sp>
        <p:nvSpPr>
          <p:cNvPr id="6" name="Slide Number Placeholder 5"/>
          <p:cNvSpPr>
            <a:spLocks noGrp="1"/>
          </p:cNvSpPr>
          <p:nvPr>
            <p:ph type="sldNum" sz="quarter" idx="15"/>
          </p:nvPr>
        </p:nvSpPr>
        <p:spPr/>
        <p:txBody>
          <a:bodyPr/>
          <a:lstStyle/>
          <a:p>
            <a:fld id="{C2C1A6A0-3F2F-4BAF-B319-837518E4456F}" type="slidenum">
              <a:rPr lang="en-US" smtClean="0"/>
              <a:pPr/>
              <a:t>13</a:t>
            </a:fld>
            <a:endParaRPr lang="en-US"/>
          </a:p>
        </p:txBody>
      </p:sp>
    </p:spTree>
  </p:cSld>
  <p:clrMapOvr>
    <a:masterClrMapping/>
  </p:clrMapOvr>
  <p:transition>
    <p:comb dir="vert"/>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71472" y="642918"/>
            <a:ext cx="8215370" cy="4524315"/>
          </a:xfrm>
          <a:prstGeom prst="rect">
            <a:avLst/>
          </a:prstGeom>
        </p:spPr>
        <p:txBody>
          <a:bodyPr wrap="square">
            <a:spAutoFit/>
          </a:bodyPr>
          <a:lstStyle/>
          <a:p>
            <a:pPr>
              <a:buNone/>
            </a:pPr>
            <a:r>
              <a:rPr lang="en-US" sz="2400" dirty="0" smtClean="0">
                <a:latin typeface="Times New Roman" pitchFamily="18" charset="0"/>
                <a:cs typeface="Times New Roman" pitchFamily="18" charset="0"/>
              </a:rPr>
              <a:t>The basic principles of remote sensing with satellites and aircraft are similar to visual observations. </a:t>
            </a:r>
            <a:endParaRPr lang="en-US" sz="2400" dirty="0" smtClean="0">
              <a:latin typeface="Times New Roman" pitchFamily="18" charset="0"/>
              <a:cs typeface="Times New Roman" pitchFamily="18" charset="0"/>
            </a:endParaRPr>
          </a:p>
          <a:p>
            <a:pPr>
              <a:buNone/>
            </a:pPr>
            <a:r>
              <a:rPr lang="en-US" sz="2400" dirty="0" smtClean="0">
                <a:latin typeface="Times New Roman" pitchFamily="18" charset="0"/>
                <a:cs typeface="Times New Roman" pitchFamily="18" charset="0"/>
              </a:rPr>
              <a:t>Energy </a:t>
            </a:r>
            <a:r>
              <a:rPr lang="en-US" sz="2400" dirty="0" smtClean="0">
                <a:latin typeface="Times New Roman" pitchFamily="18" charset="0"/>
                <a:cs typeface="Times New Roman" pitchFamily="18" charset="0"/>
              </a:rPr>
              <a:t>in the form of light waves travels from the sun to Earth. </a:t>
            </a:r>
            <a:endParaRPr lang="en-US" sz="2400" dirty="0" smtClean="0">
              <a:latin typeface="Times New Roman" pitchFamily="18" charset="0"/>
              <a:cs typeface="Times New Roman" pitchFamily="18" charset="0"/>
            </a:endParaRPr>
          </a:p>
          <a:p>
            <a:pPr>
              <a:buNone/>
            </a:pPr>
            <a:r>
              <a:rPr lang="en-US" sz="2400" dirty="0" smtClean="0">
                <a:latin typeface="Times New Roman" pitchFamily="18" charset="0"/>
                <a:cs typeface="Times New Roman" pitchFamily="18" charset="0"/>
              </a:rPr>
              <a:t>Light </a:t>
            </a:r>
            <a:r>
              <a:rPr lang="en-US" sz="2400" dirty="0" smtClean="0">
                <a:latin typeface="Times New Roman" pitchFamily="18" charset="0"/>
                <a:cs typeface="Times New Roman" pitchFamily="18" charset="0"/>
              </a:rPr>
              <a:t>waves travel similarly to waves traveling across a lake. </a:t>
            </a:r>
            <a:endParaRPr lang="en-US" sz="2400" dirty="0" smtClean="0">
              <a:latin typeface="Times New Roman" pitchFamily="18" charset="0"/>
              <a:cs typeface="Times New Roman" pitchFamily="18" charset="0"/>
            </a:endParaRPr>
          </a:p>
          <a:p>
            <a:pPr>
              <a:buNone/>
            </a:pPr>
            <a:r>
              <a:rPr lang="en-US" sz="2400" dirty="0" smtClean="0">
                <a:latin typeface="Times New Roman" pitchFamily="18" charset="0"/>
                <a:cs typeface="Times New Roman" pitchFamily="18" charset="0"/>
              </a:rPr>
              <a:t>The </a:t>
            </a:r>
            <a:r>
              <a:rPr lang="en-US" sz="2400" dirty="0" smtClean="0">
                <a:latin typeface="Times New Roman" pitchFamily="18" charset="0"/>
                <a:cs typeface="Times New Roman" pitchFamily="18" charset="0"/>
              </a:rPr>
              <a:t>distance from the peak of one wave to the peak of the next wave is the wavelength. </a:t>
            </a:r>
            <a:endParaRPr lang="en-US" sz="2400" dirty="0" smtClean="0">
              <a:latin typeface="Times New Roman" pitchFamily="18" charset="0"/>
              <a:cs typeface="Times New Roman" pitchFamily="18" charset="0"/>
            </a:endParaRPr>
          </a:p>
          <a:p>
            <a:pPr>
              <a:buNone/>
            </a:pPr>
            <a:r>
              <a:rPr lang="en-US" sz="2400" dirty="0" smtClean="0">
                <a:latin typeface="Times New Roman" pitchFamily="18" charset="0"/>
                <a:cs typeface="Times New Roman" pitchFamily="18" charset="0"/>
              </a:rPr>
              <a:t>Energy </a:t>
            </a:r>
            <a:r>
              <a:rPr lang="en-US" sz="2400" dirty="0" smtClean="0">
                <a:latin typeface="Times New Roman" pitchFamily="18" charset="0"/>
                <a:cs typeface="Times New Roman" pitchFamily="18" charset="0"/>
              </a:rPr>
              <a:t>from sunlight is called the electromagnetic spectrum. The wavelengths used in most agricultural remote sensing applications cover only a small region of the</a:t>
            </a:r>
          </a:p>
          <a:p>
            <a:pPr>
              <a:buNone/>
            </a:pPr>
            <a:r>
              <a:rPr lang="en-US" sz="2400" dirty="0" smtClean="0">
                <a:latin typeface="Times New Roman" pitchFamily="18" charset="0"/>
                <a:cs typeface="Times New Roman" pitchFamily="18" charset="0"/>
              </a:rPr>
              <a:t> electromagnetic spectrum. </a:t>
            </a:r>
          </a:p>
          <a:p>
            <a:pPr>
              <a:buNone/>
            </a:pPr>
            <a:r>
              <a:rPr lang="en-US" sz="2400" dirty="0" smtClean="0">
                <a:latin typeface="Times New Roman" pitchFamily="18" charset="0"/>
                <a:cs typeface="Times New Roman" pitchFamily="18" charset="0"/>
              </a:rPr>
              <a:t>Wavelengths are </a:t>
            </a:r>
            <a:r>
              <a:rPr lang="en-US" sz="2400" dirty="0" smtClean="0">
                <a:latin typeface="Times New Roman" pitchFamily="18" charset="0"/>
                <a:cs typeface="Times New Roman" pitchFamily="18" charset="0"/>
              </a:rPr>
              <a:t>measured in </a:t>
            </a:r>
            <a:r>
              <a:rPr lang="en-US" sz="2400" dirty="0" smtClean="0">
                <a:latin typeface="Times New Roman" pitchFamily="18" charset="0"/>
                <a:cs typeface="Times New Roman" pitchFamily="18" charset="0"/>
              </a:rPr>
              <a:t>micrometers (µm) or </a:t>
            </a:r>
          </a:p>
          <a:p>
            <a:pPr>
              <a:buNone/>
            </a:pPr>
            <a:r>
              <a:rPr lang="en-US" sz="2400" dirty="0" smtClean="0">
                <a:latin typeface="Times New Roman" pitchFamily="18" charset="0"/>
                <a:cs typeface="Times New Roman" pitchFamily="18" charset="0"/>
              </a:rPr>
              <a:t>nanometers (nm)</a:t>
            </a:r>
          </a:p>
        </p:txBody>
      </p:sp>
      <p:sp>
        <p:nvSpPr>
          <p:cNvPr id="3" name="Slide Number Placeholder 2"/>
          <p:cNvSpPr>
            <a:spLocks noGrp="1"/>
          </p:cNvSpPr>
          <p:nvPr>
            <p:ph type="sldNum" sz="quarter" idx="12"/>
          </p:nvPr>
        </p:nvSpPr>
        <p:spPr/>
        <p:txBody>
          <a:bodyPr/>
          <a:lstStyle/>
          <a:p>
            <a:fld id="{C2C1A6A0-3F2F-4BAF-B319-837518E4456F}" type="slidenum">
              <a:rPr lang="en-US" smtClean="0"/>
              <a:pPr/>
              <a:t>14</a:t>
            </a:fld>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285728"/>
            <a:ext cx="7467600" cy="5214974"/>
          </a:xfrm>
        </p:spPr>
        <p:txBody>
          <a:bodyPr>
            <a:normAutofit/>
          </a:bodyPr>
          <a:lstStyle/>
          <a:p>
            <a:r>
              <a:rPr lang="en-US" b="1" dirty="0" smtClean="0">
                <a:solidFill>
                  <a:schemeClr val="tx1"/>
                </a:solidFill>
              </a:rPr>
              <a:t>MICROWAVE REMOTE SENSING-</a:t>
            </a:r>
            <a:r>
              <a:rPr lang="en-US" dirty="0" smtClean="0">
                <a:solidFill>
                  <a:schemeClr val="tx1"/>
                </a:solidFill>
              </a:rPr>
              <a:t/>
            </a:r>
            <a:br>
              <a:rPr lang="en-US" dirty="0" smtClean="0">
                <a:solidFill>
                  <a:schemeClr val="tx1"/>
                </a:solidFill>
              </a:rPr>
            </a:br>
            <a:r>
              <a:rPr lang="en-US" sz="2400" dirty="0" smtClean="0">
                <a:solidFill>
                  <a:schemeClr val="tx1"/>
                </a:solidFill>
                <a:latin typeface="Times New Roman" pitchFamily="18" charset="0"/>
                <a:cs typeface="Times New Roman" pitchFamily="18" charset="0"/>
              </a:rPr>
              <a:t>On the basis of types of sensors</a:t>
            </a:r>
            <a:br>
              <a:rPr lang="en-US" sz="2400" dirty="0" smtClean="0">
                <a:solidFill>
                  <a:schemeClr val="tx1"/>
                </a:solidFill>
                <a:latin typeface="Times New Roman" pitchFamily="18" charset="0"/>
                <a:cs typeface="Times New Roman" pitchFamily="18" charset="0"/>
              </a:rPr>
            </a:br>
            <a:r>
              <a:rPr lang="en-US" sz="2400" dirty="0" smtClean="0">
                <a:solidFill>
                  <a:schemeClr val="tx1"/>
                </a:solidFill>
                <a:latin typeface="Times New Roman" pitchFamily="18" charset="0"/>
                <a:cs typeface="Times New Roman" pitchFamily="18" charset="0"/>
              </a:rPr>
              <a:t> </a:t>
            </a:r>
            <a:br>
              <a:rPr lang="en-US" sz="2400" dirty="0" smtClean="0">
                <a:solidFill>
                  <a:schemeClr val="tx1"/>
                </a:solidFill>
                <a:latin typeface="Times New Roman" pitchFamily="18" charset="0"/>
                <a:cs typeface="Times New Roman" pitchFamily="18" charset="0"/>
              </a:rPr>
            </a:br>
            <a:r>
              <a:rPr lang="en-US" sz="2400" dirty="0" smtClean="0">
                <a:solidFill>
                  <a:schemeClr val="tx1"/>
                </a:solidFill>
                <a:latin typeface="Times New Roman" pitchFamily="18" charset="0"/>
                <a:cs typeface="Times New Roman" pitchFamily="18" charset="0"/>
              </a:rPr>
              <a:t>Passive MRS: </a:t>
            </a:r>
            <a:br>
              <a:rPr lang="en-US" sz="2400" dirty="0" smtClean="0">
                <a:solidFill>
                  <a:schemeClr val="tx1"/>
                </a:solidFill>
                <a:latin typeface="Times New Roman" pitchFamily="18" charset="0"/>
                <a:cs typeface="Times New Roman" pitchFamily="18" charset="0"/>
              </a:rPr>
            </a:br>
            <a:r>
              <a:rPr lang="en-US" sz="2400" dirty="0" smtClean="0">
                <a:solidFill>
                  <a:schemeClr val="tx1"/>
                </a:solidFill>
                <a:latin typeface="Times New Roman" pitchFamily="18" charset="0"/>
                <a:cs typeface="Times New Roman" pitchFamily="18" charset="0"/>
              </a:rPr>
              <a:t>-Also called Radiometers</a:t>
            </a:r>
            <a:br>
              <a:rPr lang="en-US" sz="2400" dirty="0" smtClean="0">
                <a:solidFill>
                  <a:schemeClr val="tx1"/>
                </a:solidFill>
                <a:latin typeface="Times New Roman" pitchFamily="18" charset="0"/>
                <a:cs typeface="Times New Roman" pitchFamily="18" charset="0"/>
              </a:rPr>
            </a:br>
            <a:r>
              <a:rPr lang="en-US" sz="2400" dirty="0" smtClean="0">
                <a:solidFill>
                  <a:schemeClr val="tx1"/>
                </a:solidFill>
                <a:latin typeface="Times New Roman" pitchFamily="18" charset="0"/>
                <a:cs typeface="Times New Roman" pitchFamily="18" charset="0"/>
              </a:rPr>
              <a:t>-Only can detect the radiated energy</a:t>
            </a:r>
            <a:br>
              <a:rPr lang="en-US" sz="2400" dirty="0" smtClean="0">
                <a:solidFill>
                  <a:schemeClr val="tx1"/>
                </a:solidFill>
                <a:latin typeface="Times New Roman" pitchFamily="18" charset="0"/>
                <a:cs typeface="Times New Roman" pitchFamily="18" charset="0"/>
              </a:rPr>
            </a:br>
            <a:r>
              <a:rPr lang="en-US" sz="2400" dirty="0" smtClean="0">
                <a:solidFill>
                  <a:schemeClr val="tx1"/>
                </a:solidFill>
                <a:latin typeface="Times New Roman" pitchFamily="18" charset="0"/>
                <a:cs typeface="Times New Roman" pitchFamily="18" charset="0"/>
              </a:rPr>
              <a:t>-Used for natural materials</a:t>
            </a:r>
            <a:br>
              <a:rPr lang="en-US" sz="2400" dirty="0" smtClean="0">
                <a:solidFill>
                  <a:schemeClr val="tx1"/>
                </a:solidFill>
                <a:latin typeface="Times New Roman" pitchFamily="18" charset="0"/>
                <a:cs typeface="Times New Roman" pitchFamily="18" charset="0"/>
              </a:rPr>
            </a:br>
            <a:r>
              <a:rPr lang="en-US" sz="2400" dirty="0" smtClean="0">
                <a:solidFill>
                  <a:schemeClr val="tx1"/>
                </a:solidFill>
                <a:latin typeface="Times New Roman" pitchFamily="18" charset="0"/>
                <a:cs typeface="Times New Roman" pitchFamily="18" charset="0"/>
              </a:rPr>
              <a:t>-Depends upon: </a:t>
            </a:r>
            <a:br>
              <a:rPr lang="en-US" sz="2400" dirty="0" smtClean="0">
                <a:solidFill>
                  <a:schemeClr val="tx1"/>
                </a:solidFill>
                <a:latin typeface="Times New Roman" pitchFamily="18" charset="0"/>
                <a:cs typeface="Times New Roman" pitchFamily="18" charset="0"/>
              </a:rPr>
            </a:br>
            <a:r>
              <a:rPr lang="en-US" sz="2400" dirty="0" smtClean="0">
                <a:solidFill>
                  <a:schemeClr val="tx1"/>
                </a:solidFill>
                <a:latin typeface="Times New Roman" pitchFamily="18" charset="0"/>
                <a:cs typeface="Times New Roman" pitchFamily="18" charset="0"/>
              </a:rPr>
              <a:t>                   Polarization</a:t>
            </a:r>
            <a:br>
              <a:rPr lang="en-US" sz="2400" dirty="0" smtClean="0">
                <a:solidFill>
                  <a:schemeClr val="tx1"/>
                </a:solidFill>
                <a:latin typeface="Times New Roman" pitchFamily="18" charset="0"/>
                <a:cs typeface="Times New Roman" pitchFamily="18" charset="0"/>
              </a:rPr>
            </a:br>
            <a:r>
              <a:rPr lang="en-US" sz="2400" dirty="0" smtClean="0">
                <a:solidFill>
                  <a:schemeClr val="tx1"/>
                </a:solidFill>
                <a:latin typeface="Times New Roman" pitchFamily="18" charset="0"/>
                <a:cs typeface="Times New Roman" pitchFamily="18" charset="0"/>
              </a:rPr>
              <a:t>                   Frequency</a:t>
            </a:r>
            <a:br>
              <a:rPr lang="en-US" sz="2400" dirty="0" smtClean="0">
                <a:solidFill>
                  <a:schemeClr val="tx1"/>
                </a:solidFill>
                <a:latin typeface="Times New Roman" pitchFamily="18" charset="0"/>
                <a:cs typeface="Times New Roman" pitchFamily="18" charset="0"/>
              </a:rPr>
            </a:br>
            <a:r>
              <a:rPr lang="en-US" sz="2400" dirty="0" smtClean="0">
                <a:solidFill>
                  <a:schemeClr val="tx1"/>
                </a:solidFill>
                <a:latin typeface="Times New Roman" pitchFamily="18" charset="0"/>
                <a:cs typeface="Times New Roman" pitchFamily="18" charset="0"/>
              </a:rPr>
              <a:t>                   Angle of incidence and</a:t>
            </a:r>
            <a:br>
              <a:rPr lang="en-US" sz="2400" dirty="0" smtClean="0">
                <a:solidFill>
                  <a:schemeClr val="tx1"/>
                </a:solidFill>
                <a:latin typeface="Times New Roman" pitchFamily="18" charset="0"/>
                <a:cs typeface="Times New Roman" pitchFamily="18" charset="0"/>
              </a:rPr>
            </a:br>
            <a:r>
              <a:rPr lang="en-US" sz="2400" dirty="0" smtClean="0">
                <a:solidFill>
                  <a:schemeClr val="tx1"/>
                </a:solidFill>
                <a:latin typeface="Times New Roman" pitchFamily="18" charset="0"/>
                <a:cs typeface="Times New Roman" pitchFamily="18" charset="0"/>
              </a:rPr>
              <a:t>                   Physical properties of surface</a:t>
            </a:r>
            <a:br>
              <a:rPr lang="en-US" sz="2400" dirty="0" smtClean="0">
                <a:solidFill>
                  <a:schemeClr val="tx1"/>
                </a:solidFill>
                <a:latin typeface="Times New Roman" pitchFamily="18" charset="0"/>
                <a:cs typeface="Times New Roman" pitchFamily="18" charset="0"/>
              </a:rPr>
            </a:br>
            <a:endParaRPr lang="en-US" sz="2400" dirty="0">
              <a:solidFill>
                <a:schemeClr val="tx1"/>
              </a:solidFill>
              <a:latin typeface="Times New Roman" pitchFamily="18" charset="0"/>
              <a:cs typeface="Times New Roman" pitchFamily="18" charset="0"/>
            </a:endParaRPr>
          </a:p>
        </p:txBody>
      </p:sp>
      <p:sp>
        <p:nvSpPr>
          <p:cNvPr id="3" name="Slide Number Placeholder 2"/>
          <p:cNvSpPr>
            <a:spLocks noGrp="1"/>
          </p:cNvSpPr>
          <p:nvPr>
            <p:ph type="sldNum" sz="quarter" idx="11"/>
          </p:nvPr>
        </p:nvSpPr>
        <p:spPr/>
        <p:txBody>
          <a:bodyPr/>
          <a:lstStyle/>
          <a:p>
            <a:fld id="{C2C1A6A0-3F2F-4BAF-B319-837518E4456F}" type="slidenum">
              <a:rPr lang="en-US" smtClean="0"/>
              <a:pPr/>
              <a:t>15</a:t>
            </a:fld>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214290"/>
            <a:ext cx="7467600" cy="5061000"/>
          </a:xfrm>
        </p:spPr>
        <p:txBody>
          <a:bodyPr>
            <a:normAutofit/>
          </a:bodyPr>
          <a:lstStyle/>
          <a:p>
            <a:r>
              <a:rPr lang="en-US" b="1" dirty="0" smtClean="0">
                <a:solidFill>
                  <a:schemeClr val="tx1"/>
                </a:solidFill>
              </a:rPr>
              <a:t>Active MRS:</a:t>
            </a:r>
            <a:br>
              <a:rPr lang="en-US" b="1" dirty="0" smtClean="0">
                <a:solidFill>
                  <a:schemeClr val="tx1"/>
                </a:solidFill>
              </a:rPr>
            </a:br>
            <a:r>
              <a:rPr lang="en-US" b="1" dirty="0" smtClean="0">
                <a:solidFill>
                  <a:schemeClr val="tx1"/>
                </a:solidFill>
              </a:rPr>
              <a:t>-</a:t>
            </a:r>
            <a:r>
              <a:rPr lang="en-US" sz="2400" dirty="0" smtClean="0">
                <a:solidFill>
                  <a:schemeClr val="tx1"/>
                </a:solidFill>
                <a:latin typeface="Times New Roman" pitchFamily="18" charset="0"/>
                <a:cs typeface="Times New Roman" pitchFamily="18" charset="0"/>
              </a:rPr>
              <a:t>Uses scattering parameters</a:t>
            </a:r>
            <a:br>
              <a:rPr lang="en-US" sz="2400" dirty="0" smtClean="0">
                <a:solidFill>
                  <a:schemeClr val="tx1"/>
                </a:solidFill>
                <a:latin typeface="Times New Roman" pitchFamily="18" charset="0"/>
                <a:cs typeface="Times New Roman" pitchFamily="18" charset="0"/>
              </a:rPr>
            </a:br>
            <a:r>
              <a:rPr lang="en-US" sz="2400" dirty="0" smtClean="0">
                <a:solidFill>
                  <a:schemeClr val="tx1"/>
                </a:solidFill>
                <a:latin typeface="Times New Roman" pitchFamily="18" charset="0"/>
                <a:cs typeface="Times New Roman" pitchFamily="18" charset="0"/>
              </a:rPr>
              <a:t>-For this surface roughness should be has relation to wavelength of sensor</a:t>
            </a:r>
            <a:br>
              <a:rPr lang="en-US" sz="2400" dirty="0" smtClean="0">
                <a:solidFill>
                  <a:schemeClr val="tx1"/>
                </a:solidFill>
                <a:latin typeface="Times New Roman" pitchFamily="18" charset="0"/>
                <a:cs typeface="Times New Roman" pitchFamily="18" charset="0"/>
              </a:rPr>
            </a:br>
            <a:r>
              <a:rPr lang="en-US" sz="2400" dirty="0" smtClean="0">
                <a:solidFill>
                  <a:schemeClr val="tx1"/>
                </a:solidFill>
                <a:latin typeface="Times New Roman" pitchFamily="18" charset="0"/>
                <a:cs typeface="Times New Roman" pitchFamily="18" charset="0"/>
              </a:rPr>
              <a:t>-Can measure distance with high accuracy</a:t>
            </a:r>
            <a:br>
              <a:rPr lang="en-US" sz="2400" dirty="0" smtClean="0">
                <a:solidFill>
                  <a:schemeClr val="tx1"/>
                </a:solidFill>
                <a:latin typeface="Times New Roman" pitchFamily="18" charset="0"/>
                <a:cs typeface="Times New Roman" pitchFamily="18" charset="0"/>
              </a:rPr>
            </a:br>
            <a:r>
              <a:rPr lang="en-US" sz="2400" dirty="0" smtClean="0">
                <a:solidFill>
                  <a:schemeClr val="tx1"/>
                </a:solidFill>
                <a:latin typeface="Times New Roman" pitchFamily="18" charset="0"/>
                <a:cs typeface="Times New Roman" pitchFamily="18" charset="0"/>
              </a:rPr>
              <a:t>-Capable to produce very high resolution imagery</a:t>
            </a:r>
            <a:br>
              <a:rPr lang="en-US" sz="2400" dirty="0" smtClean="0">
                <a:solidFill>
                  <a:schemeClr val="tx1"/>
                </a:solidFill>
                <a:latin typeface="Times New Roman" pitchFamily="18" charset="0"/>
                <a:cs typeface="Times New Roman" pitchFamily="18" charset="0"/>
              </a:rPr>
            </a:br>
            <a:r>
              <a:rPr lang="en-US" sz="2400" dirty="0" smtClean="0">
                <a:solidFill>
                  <a:schemeClr val="tx1"/>
                </a:solidFill>
                <a:latin typeface="Times New Roman" pitchFamily="18" charset="0"/>
                <a:cs typeface="Times New Roman" pitchFamily="18" charset="0"/>
              </a:rPr>
              <a:t>-Depends upon:</a:t>
            </a:r>
            <a:br>
              <a:rPr lang="en-US" sz="2400" dirty="0" smtClean="0">
                <a:solidFill>
                  <a:schemeClr val="tx1"/>
                </a:solidFill>
                <a:latin typeface="Times New Roman" pitchFamily="18" charset="0"/>
                <a:cs typeface="Times New Roman" pitchFamily="18" charset="0"/>
              </a:rPr>
            </a:br>
            <a:r>
              <a:rPr lang="en-US" sz="2400" dirty="0" smtClean="0">
                <a:solidFill>
                  <a:schemeClr val="tx1"/>
                </a:solidFill>
                <a:latin typeface="Times New Roman" pitchFamily="18" charset="0"/>
                <a:cs typeface="Times New Roman" pitchFamily="18" charset="0"/>
              </a:rPr>
              <a:t>                        Dielectric constant</a:t>
            </a:r>
            <a:br>
              <a:rPr lang="en-US" sz="2400" dirty="0" smtClean="0">
                <a:solidFill>
                  <a:schemeClr val="tx1"/>
                </a:solidFill>
                <a:latin typeface="Times New Roman" pitchFamily="18" charset="0"/>
                <a:cs typeface="Times New Roman" pitchFamily="18" charset="0"/>
              </a:rPr>
            </a:br>
            <a:r>
              <a:rPr lang="en-US" sz="2400" dirty="0" smtClean="0">
                <a:solidFill>
                  <a:schemeClr val="tx1"/>
                </a:solidFill>
                <a:latin typeface="Times New Roman" pitchFamily="18" charset="0"/>
                <a:cs typeface="Times New Roman" pitchFamily="18" charset="0"/>
              </a:rPr>
              <a:t>                        Conductivity</a:t>
            </a:r>
            <a:br>
              <a:rPr lang="en-US" sz="2400" dirty="0" smtClean="0">
                <a:solidFill>
                  <a:schemeClr val="tx1"/>
                </a:solidFill>
                <a:latin typeface="Times New Roman" pitchFamily="18" charset="0"/>
                <a:cs typeface="Times New Roman" pitchFamily="18" charset="0"/>
              </a:rPr>
            </a:br>
            <a:r>
              <a:rPr lang="en-US" sz="2400" dirty="0" smtClean="0">
                <a:solidFill>
                  <a:schemeClr val="tx1"/>
                </a:solidFill>
                <a:latin typeface="Times New Roman" pitchFamily="18" charset="0"/>
                <a:cs typeface="Times New Roman" pitchFamily="18" charset="0"/>
              </a:rPr>
              <a:t>                        Also on texture</a:t>
            </a:r>
            <a:br>
              <a:rPr lang="en-US" sz="2400" dirty="0" smtClean="0">
                <a:solidFill>
                  <a:schemeClr val="tx1"/>
                </a:solidFill>
                <a:latin typeface="Times New Roman" pitchFamily="18" charset="0"/>
                <a:cs typeface="Times New Roman" pitchFamily="18" charset="0"/>
              </a:rPr>
            </a:br>
            <a:r>
              <a:rPr lang="en-US" sz="2400" dirty="0" smtClean="0">
                <a:solidFill>
                  <a:schemeClr val="tx1"/>
                </a:solidFill>
                <a:latin typeface="Times New Roman" pitchFamily="18" charset="0"/>
                <a:cs typeface="Times New Roman" pitchFamily="18" charset="0"/>
              </a:rPr>
              <a:t>                        Type of surface </a:t>
            </a:r>
            <a:r>
              <a:rPr lang="en-US" dirty="0" smtClean="0"/>
              <a:t/>
            </a:r>
            <a:br>
              <a:rPr lang="en-US" dirty="0" smtClean="0"/>
            </a:br>
            <a:endParaRPr lang="en-US" dirty="0"/>
          </a:p>
        </p:txBody>
      </p:sp>
      <p:sp>
        <p:nvSpPr>
          <p:cNvPr id="3" name="Slide Number Placeholder 2"/>
          <p:cNvSpPr>
            <a:spLocks noGrp="1"/>
          </p:cNvSpPr>
          <p:nvPr>
            <p:ph type="sldNum" sz="quarter" idx="11"/>
          </p:nvPr>
        </p:nvSpPr>
        <p:spPr/>
        <p:txBody>
          <a:bodyPr/>
          <a:lstStyle/>
          <a:p>
            <a:fld id="{C2C1A6A0-3F2F-4BAF-B319-837518E4456F}" type="slidenum">
              <a:rPr lang="en-US" smtClean="0"/>
              <a:pPr/>
              <a:t>16</a:t>
            </a:fld>
            <a:endParaRPr 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00364" y="214290"/>
            <a:ext cx="4572000" cy="1077218"/>
          </a:xfrm>
          <a:prstGeom prst="rect">
            <a:avLst/>
          </a:prstGeom>
        </p:spPr>
        <p:txBody>
          <a:bodyPr>
            <a:spAutoFit/>
          </a:bodyPr>
          <a:lstStyle/>
          <a:p>
            <a:r>
              <a:rPr lang="en-US" sz="3200" b="1" dirty="0" smtClean="0">
                <a:effectLst>
                  <a:outerShdw blurRad="38100" dist="38100" dir="2700000" algn="tl">
                    <a:srgbClr val="000000">
                      <a:alpha val="43137"/>
                    </a:srgbClr>
                  </a:outerShdw>
                </a:effectLst>
                <a:latin typeface="Times New Roman" pitchFamily="18" charset="0"/>
                <a:cs typeface="Times New Roman" pitchFamily="18" charset="0"/>
              </a:rPr>
              <a:t>FEATURES </a:t>
            </a:r>
            <a:r>
              <a:rPr lang="en-US" sz="3200" dirty="0" smtClean="0">
                <a:effectLst>
                  <a:outerShdw blurRad="38100" dist="38100" dir="2700000" algn="tl">
                    <a:srgbClr val="000000">
                      <a:alpha val="43137"/>
                    </a:srgbClr>
                  </a:outerShdw>
                </a:effectLst>
                <a:latin typeface="Times New Roman" pitchFamily="18" charset="0"/>
                <a:cs typeface="Times New Roman" pitchFamily="18" charset="0"/>
              </a:rPr>
              <a:t>:-</a:t>
            </a:r>
            <a:r>
              <a:rPr lang="en-IN" sz="3200" dirty="0" smtClean="0">
                <a:effectLst>
                  <a:outerShdw blurRad="38100" dist="38100" dir="2700000" algn="tl">
                    <a:srgbClr val="000000">
                      <a:alpha val="43137"/>
                    </a:srgbClr>
                  </a:outerShdw>
                </a:effectLst>
                <a:latin typeface="Times New Roman" pitchFamily="18" charset="0"/>
                <a:cs typeface="Times New Roman" pitchFamily="18" charset="0"/>
              </a:rPr>
              <a:t/>
            </a:r>
            <a:br>
              <a:rPr lang="en-IN" sz="3200" dirty="0" smtClean="0">
                <a:effectLst>
                  <a:outerShdw blurRad="38100" dist="38100" dir="2700000" algn="tl">
                    <a:srgbClr val="000000">
                      <a:alpha val="43137"/>
                    </a:srgbClr>
                  </a:outerShdw>
                </a:effectLst>
                <a:latin typeface="Times New Roman" pitchFamily="18" charset="0"/>
                <a:cs typeface="Times New Roman" pitchFamily="18" charset="0"/>
              </a:rPr>
            </a:br>
            <a:endParaRPr lang="en-US" sz="3200"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Rectangle 2"/>
          <p:cNvSpPr/>
          <p:nvPr/>
        </p:nvSpPr>
        <p:spPr>
          <a:xfrm>
            <a:off x="214282" y="714356"/>
            <a:ext cx="8501122" cy="6324808"/>
          </a:xfrm>
          <a:prstGeom prst="rect">
            <a:avLst/>
          </a:prstGeom>
        </p:spPr>
        <p:txBody>
          <a:bodyPr wrap="square">
            <a:spAutoFit/>
          </a:bodyPr>
          <a:lstStyle/>
          <a:p>
            <a:pPr marL="514350" lvl="0" indent="-514350">
              <a:spcBef>
                <a:spcPts val="1800"/>
              </a:spcBef>
              <a:buSzPct val="80000"/>
              <a:buFont typeface="Wingdings" pitchFamily="2" charset="2"/>
              <a:buChar char="Ø"/>
            </a:pPr>
            <a:r>
              <a:rPr lang="en-IN" sz="2400" dirty="0" smtClean="0">
                <a:latin typeface="Times New Roman" pitchFamily="18" charset="0"/>
                <a:cs typeface="Times New Roman" pitchFamily="18" charset="0"/>
              </a:rPr>
              <a:t>Any natural material like water, soil, snow and cereals is characterized by two parameters; they are physical and electrical parameters.</a:t>
            </a:r>
          </a:p>
          <a:p>
            <a:pPr marL="514350" lvl="0" indent="-514350">
              <a:spcBef>
                <a:spcPts val="1800"/>
              </a:spcBef>
              <a:buSzPct val="80000"/>
              <a:buFont typeface="Wingdings" pitchFamily="2" charset="2"/>
              <a:buChar char="Ø"/>
              <a:defRPr/>
            </a:pPr>
            <a:r>
              <a:rPr lang="en-IN" sz="2400" dirty="0" smtClean="0">
                <a:latin typeface="Times New Roman" pitchFamily="18" charset="0"/>
                <a:cs typeface="Times New Roman" pitchFamily="18" charset="0"/>
              </a:rPr>
              <a:t>A dielectric material is a substance that is a poor conductor of electricity, but an efficient supporter of </a:t>
            </a:r>
            <a:r>
              <a:rPr lang="en-IN" sz="2400" b="1" u="sng" dirty="0" smtClean="0">
                <a:latin typeface="Times New Roman" pitchFamily="18" charset="0"/>
                <a:cs typeface="Times New Roman" pitchFamily="18" charset="0"/>
              </a:rPr>
              <a:t>electrostatic fields.</a:t>
            </a:r>
          </a:p>
          <a:p>
            <a:pPr marL="514350" indent="-514350">
              <a:spcBef>
                <a:spcPts val="1800"/>
              </a:spcBef>
              <a:buSzPct val="80000"/>
              <a:buFont typeface="Wingdings" pitchFamily="2" charset="2"/>
              <a:buChar char="Ø"/>
            </a:pPr>
            <a:r>
              <a:rPr lang="en-IN" sz="2400" dirty="0" smtClean="0">
                <a:latin typeface="Times New Roman" pitchFamily="18" charset="0"/>
                <a:cs typeface="Times New Roman" pitchFamily="18" charset="0"/>
              </a:rPr>
              <a:t>The lower the</a:t>
            </a:r>
            <a:r>
              <a:rPr lang="en-IN" sz="2400" b="1" dirty="0" smtClean="0">
                <a:latin typeface="Times New Roman" pitchFamily="18" charset="0"/>
                <a:cs typeface="Times New Roman" pitchFamily="18" charset="0"/>
              </a:rPr>
              <a:t> dielectric loss</a:t>
            </a:r>
            <a:r>
              <a:rPr lang="en-IN" sz="2400" dirty="0" smtClean="0">
                <a:latin typeface="Times New Roman" pitchFamily="18" charset="0"/>
                <a:cs typeface="Times New Roman" pitchFamily="18" charset="0"/>
              </a:rPr>
              <a:t> (the proportion of energy lost as heat), the more effective is a dielectric    material.</a:t>
            </a:r>
          </a:p>
          <a:p>
            <a:pPr marL="514350" indent="-514350">
              <a:spcBef>
                <a:spcPts val="1800"/>
              </a:spcBef>
              <a:buSzPct val="80000"/>
              <a:buFont typeface="Wingdings" pitchFamily="2" charset="2"/>
              <a:buChar char="Ø"/>
            </a:pPr>
            <a:r>
              <a:rPr lang="en-IN" sz="2400" b="1" dirty="0" smtClean="0">
                <a:latin typeface="Times New Roman" pitchFamily="18" charset="0"/>
                <a:cs typeface="Times New Roman" pitchFamily="18" charset="0"/>
              </a:rPr>
              <a:t>The dielectric constant</a:t>
            </a:r>
            <a:r>
              <a:rPr lang="en-IN" sz="2400" dirty="0" smtClean="0">
                <a:latin typeface="Times New Roman" pitchFamily="18" charset="0"/>
                <a:cs typeface="Times New Roman" pitchFamily="18" charset="0"/>
              </a:rPr>
              <a:t> , the extent to which a substance concentrates the electrostatic lines of flux. It is also known as </a:t>
            </a:r>
            <a:r>
              <a:rPr lang="en-IN" sz="2400" b="1" u="sng" dirty="0" smtClean="0">
                <a:latin typeface="Times New Roman" pitchFamily="18" charset="0"/>
                <a:cs typeface="Times New Roman" pitchFamily="18" charset="0"/>
              </a:rPr>
              <a:t>permittivity of the material</a:t>
            </a:r>
            <a:r>
              <a:rPr lang="en-IN" sz="2400" u="sng" dirty="0" smtClean="0">
                <a:latin typeface="Times New Roman" pitchFamily="18" charset="0"/>
                <a:cs typeface="Times New Roman" pitchFamily="18" charset="0"/>
              </a:rPr>
              <a:t>.</a:t>
            </a:r>
          </a:p>
          <a:p>
            <a:pPr marL="514350" lvl="0" indent="-514350">
              <a:spcBef>
                <a:spcPts val="1800"/>
              </a:spcBef>
              <a:buSzPct val="80000"/>
              <a:buFont typeface="Wingdings" pitchFamily="2" charset="2"/>
              <a:buChar char="Ø"/>
              <a:defRPr/>
            </a:pPr>
            <a:r>
              <a:rPr lang="en-IN" sz="2400" dirty="0" smtClean="0">
                <a:latin typeface="Times New Roman" pitchFamily="18" charset="0"/>
                <a:cs typeface="Times New Roman" pitchFamily="18" charset="0"/>
              </a:rPr>
              <a:t>Substances with a low </a:t>
            </a:r>
            <a:r>
              <a:rPr lang="en-IN" sz="2400" b="1" u="sng" dirty="0" smtClean="0">
                <a:latin typeface="Times New Roman" pitchFamily="18" charset="0"/>
                <a:cs typeface="Times New Roman" pitchFamily="18" charset="0"/>
              </a:rPr>
              <a:t>dielectric constant</a:t>
            </a:r>
            <a:r>
              <a:rPr lang="en-IN" sz="2400" dirty="0" smtClean="0">
                <a:latin typeface="Times New Roman" pitchFamily="18" charset="0"/>
                <a:cs typeface="Times New Roman" pitchFamily="18" charset="0"/>
              </a:rPr>
              <a:t> include a perfect vacuum, dry air, and most pure, dry gases such as helium and nitrogen. </a:t>
            </a:r>
          </a:p>
          <a:p>
            <a:pPr marL="457200" lvl="0" indent="-457200">
              <a:spcBef>
                <a:spcPts val="1800"/>
              </a:spcBef>
              <a:buClr>
                <a:schemeClr val="accent1"/>
              </a:buClr>
              <a:buSzPct val="80000"/>
              <a:buFont typeface="Wingdings" pitchFamily="2" charset="2"/>
              <a:buChar char=""/>
              <a:defRPr/>
            </a:pPr>
            <a:endParaRPr lang="en-IN" dirty="0"/>
          </a:p>
        </p:txBody>
      </p:sp>
      <p:sp>
        <p:nvSpPr>
          <p:cNvPr id="4" name="Slide Number Placeholder 3"/>
          <p:cNvSpPr>
            <a:spLocks noGrp="1"/>
          </p:cNvSpPr>
          <p:nvPr>
            <p:ph type="sldNum" sz="quarter" idx="12"/>
          </p:nvPr>
        </p:nvSpPr>
        <p:spPr/>
        <p:txBody>
          <a:bodyPr/>
          <a:lstStyle/>
          <a:p>
            <a:fld id="{C2C1A6A0-3F2F-4BAF-B319-837518E4456F}" type="slidenum">
              <a:rPr lang="en-US" smtClean="0"/>
              <a:pPr/>
              <a:t>17</a:t>
            </a:fld>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2910" y="335846"/>
            <a:ext cx="7715304" cy="5539978"/>
          </a:xfrm>
          <a:prstGeom prst="rect">
            <a:avLst/>
          </a:prstGeom>
        </p:spPr>
        <p:txBody>
          <a:bodyPr wrap="square">
            <a:spAutoFit/>
          </a:bodyPr>
          <a:lstStyle/>
          <a:p>
            <a:pPr algn="ctr"/>
            <a:r>
              <a:rPr lang="en-US" sz="3600" b="1" dirty="0" smtClean="0">
                <a:latin typeface="Times New Roman" pitchFamily="18" charset="0"/>
                <a:cs typeface="Times New Roman" pitchFamily="18" charset="0"/>
              </a:rPr>
              <a:t>Interaction between Microwaves and Earth's Surface</a:t>
            </a:r>
          </a:p>
          <a:p>
            <a:endParaRPr lang="en-US" dirty="0" smtClean="0"/>
          </a:p>
          <a:p>
            <a:r>
              <a:rPr lang="en-US" sz="2400" dirty="0" smtClean="0">
                <a:latin typeface="Times New Roman" pitchFamily="18" charset="0"/>
                <a:cs typeface="Times New Roman" pitchFamily="18" charset="0"/>
              </a:rPr>
              <a:t>When microwaves strike a surface, the proportion of energy scattered back to the sensor depends on many factors:</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(1) Physical </a:t>
            </a:r>
            <a:r>
              <a:rPr lang="en-US" sz="2400" dirty="0" smtClean="0">
                <a:latin typeface="Times New Roman" pitchFamily="18" charset="0"/>
                <a:cs typeface="Times New Roman" pitchFamily="18" charset="0"/>
              </a:rPr>
              <a:t>factors such as the dielectric constant of the surface materials which also depends strongly on the moisture content;</a:t>
            </a:r>
          </a:p>
          <a:p>
            <a:r>
              <a:rPr lang="en-US" sz="2400" dirty="0" smtClean="0">
                <a:latin typeface="Times New Roman" pitchFamily="18" charset="0"/>
                <a:cs typeface="Times New Roman" pitchFamily="18" charset="0"/>
              </a:rPr>
              <a:t>(2) Geometric </a:t>
            </a:r>
            <a:r>
              <a:rPr lang="en-US" sz="2400" dirty="0" smtClean="0">
                <a:latin typeface="Times New Roman" pitchFamily="18" charset="0"/>
                <a:cs typeface="Times New Roman" pitchFamily="18" charset="0"/>
              </a:rPr>
              <a:t>factors such as surface roughness, slopes, orientation of the objects relative to the radar beam direction;</a:t>
            </a:r>
          </a:p>
          <a:p>
            <a:r>
              <a:rPr lang="en-US" sz="2400" dirty="0" smtClean="0">
                <a:latin typeface="Times New Roman" pitchFamily="18" charset="0"/>
                <a:cs typeface="Times New Roman" pitchFamily="18" charset="0"/>
              </a:rPr>
              <a:t>(3) The </a:t>
            </a:r>
            <a:r>
              <a:rPr lang="en-US" sz="2400" dirty="0" smtClean="0">
                <a:latin typeface="Times New Roman" pitchFamily="18" charset="0"/>
                <a:cs typeface="Times New Roman" pitchFamily="18" charset="0"/>
              </a:rPr>
              <a:t>types of land cover (soil, vegetation or man-made objects).</a:t>
            </a:r>
          </a:p>
          <a:p>
            <a:r>
              <a:rPr lang="en-US" sz="2400" dirty="0" smtClean="0">
                <a:latin typeface="Times New Roman" pitchFamily="18" charset="0"/>
                <a:cs typeface="Times New Roman" pitchFamily="18" charset="0"/>
              </a:rPr>
              <a:t>(4) Microwave </a:t>
            </a:r>
            <a:r>
              <a:rPr lang="en-US" sz="2400" dirty="0" smtClean="0">
                <a:latin typeface="Times New Roman" pitchFamily="18" charset="0"/>
                <a:cs typeface="Times New Roman" pitchFamily="18" charset="0"/>
              </a:rPr>
              <a:t>frequency, polarization and incident angle.</a:t>
            </a:r>
            <a:endParaRPr lang="en-US" sz="2400" dirty="0">
              <a:latin typeface="Times New Roman" pitchFamily="18" charset="0"/>
              <a:cs typeface="Times New Roman" pitchFamily="18" charset="0"/>
            </a:endParaRPr>
          </a:p>
        </p:txBody>
      </p:sp>
      <p:sp>
        <p:nvSpPr>
          <p:cNvPr id="3" name="Slide Number Placeholder 2"/>
          <p:cNvSpPr>
            <a:spLocks noGrp="1"/>
          </p:cNvSpPr>
          <p:nvPr>
            <p:ph type="sldNum" sz="quarter" idx="12"/>
          </p:nvPr>
        </p:nvSpPr>
        <p:spPr/>
        <p:txBody>
          <a:bodyPr/>
          <a:lstStyle/>
          <a:p>
            <a:fld id="{C2C1A6A0-3F2F-4BAF-B319-837518E4456F}" type="slidenum">
              <a:rPr lang="en-US" smtClean="0"/>
              <a:pPr/>
              <a:t>18</a:t>
            </a:fld>
            <a:endParaRPr 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57224" y="1028343"/>
            <a:ext cx="7500990" cy="5262979"/>
          </a:xfrm>
          <a:prstGeom prst="rect">
            <a:avLst/>
          </a:prstGeom>
        </p:spPr>
        <p:txBody>
          <a:bodyPr wrap="square">
            <a:spAutoFit/>
          </a:bodyPr>
          <a:lstStyle/>
          <a:p>
            <a:pPr>
              <a:buClr>
                <a:schemeClr val="tx2"/>
              </a:buClr>
              <a:buSzPct val="90000"/>
              <a:buFont typeface="Wingdings" pitchFamily="2" charset="2"/>
              <a:buChar char="v"/>
            </a:pPr>
            <a:r>
              <a:rPr lang="en-IN" sz="2400" dirty="0" smtClean="0">
                <a:latin typeface="Times New Roman" pitchFamily="18" charset="0"/>
                <a:cs typeface="Times New Roman" pitchFamily="18" charset="0"/>
              </a:rPr>
              <a:t>When  microwaves are directed towards a material, part of the  energy is reflected , part is transmitted through the surface, and of this latter  quantity, part of it is absorbed. </a:t>
            </a:r>
          </a:p>
          <a:p>
            <a:pPr>
              <a:buClr>
                <a:schemeClr val="tx2"/>
              </a:buClr>
              <a:buSzPct val="90000"/>
              <a:buFont typeface="Wingdings" pitchFamily="2" charset="2"/>
              <a:buChar char="v"/>
            </a:pPr>
            <a:r>
              <a:rPr lang="en-IN" sz="2400" dirty="0" smtClean="0">
                <a:latin typeface="Times New Roman" pitchFamily="18" charset="0"/>
                <a:cs typeface="Times New Roman" pitchFamily="18" charset="0"/>
              </a:rPr>
              <a:t>The proportions of energy, which fall into these three categories, have been defined in terms of the </a:t>
            </a:r>
            <a:r>
              <a:rPr lang="en-IN" sz="2400" b="1" dirty="0" smtClean="0">
                <a:latin typeface="Times New Roman" pitchFamily="18" charset="0"/>
                <a:cs typeface="Times New Roman" pitchFamily="18" charset="0"/>
              </a:rPr>
              <a:t>dielectric properties</a:t>
            </a:r>
            <a:r>
              <a:rPr lang="en-IN" sz="2400" dirty="0" smtClean="0">
                <a:latin typeface="Times New Roman" pitchFamily="18" charset="0"/>
                <a:cs typeface="Times New Roman" pitchFamily="18" charset="0"/>
              </a:rPr>
              <a:t>. </a:t>
            </a:r>
          </a:p>
          <a:p>
            <a:pPr>
              <a:buClr>
                <a:schemeClr val="tx2"/>
              </a:buClr>
              <a:buSzPct val="90000"/>
              <a:buFont typeface="Wingdings" pitchFamily="2" charset="2"/>
              <a:buChar char="v"/>
            </a:pPr>
            <a:r>
              <a:rPr lang="en-IN" sz="2400" dirty="0" smtClean="0">
                <a:latin typeface="Times New Roman" pitchFamily="18" charset="0"/>
                <a:cs typeface="Times New Roman" pitchFamily="18" charset="0"/>
              </a:rPr>
              <a:t>The fundamental electrical property through which the interactions are described is the complex relative permittivity of the material, </a:t>
            </a:r>
            <a:r>
              <a:rPr lang="en-IN" sz="2400" dirty="0" smtClean="0">
                <a:latin typeface="Times New Roman" pitchFamily="18" charset="0"/>
                <a:cs typeface="Times New Roman" pitchFamily="18" charset="0"/>
                <a:sym typeface="Symbol"/>
              </a:rPr>
              <a:t></a:t>
            </a:r>
            <a:r>
              <a:rPr lang="en-IN" sz="2400" i="1" dirty="0" smtClean="0">
                <a:latin typeface="Times New Roman" pitchFamily="18" charset="0"/>
                <a:cs typeface="Times New Roman" pitchFamily="18" charset="0"/>
              </a:rPr>
              <a:t>*. </a:t>
            </a:r>
            <a:r>
              <a:rPr lang="en-IN" sz="2400" dirty="0" smtClean="0">
                <a:latin typeface="Times New Roman" pitchFamily="18" charset="0"/>
                <a:cs typeface="Times New Roman" pitchFamily="18" charset="0"/>
              </a:rPr>
              <a:t>It is mathematically expressed as:</a:t>
            </a:r>
          </a:p>
          <a:p>
            <a:pPr>
              <a:buClr>
                <a:schemeClr val="tx2"/>
              </a:buClr>
            </a:pPr>
            <a:r>
              <a:rPr lang="en-IN" sz="2400" dirty="0" smtClean="0">
                <a:latin typeface="Times New Roman" pitchFamily="18" charset="0"/>
                <a:cs typeface="Times New Roman" pitchFamily="18" charset="0"/>
                <a:sym typeface="Symbol"/>
              </a:rPr>
              <a:t></a:t>
            </a:r>
            <a:r>
              <a:rPr lang="en-IN" sz="2400" baseline="-25000" dirty="0" smtClean="0">
                <a:latin typeface="Times New Roman" pitchFamily="18" charset="0"/>
                <a:cs typeface="Times New Roman" pitchFamily="18" charset="0"/>
                <a:sym typeface="Symbol"/>
              </a:rPr>
              <a:t>r</a:t>
            </a:r>
            <a:r>
              <a:rPr lang="en-IN" sz="2400" dirty="0" smtClean="0">
                <a:latin typeface="Times New Roman" pitchFamily="18" charset="0"/>
                <a:cs typeface="Times New Roman" pitchFamily="18" charset="0"/>
                <a:sym typeface="Symbol"/>
              </a:rPr>
              <a:t>=’-j’’</a:t>
            </a:r>
            <a:endParaRPr lang="en-IN" sz="2400" dirty="0" smtClean="0">
              <a:latin typeface="Times New Roman" pitchFamily="18" charset="0"/>
              <a:cs typeface="Times New Roman" pitchFamily="18" charset="0"/>
            </a:endParaRPr>
          </a:p>
          <a:p>
            <a:pPr>
              <a:buNone/>
            </a:pPr>
            <a:r>
              <a:rPr lang="en-IN" sz="2400" dirty="0" smtClean="0">
                <a:latin typeface="Times New Roman" pitchFamily="18" charset="0"/>
                <a:cs typeface="Times New Roman" pitchFamily="18" charset="0"/>
              </a:rPr>
              <a:t>where:-</a:t>
            </a:r>
          </a:p>
          <a:p>
            <a:pPr>
              <a:buClr>
                <a:schemeClr val="tx2"/>
              </a:buClr>
              <a:buFont typeface="Wingdings" pitchFamily="2" charset="2"/>
              <a:buChar char="Ø"/>
            </a:pPr>
            <a:r>
              <a:rPr lang="en-IN" sz="2400" i="1" dirty="0" smtClean="0">
                <a:latin typeface="Times New Roman" pitchFamily="18" charset="0"/>
                <a:cs typeface="Times New Roman" pitchFamily="18" charset="0"/>
                <a:sym typeface="Symbol"/>
              </a:rPr>
              <a:t> ’  =</a:t>
            </a:r>
            <a:r>
              <a:rPr lang="en-IN" sz="2400" b="1" dirty="0" smtClean="0">
                <a:latin typeface="Times New Roman" pitchFamily="18" charset="0"/>
                <a:cs typeface="Times New Roman" pitchFamily="18" charset="0"/>
              </a:rPr>
              <a:t>dielectric constant</a:t>
            </a:r>
            <a:r>
              <a:rPr lang="en-IN" sz="2400" i="1" dirty="0" smtClean="0">
                <a:latin typeface="Times New Roman" pitchFamily="18" charset="0"/>
                <a:cs typeface="Times New Roman" pitchFamily="18" charset="0"/>
              </a:rPr>
              <a:t>, and</a:t>
            </a:r>
          </a:p>
          <a:p>
            <a:pPr>
              <a:buClr>
                <a:schemeClr val="tx1"/>
              </a:buClr>
              <a:buFont typeface="Wingdings" pitchFamily="2" charset="2"/>
              <a:buChar char="Ø"/>
            </a:pPr>
            <a:r>
              <a:rPr lang="en-IN" sz="2400" dirty="0" smtClean="0">
                <a:latin typeface="Times New Roman" pitchFamily="18" charset="0"/>
                <a:cs typeface="Times New Roman" pitchFamily="18" charset="0"/>
                <a:sym typeface="Symbol"/>
              </a:rPr>
              <a:t></a:t>
            </a:r>
            <a:r>
              <a:rPr lang="en-IN" sz="2400" dirty="0" smtClean="0">
                <a:latin typeface="Times New Roman" pitchFamily="18" charset="0"/>
                <a:cs typeface="Times New Roman" pitchFamily="18" charset="0"/>
              </a:rPr>
              <a:t>" = </a:t>
            </a:r>
            <a:r>
              <a:rPr lang="en-IN" sz="2400" b="1" dirty="0" smtClean="0">
                <a:latin typeface="Times New Roman" pitchFamily="18" charset="0"/>
                <a:cs typeface="Times New Roman" pitchFamily="18" charset="0"/>
              </a:rPr>
              <a:t>dielectric loss factor</a:t>
            </a:r>
            <a:r>
              <a:rPr lang="en-IN" sz="2400" dirty="0" smtClean="0">
                <a:latin typeface="Times New Roman" pitchFamily="18" charset="0"/>
                <a:cs typeface="Times New Roman" pitchFamily="18" charset="0"/>
              </a:rPr>
              <a:t>.</a:t>
            </a:r>
            <a:endParaRPr lang="en-US" sz="2400" dirty="0">
              <a:latin typeface="Times New Roman" pitchFamily="18" charset="0"/>
              <a:cs typeface="Times New Roman" pitchFamily="18" charset="0"/>
            </a:endParaRPr>
          </a:p>
        </p:txBody>
      </p:sp>
      <p:sp>
        <p:nvSpPr>
          <p:cNvPr id="3" name="Rectangle 2"/>
          <p:cNvSpPr/>
          <p:nvPr/>
        </p:nvSpPr>
        <p:spPr>
          <a:xfrm>
            <a:off x="928662" y="214290"/>
            <a:ext cx="7286676" cy="584775"/>
          </a:xfrm>
          <a:prstGeom prst="rect">
            <a:avLst/>
          </a:prstGeom>
        </p:spPr>
        <p:txBody>
          <a:bodyPr wrap="square">
            <a:spAutoFit/>
          </a:bodyPr>
          <a:lstStyle/>
          <a:p>
            <a:pPr algn="ctr"/>
            <a:r>
              <a:rPr lang="en-US" sz="3200" b="1" dirty="0" smtClean="0">
                <a:effectLst>
                  <a:outerShdw blurRad="38100" dist="38100" dir="2700000" algn="tl">
                    <a:srgbClr val="000000">
                      <a:alpha val="43137"/>
                    </a:srgbClr>
                  </a:outerShdw>
                </a:effectLst>
                <a:latin typeface="Times New Roman" pitchFamily="18" charset="0"/>
                <a:cs typeface="Times New Roman" pitchFamily="18" charset="0"/>
              </a:rPr>
              <a:t>Material interaction with microwave</a:t>
            </a:r>
            <a:endParaRPr lang="en-IN" sz="3200" b="1"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C2C1A6A0-3F2F-4BAF-B319-837518E4456F}" type="slidenum">
              <a:rPr lang="en-US" smtClean="0"/>
              <a:pPr/>
              <a:t>19</a:t>
            </a:fld>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http://ars.sciencedirect.com/content/image/1-s2.0-S0016236101000503-gr1.gif"/>
          <p:cNvPicPr>
            <a:picLocks noChangeAspect="1" noChangeArrowheads="1"/>
          </p:cNvPicPr>
          <p:nvPr/>
        </p:nvPicPr>
        <p:blipFill>
          <a:blip r:embed="rId2"/>
          <a:srcRect/>
          <a:stretch>
            <a:fillRect/>
          </a:stretch>
        </p:blipFill>
        <p:spPr bwMode="auto">
          <a:xfrm>
            <a:off x="428596" y="214290"/>
            <a:ext cx="8215370" cy="4357718"/>
          </a:xfrm>
          <a:prstGeom prst="rect">
            <a:avLst/>
          </a:prstGeom>
          <a:noFill/>
        </p:spPr>
      </p:pic>
      <p:sp>
        <p:nvSpPr>
          <p:cNvPr id="3" name="Rectangle 2"/>
          <p:cNvSpPr/>
          <p:nvPr/>
        </p:nvSpPr>
        <p:spPr>
          <a:xfrm>
            <a:off x="500034" y="4549676"/>
            <a:ext cx="7643866" cy="2308324"/>
          </a:xfrm>
          <a:prstGeom prst="rect">
            <a:avLst/>
          </a:prstGeom>
        </p:spPr>
        <p:txBody>
          <a:bodyPr wrap="square">
            <a:spAutoFit/>
          </a:bodyPr>
          <a:lstStyle/>
          <a:p>
            <a:r>
              <a:rPr lang="en-IN" sz="2400" b="1" dirty="0" smtClean="0">
                <a:latin typeface="Times New Roman" pitchFamily="18" charset="0"/>
                <a:cs typeface="Times New Roman" pitchFamily="18" charset="0"/>
              </a:rPr>
              <a:t>Dielectric constant </a:t>
            </a:r>
            <a:r>
              <a:rPr lang="en-IN" sz="2400" dirty="0" smtClean="0">
                <a:latin typeface="Times New Roman" pitchFamily="18" charset="0"/>
                <a:cs typeface="Times New Roman" pitchFamily="18" charset="0"/>
              </a:rPr>
              <a:t>of any material is defined as </a:t>
            </a:r>
            <a:r>
              <a:rPr lang="en-IN" sz="2400" dirty="0" smtClean="0">
                <a:latin typeface="Times New Roman" pitchFamily="18" charset="0"/>
                <a:cs typeface="Times New Roman" pitchFamily="18" charset="0"/>
              </a:rPr>
              <a:t>“</a:t>
            </a:r>
            <a:r>
              <a:rPr lang="en-IN" sz="2400" dirty="0" smtClean="0">
                <a:latin typeface="Times New Roman" pitchFamily="18" charset="0"/>
                <a:cs typeface="Times New Roman" pitchFamily="18" charset="0"/>
              </a:rPr>
              <a:t>T</a:t>
            </a:r>
            <a:r>
              <a:rPr lang="en-IN" sz="2400" dirty="0" smtClean="0">
                <a:latin typeface="Times New Roman" pitchFamily="18" charset="0"/>
                <a:cs typeface="Times New Roman" pitchFamily="18" charset="0"/>
              </a:rPr>
              <a:t>he </a:t>
            </a:r>
            <a:r>
              <a:rPr lang="en-IN" sz="2400" dirty="0" smtClean="0">
                <a:latin typeface="Times New Roman" pitchFamily="18" charset="0"/>
                <a:cs typeface="Times New Roman" pitchFamily="18" charset="0"/>
              </a:rPr>
              <a:t>ability of a material to absorb, emit, scatter and reflect a portion of EM wave</a:t>
            </a:r>
            <a:r>
              <a:rPr lang="en-IN" sz="2400" dirty="0" smtClean="0">
                <a:latin typeface="Times New Roman" pitchFamily="18" charset="0"/>
                <a:cs typeface="Times New Roman" pitchFamily="18" charset="0"/>
              </a:rPr>
              <a:t>.” </a:t>
            </a:r>
          </a:p>
          <a:p>
            <a:r>
              <a:rPr lang="en-IN" sz="2400" dirty="0" smtClean="0">
                <a:latin typeface="Times New Roman" pitchFamily="18" charset="0"/>
                <a:cs typeface="Times New Roman" pitchFamily="18" charset="0"/>
              </a:rPr>
              <a:t>It </a:t>
            </a:r>
            <a:r>
              <a:rPr lang="en-IN" sz="2400" dirty="0" smtClean="0">
                <a:latin typeface="Times New Roman" pitchFamily="18" charset="0"/>
                <a:cs typeface="Times New Roman" pitchFamily="18" charset="0"/>
              </a:rPr>
              <a:t>depends upon the physical properties of material including shape and size of the sample, humidity, temperature, frequency and field of measurement.</a:t>
            </a:r>
          </a:p>
        </p:txBody>
      </p:sp>
      <p:sp>
        <p:nvSpPr>
          <p:cNvPr id="4" name="Slide Number Placeholder 3"/>
          <p:cNvSpPr>
            <a:spLocks noGrp="1"/>
          </p:cNvSpPr>
          <p:nvPr>
            <p:ph type="sldNum" sz="quarter" idx="12"/>
          </p:nvPr>
        </p:nvSpPr>
        <p:spPr/>
        <p:txBody>
          <a:bodyPr/>
          <a:lstStyle/>
          <a:p>
            <a:fld id="{C2C1A6A0-3F2F-4BAF-B319-837518E4456F}" type="slidenum">
              <a:rPr lang="en-US" smtClean="0"/>
              <a:pPr/>
              <a:t>20</a:t>
            </a:fld>
            <a:endParaRPr 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00100" y="285728"/>
            <a:ext cx="7010400" cy="769441"/>
          </a:xfrm>
          <a:prstGeom prst="rect">
            <a:avLst/>
          </a:prstGeom>
          <a:noFill/>
        </p:spPr>
        <p:txBody>
          <a:bodyPr wrap="square" rtlCol="0">
            <a:spAutoFit/>
          </a:bodyPr>
          <a:lstStyle/>
          <a:p>
            <a:pPr algn="r"/>
            <a:r>
              <a:rPr lang="en-US" sz="4400" b="1" u="sng" dirty="0" smtClean="0">
                <a:ln w="10541" cmpd="sng">
                  <a:solidFill>
                    <a:srgbClr val="7D7D7D">
                      <a:tint val="100000"/>
                      <a:shade val="100000"/>
                      <a:satMod val="110000"/>
                    </a:srgbClr>
                  </a:solidFill>
                  <a:prstDash val="solid"/>
                </a:ln>
                <a:effectLst>
                  <a:outerShdw blurRad="38100" dist="38100" dir="2700000" algn="tl">
                    <a:srgbClr val="000000">
                      <a:alpha val="43137"/>
                    </a:srgbClr>
                  </a:outerShdw>
                </a:effectLst>
                <a:latin typeface="Times New Roman" pitchFamily="18" charset="0"/>
                <a:cs typeface="Times New Roman" pitchFamily="18" charset="0"/>
              </a:rPr>
              <a:t>GLANCE ON PROJECT</a:t>
            </a:r>
            <a:endParaRPr lang="en-US" sz="4400" b="1" u="sng" dirty="0">
              <a:ln w="10541" cmpd="sng">
                <a:solidFill>
                  <a:srgbClr val="7D7D7D">
                    <a:tint val="100000"/>
                    <a:shade val="100000"/>
                    <a:satMod val="110000"/>
                  </a:srgbClr>
                </a:solidFill>
                <a:prstDash val="solid"/>
              </a:ln>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4" name="TextBox 3"/>
          <p:cNvSpPr txBox="1"/>
          <p:nvPr/>
        </p:nvSpPr>
        <p:spPr>
          <a:xfrm>
            <a:off x="785786" y="1142984"/>
            <a:ext cx="7572428" cy="5632311"/>
          </a:xfrm>
          <a:prstGeom prst="rect">
            <a:avLst/>
          </a:prstGeom>
          <a:noFill/>
        </p:spPr>
        <p:txBody>
          <a:bodyPr wrap="square" rtlCol="0">
            <a:spAutoFit/>
          </a:bodyPr>
          <a:lstStyle/>
          <a:p>
            <a:pPr marL="285750" indent="-285750">
              <a:buFont typeface="Wingdings" pitchFamily="2" charset="2"/>
              <a:buChar char="ü"/>
            </a:pPr>
            <a:r>
              <a:rPr lang="en-US" sz="2400" dirty="0" smtClean="0">
                <a:effectLst>
                  <a:outerShdw blurRad="38100" dist="38100" dir="2700000" algn="tl">
                    <a:srgbClr val="000000">
                      <a:alpha val="43137"/>
                    </a:srgbClr>
                  </a:outerShdw>
                </a:effectLst>
                <a:latin typeface="Times New Roman" pitchFamily="18" charset="0"/>
                <a:cs typeface="Times New Roman" pitchFamily="18" charset="0"/>
              </a:rPr>
              <a:t>Remote sensing observations have been used for identification and monitoring of agricultural targets since the late 19 century.</a:t>
            </a:r>
          </a:p>
          <a:p>
            <a:pPr marL="285750" indent="-285750">
              <a:buFont typeface="Wingdings" pitchFamily="2" charset="2"/>
              <a:buChar char="ü"/>
            </a:pPr>
            <a:endParaRPr lang="en-US" sz="2400" dirty="0">
              <a:effectLst>
                <a:outerShdw blurRad="38100" dist="38100" dir="2700000" algn="tl">
                  <a:srgbClr val="000000">
                    <a:alpha val="43137"/>
                  </a:srgbClr>
                </a:outerShdw>
              </a:effectLst>
              <a:latin typeface="Times New Roman" pitchFamily="18" charset="0"/>
              <a:cs typeface="Times New Roman" pitchFamily="18" charset="0"/>
            </a:endParaRPr>
          </a:p>
          <a:p>
            <a:pPr marL="285750" indent="-285750">
              <a:buFont typeface="Wingdings" pitchFamily="2" charset="2"/>
              <a:buChar char="ü"/>
            </a:pPr>
            <a:r>
              <a:rPr lang="en-US" sz="2400" dirty="0" smtClean="0">
                <a:effectLst>
                  <a:outerShdw blurRad="38100" dist="38100" dir="2700000" algn="tl">
                    <a:srgbClr val="000000">
                      <a:alpha val="43137"/>
                    </a:srgbClr>
                  </a:outerShdw>
                </a:effectLst>
                <a:latin typeface="Times New Roman" pitchFamily="18" charset="0"/>
                <a:cs typeface="Times New Roman" pitchFamily="18" charset="0"/>
              </a:rPr>
              <a:t>The use of radar sensors for agricultural applications has been intensively studied since 1970.</a:t>
            </a:r>
          </a:p>
          <a:p>
            <a:pPr marL="285750" indent="-285750">
              <a:buFont typeface="Wingdings" pitchFamily="2" charset="2"/>
              <a:buChar char="ü"/>
            </a:pPr>
            <a:endParaRPr lang="en-US" sz="2400" dirty="0">
              <a:effectLst>
                <a:outerShdw blurRad="38100" dist="38100" dir="2700000" algn="tl">
                  <a:srgbClr val="000000">
                    <a:alpha val="43137"/>
                  </a:srgbClr>
                </a:outerShdw>
              </a:effectLst>
              <a:latin typeface="Times New Roman" pitchFamily="18" charset="0"/>
              <a:cs typeface="Times New Roman" pitchFamily="18" charset="0"/>
            </a:endParaRPr>
          </a:p>
          <a:p>
            <a:pPr marL="285750" indent="-285750">
              <a:buFont typeface="Wingdings" pitchFamily="2" charset="2"/>
              <a:buChar char="ü"/>
            </a:pPr>
            <a:r>
              <a:rPr lang="en-US" sz="2400" dirty="0" smtClean="0">
                <a:effectLst>
                  <a:outerShdw blurRad="38100" dist="38100" dir="2700000" algn="tl">
                    <a:srgbClr val="000000">
                      <a:alpha val="43137"/>
                    </a:srgbClr>
                  </a:outerShdw>
                </a:effectLst>
                <a:latin typeface="Times New Roman" pitchFamily="18" charset="0"/>
                <a:cs typeface="Times New Roman" pitchFamily="18" charset="0"/>
              </a:rPr>
              <a:t>Our project is totally devoted to last person of the society.</a:t>
            </a:r>
          </a:p>
          <a:p>
            <a:endParaRPr lang="en-US" sz="2400" dirty="0" smtClean="0">
              <a:effectLst>
                <a:outerShdw blurRad="38100" dist="38100" dir="2700000" algn="tl">
                  <a:srgbClr val="000000">
                    <a:alpha val="43137"/>
                  </a:srgbClr>
                </a:outerShdw>
              </a:effectLst>
              <a:latin typeface="Times New Roman" pitchFamily="18" charset="0"/>
              <a:cs typeface="Times New Roman" pitchFamily="18" charset="0"/>
            </a:endParaRPr>
          </a:p>
          <a:p>
            <a:pPr marL="285750" indent="-285750">
              <a:buFont typeface="Wingdings" pitchFamily="2" charset="2"/>
              <a:buChar char="ü"/>
            </a:pPr>
            <a:r>
              <a:rPr lang="en-US" sz="2400" dirty="0" smtClean="0">
                <a:effectLst>
                  <a:outerShdw blurRad="38100" dist="38100" dir="2700000" algn="tl">
                    <a:srgbClr val="000000">
                      <a:alpha val="43137"/>
                    </a:srgbClr>
                  </a:outerShdw>
                </a:effectLst>
                <a:latin typeface="Times New Roman" pitchFamily="18" charset="0"/>
                <a:cs typeface="Times New Roman" pitchFamily="18" charset="0"/>
              </a:rPr>
              <a:t>This provides a revolutionary change in cropping field of cereals.</a:t>
            </a:r>
          </a:p>
          <a:p>
            <a:endParaRPr lang="en-US" sz="2400" dirty="0" smtClean="0">
              <a:effectLst>
                <a:outerShdw blurRad="38100" dist="38100" dir="2700000" algn="tl">
                  <a:srgbClr val="000000">
                    <a:alpha val="43137"/>
                  </a:srgbClr>
                </a:outerShdw>
              </a:effectLst>
              <a:latin typeface="Times New Roman" pitchFamily="18" charset="0"/>
              <a:cs typeface="Times New Roman" pitchFamily="18" charset="0"/>
            </a:endParaRPr>
          </a:p>
          <a:p>
            <a:pPr marL="285750" indent="-285750">
              <a:buFont typeface="Wingdings" pitchFamily="2" charset="2"/>
              <a:buChar char="ü"/>
            </a:pPr>
            <a:r>
              <a:rPr lang="en-US" sz="2400" dirty="0" smtClean="0">
                <a:effectLst>
                  <a:outerShdw blurRad="38100" dist="38100" dir="2700000" algn="tl">
                    <a:srgbClr val="000000">
                      <a:alpha val="43137"/>
                    </a:srgbClr>
                  </a:outerShdw>
                </a:effectLst>
                <a:latin typeface="Times New Roman" pitchFamily="18" charset="0"/>
                <a:cs typeface="Times New Roman" pitchFamily="18" charset="0"/>
              </a:rPr>
              <a:t>In cropping of cereals it helps to get better results In farming. </a:t>
            </a:r>
          </a:p>
          <a:p>
            <a:endParaRPr lang="en-US" sz="2400"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C2C1A6A0-3F2F-4BAF-B319-837518E4456F}" type="slidenum">
              <a:rPr lang="en-US" smtClean="0"/>
              <a:pPr/>
              <a:t>21</a:t>
            </a:fld>
            <a:endParaRPr lang="en-US"/>
          </a:p>
        </p:txBody>
      </p:sp>
    </p:spTree>
    <p:extLst>
      <p:ext uri="{BB962C8B-B14F-4D97-AF65-F5344CB8AC3E}">
        <p14:creationId xmlns:p14="http://schemas.microsoft.com/office/powerpoint/2010/main" xmlns="" val="2018163987"/>
      </p:ext>
    </p:extLst>
  </p:cSld>
  <p:clrMapOvr>
    <a:masterClrMapping/>
  </p:clrMapOvr>
  <p:transition>
    <p:randomBa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71472" y="0"/>
            <a:ext cx="8001056" cy="1077218"/>
          </a:xfrm>
          <a:prstGeom prst="rect">
            <a:avLst/>
          </a:prstGeom>
        </p:spPr>
        <p:txBody>
          <a:bodyPr wrap="square">
            <a:spAutoFit/>
          </a:bodyPr>
          <a:lstStyle/>
          <a:p>
            <a:pPr algn="ctr"/>
            <a:r>
              <a:rPr lang="en-US" sz="3200" b="1" dirty="0" smtClean="0">
                <a:effectLst>
                  <a:outerShdw blurRad="38100" dist="38100" dir="2700000" algn="tl">
                    <a:srgbClr val="000000">
                      <a:alpha val="43137"/>
                    </a:srgbClr>
                  </a:outerShdw>
                </a:effectLst>
                <a:latin typeface="Times New Roman" pitchFamily="18" charset="0"/>
                <a:cs typeface="Times New Roman" pitchFamily="18" charset="0"/>
              </a:rPr>
              <a:t>METHODOLOGY FOR DIELECTRIC MEASUREMENT</a:t>
            </a:r>
            <a:endParaRPr lang="en-US" sz="3200" dirty="0">
              <a:effectLst>
                <a:outerShdw blurRad="38100" dist="38100" dir="2700000" algn="tl">
                  <a:srgbClr val="000000">
                    <a:alpha val="43137"/>
                  </a:srgbClr>
                </a:outerShdw>
              </a:effectLst>
            </a:endParaRPr>
          </a:p>
        </p:txBody>
      </p:sp>
      <p:sp>
        <p:nvSpPr>
          <p:cNvPr id="3" name="Rectangle 2"/>
          <p:cNvSpPr/>
          <p:nvPr/>
        </p:nvSpPr>
        <p:spPr>
          <a:xfrm>
            <a:off x="214282" y="1041023"/>
            <a:ext cx="8643998" cy="5816977"/>
          </a:xfrm>
          <a:prstGeom prst="rect">
            <a:avLst/>
          </a:prstGeom>
        </p:spPr>
        <p:txBody>
          <a:bodyPr wrap="square">
            <a:spAutoFit/>
          </a:bodyPr>
          <a:lstStyle/>
          <a:p>
            <a:pPr>
              <a:buFont typeface="Arial" pitchFamily="34" charset="0"/>
              <a:buChar char="•"/>
            </a:pPr>
            <a:r>
              <a:rPr lang="en-US" dirty="0" smtClean="0"/>
              <a:t> </a:t>
            </a:r>
            <a:r>
              <a:rPr lang="en-US" sz="2400" dirty="0" smtClean="0">
                <a:latin typeface="Times New Roman" pitchFamily="18" charset="0"/>
                <a:cs typeface="Times New Roman" pitchFamily="18" charset="0"/>
              </a:rPr>
              <a:t>The choice of method of measurement depend upon many factors such as  the physical properties including shape and size of the sample, temperature ,humidity and field of measurement.</a:t>
            </a:r>
          </a:p>
          <a:p>
            <a:pPr>
              <a:buFont typeface="Arial" pitchFamily="34" charset="0"/>
              <a:buChar char="•"/>
            </a:pPr>
            <a:endParaRPr lang="en-US" sz="2400" dirty="0" smtClean="0">
              <a:latin typeface="Times New Roman" pitchFamily="18" charset="0"/>
              <a:cs typeface="Times New Roman" pitchFamily="18" charset="0"/>
            </a:endParaRPr>
          </a:p>
          <a:p>
            <a:pPr>
              <a:buFont typeface="Arial" pitchFamily="34" charset="0"/>
              <a:buChar char="•"/>
            </a:pPr>
            <a:r>
              <a:rPr lang="en-US" sz="2400" dirty="0" smtClean="0">
                <a:latin typeface="Times New Roman" pitchFamily="18" charset="0"/>
                <a:cs typeface="Times New Roman" pitchFamily="18" charset="0"/>
              </a:rPr>
              <a:t> There are basically four methods of   dielectric constant measurement at microwave frequencies .They are as follows :-</a:t>
            </a:r>
          </a:p>
          <a:p>
            <a:endParaRPr lang="en-US" sz="2400" dirty="0" smtClean="0">
              <a:latin typeface="Times New Roman" pitchFamily="18" charset="0"/>
              <a:cs typeface="Times New Roman" pitchFamily="18" charset="0"/>
            </a:endParaRPr>
          </a:p>
          <a:p>
            <a:pPr>
              <a:buFont typeface="Wingdings" pitchFamily="2" charset="2"/>
              <a:buChar char="v"/>
            </a:pPr>
            <a:r>
              <a:rPr lang="en-US" sz="2400" dirty="0" smtClean="0">
                <a:latin typeface="Times New Roman" pitchFamily="18" charset="0"/>
                <a:cs typeface="Times New Roman" pitchFamily="18" charset="0"/>
              </a:rPr>
              <a:t>Transmission Line Method</a:t>
            </a:r>
            <a:endParaRPr lang="en-IN" sz="2400" dirty="0" smtClean="0">
              <a:latin typeface="Times New Roman" pitchFamily="18" charset="0"/>
              <a:cs typeface="Times New Roman" pitchFamily="18" charset="0"/>
            </a:endParaRPr>
          </a:p>
          <a:p>
            <a:pPr>
              <a:buFont typeface="Wingdings" pitchFamily="2" charset="2"/>
              <a:buChar char="v"/>
            </a:pPr>
            <a:endParaRPr lang="en-US" sz="2400" dirty="0" smtClean="0">
              <a:latin typeface="Times New Roman" pitchFamily="18" charset="0"/>
              <a:cs typeface="Times New Roman" pitchFamily="18" charset="0"/>
            </a:endParaRPr>
          </a:p>
          <a:p>
            <a:pPr>
              <a:buFont typeface="Wingdings" pitchFamily="2" charset="2"/>
              <a:buChar char="v"/>
            </a:pPr>
            <a:r>
              <a:rPr lang="en-US" sz="2400" dirty="0" smtClean="0">
                <a:latin typeface="Times New Roman" pitchFamily="18" charset="0"/>
                <a:cs typeface="Times New Roman" pitchFamily="18" charset="0"/>
              </a:rPr>
              <a:t>Cavity Method</a:t>
            </a:r>
            <a:endParaRPr lang="en-IN" sz="2400" dirty="0" smtClean="0">
              <a:latin typeface="Times New Roman" pitchFamily="18" charset="0"/>
              <a:cs typeface="Times New Roman" pitchFamily="18" charset="0"/>
            </a:endParaRPr>
          </a:p>
          <a:p>
            <a:pPr>
              <a:buFont typeface="Wingdings" pitchFamily="2" charset="2"/>
              <a:buChar char="v"/>
            </a:pPr>
            <a:endParaRPr lang="en-US" sz="2400" dirty="0" smtClean="0">
              <a:latin typeface="Times New Roman" pitchFamily="18" charset="0"/>
              <a:cs typeface="Times New Roman" pitchFamily="18" charset="0"/>
            </a:endParaRPr>
          </a:p>
          <a:p>
            <a:pPr>
              <a:buFont typeface="Wingdings" pitchFamily="2" charset="2"/>
              <a:buChar char="v"/>
            </a:pPr>
            <a:r>
              <a:rPr lang="en-US" sz="2400" dirty="0" smtClean="0">
                <a:latin typeface="Times New Roman" pitchFamily="18" charset="0"/>
                <a:cs typeface="Times New Roman" pitchFamily="18" charset="0"/>
              </a:rPr>
              <a:t>Free Space Method</a:t>
            </a:r>
          </a:p>
          <a:p>
            <a:pPr>
              <a:buFont typeface="Wingdings" pitchFamily="2" charset="2"/>
              <a:buChar char="v"/>
            </a:pPr>
            <a:endParaRPr lang="en-US" sz="2400" dirty="0" smtClean="0">
              <a:latin typeface="Times New Roman" pitchFamily="18" charset="0"/>
              <a:cs typeface="Times New Roman" pitchFamily="18" charset="0"/>
            </a:endParaRPr>
          </a:p>
          <a:p>
            <a:pPr marL="0" lvl="5">
              <a:buFont typeface="Wingdings" pitchFamily="2" charset="2"/>
              <a:buChar char="v"/>
            </a:pPr>
            <a:r>
              <a:rPr lang="en-US" sz="2400" dirty="0" smtClean="0">
                <a:latin typeface="Times New Roman" pitchFamily="18" charset="0"/>
                <a:cs typeface="Times New Roman" pitchFamily="18" charset="0"/>
              </a:rPr>
              <a:t>Waveguide Cell Method</a:t>
            </a:r>
            <a:endParaRPr lang="en-IN" sz="2400" dirty="0" smtClean="0">
              <a:latin typeface="Times New Roman" pitchFamily="18" charset="0"/>
              <a:cs typeface="Times New Roman" pitchFamily="18" charset="0"/>
            </a:endParaRPr>
          </a:p>
          <a:p>
            <a:pPr>
              <a:buFont typeface="Wingdings" pitchFamily="2" charset="2"/>
              <a:buChar char="v"/>
            </a:pPr>
            <a:endParaRPr lang="en-IN" dirty="0" smtClean="0"/>
          </a:p>
          <a:p>
            <a:pPr>
              <a:buFont typeface="Wingdings" pitchFamily="2" charset="2"/>
              <a:buChar char="v"/>
            </a:pPr>
            <a:endParaRPr lang="en-US" dirty="0" smtClean="0"/>
          </a:p>
        </p:txBody>
      </p:sp>
      <p:sp>
        <p:nvSpPr>
          <p:cNvPr id="4" name="Slide Number Placeholder 3"/>
          <p:cNvSpPr>
            <a:spLocks noGrp="1"/>
          </p:cNvSpPr>
          <p:nvPr>
            <p:ph type="sldNum" sz="quarter" idx="12"/>
          </p:nvPr>
        </p:nvSpPr>
        <p:spPr/>
        <p:txBody>
          <a:bodyPr/>
          <a:lstStyle/>
          <a:p>
            <a:fld id="{C2C1A6A0-3F2F-4BAF-B319-837518E4456F}" type="slidenum">
              <a:rPr lang="en-US" smtClean="0"/>
              <a:pPr/>
              <a:t>22</a:t>
            </a:fld>
            <a:endParaRPr 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14546" y="0"/>
            <a:ext cx="4929747" cy="646331"/>
          </a:xfrm>
          <a:prstGeom prst="rect">
            <a:avLst/>
          </a:prstGeom>
        </p:spPr>
        <p:txBody>
          <a:bodyPr wrap="none">
            <a:spAutoFit/>
          </a:bodyPr>
          <a:lstStyle/>
          <a:p>
            <a:r>
              <a:rPr lang="en-US" sz="3600" b="1" dirty="0" smtClean="0">
                <a:effectLst>
                  <a:outerShdw blurRad="38100" dist="38100" dir="2700000" algn="tl">
                    <a:srgbClr val="000000">
                      <a:alpha val="43137"/>
                    </a:srgbClr>
                  </a:outerShdw>
                </a:effectLst>
                <a:latin typeface="Times New Roman" pitchFamily="18" charset="0"/>
                <a:cs typeface="Times New Roman" pitchFamily="18" charset="0"/>
              </a:rPr>
              <a:t>Waveguide Cell Method</a:t>
            </a:r>
            <a:endParaRPr lang="en-US" sz="3600"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Rectangle 2"/>
          <p:cNvSpPr/>
          <p:nvPr/>
        </p:nvSpPr>
        <p:spPr>
          <a:xfrm>
            <a:off x="428596" y="1259175"/>
            <a:ext cx="8072494" cy="3970318"/>
          </a:xfrm>
          <a:prstGeom prst="rect">
            <a:avLst/>
          </a:prstGeom>
        </p:spPr>
        <p:txBody>
          <a:bodyPr wrap="square">
            <a:spAutoFit/>
          </a:bodyPr>
          <a:lstStyle/>
          <a:p>
            <a:pPr marL="457200" lvl="0" indent="-457200" algn="just">
              <a:spcBef>
                <a:spcPts val="1800"/>
              </a:spcBef>
              <a:buSzPct val="80000"/>
              <a:buFont typeface="Wingdings" pitchFamily="2" charset="2"/>
              <a:buChar char=""/>
              <a:defRPr/>
            </a:pPr>
            <a:r>
              <a:rPr lang="en-IN" sz="2400" dirty="0" smtClean="0">
                <a:latin typeface="Times New Roman" pitchFamily="18" charset="0"/>
                <a:cs typeface="Times New Roman" pitchFamily="18" charset="0"/>
              </a:rPr>
              <a:t>This method too gives data for a wide range ranging from 500MHz-110GHz. Using waveguide of different dimension.</a:t>
            </a:r>
          </a:p>
          <a:p>
            <a:pPr marL="457200" lvl="0" indent="-457200" algn="just">
              <a:spcBef>
                <a:spcPts val="1800"/>
              </a:spcBef>
              <a:buSzPct val="80000"/>
              <a:buFont typeface="Wingdings" pitchFamily="2" charset="2"/>
              <a:buChar char=""/>
              <a:defRPr/>
            </a:pPr>
            <a:r>
              <a:rPr lang="en-IN" sz="2400" dirty="0" smtClean="0">
                <a:latin typeface="Times New Roman" pitchFamily="18" charset="0"/>
                <a:cs typeface="Times New Roman" pitchFamily="18" charset="0"/>
              </a:rPr>
              <a:t>Sample preparation is required.</a:t>
            </a:r>
          </a:p>
          <a:p>
            <a:pPr marL="457200" lvl="0" indent="-457200" algn="just">
              <a:spcBef>
                <a:spcPts val="1800"/>
              </a:spcBef>
              <a:buSzPct val="80000"/>
              <a:buFont typeface="Wingdings" pitchFamily="2" charset="2"/>
              <a:buChar char=""/>
              <a:defRPr/>
            </a:pPr>
            <a:r>
              <a:rPr lang="en-IN" sz="2400" dirty="0" smtClean="0">
                <a:latin typeface="Times New Roman" pitchFamily="18" charset="0"/>
                <a:cs typeface="Times New Roman" pitchFamily="18" charset="0"/>
              </a:rPr>
              <a:t>Easy to use and its analysis can be done manually as well as with the help of software.</a:t>
            </a:r>
          </a:p>
          <a:p>
            <a:pPr marL="457200" lvl="0" indent="-457200" algn="just">
              <a:spcBef>
                <a:spcPts val="1800"/>
              </a:spcBef>
              <a:buSzPct val="80000"/>
              <a:buFont typeface="Wingdings" pitchFamily="2" charset="2"/>
              <a:buChar char=""/>
              <a:defRPr/>
            </a:pPr>
            <a:r>
              <a:rPr lang="en-IN" sz="2400" dirty="0" smtClean="0">
                <a:latin typeface="Times New Roman" pitchFamily="18" charset="0"/>
                <a:cs typeface="Times New Roman" pitchFamily="18" charset="0"/>
              </a:rPr>
              <a:t>Proper design make it possible to use for solids, liquid and semi-liquids.</a:t>
            </a:r>
          </a:p>
          <a:p>
            <a:pPr marL="457200" lvl="0" indent="-457200" algn="just">
              <a:spcBef>
                <a:spcPts val="1800"/>
              </a:spcBef>
              <a:buClr>
                <a:schemeClr val="tx1"/>
              </a:buClr>
              <a:buSzPct val="80000"/>
              <a:buFont typeface="Wingdings" pitchFamily="2" charset="2"/>
              <a:buChar char=""/>
              <a:defRPr/>
            </a:pPr>
            <a:r>
              <a:rPr lang="en-IN" sz="2400" dirty="0" smtClean="0">
                <a:latin typeface="Times New Roman" pitchFamily="18" charset="0"/>
                <a:cs typeface="Times New Roman" pitchFamily="18" charset="0"/>
              </a:rPr>
              <a:t>Time consuming method  but very much authentic.</a:t>
            </a:r>
          </a:p>
        </p:txBody>
      </p:sp>
      <p:sp>
        <p:nvSpPr>
          <p:cNvPr id="4" name="Slide Number Placeholder 3"/>
          <p:cNvSpPr>
            <a:spLocks noGrp="1"/>
          </p:cNvSpPr>
          <p:nvPr>
            <p:ph type="sldNum" sz="quarter" idx="12"/>
          </p:nvPr>
        </p:nvSpPr>
        <p:spPr/>
        <p:txBody>
          <a:bodyPr/>
          <a:lstStyle/>
          <a:p>
            <a:fld id="{C2C1A6A0-3F2F-4BAF-B319-837518E4456F}" type="slidenum">
              <a:rPr lang="en-US" smtClean="0"/>
              <a:pPr/>
              <a:t>23</a:t>
            </a:fld>
            <a:endParaRPr 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8" descr="http://t0.gstatic.com/images?q=tbn:ANd9GcR3jV7wfrYl3oqrjYoCpHq0symczv_PmpUXp9fb3Nf3Kw_4ab1F"/>
          <p:cNvPicPr>
            <a:picLocks noChangeAspect="1" noChangeArrowheads="1"/>
          </p:cNvPicPr>
          <p:nvPr/>
        </p:nvPicPr>
        <p:blipFill>
          <a:blip r:embed="rId2"/>
          <a:srcRect/>
          <a:stretch>
            <a:fillRect/>
          </a:stretch>
        </p:blipFill>
        <p:spPr bwMode="auto">
          <a:xfrm>
            <a:off x="357158" y="3071810"/>
            <a:ext cx="4143372" cy="2786082"/>
          </a:xfrm>
          <a:prstGeom prst="rect">
            <a:avLst/>
          </a:prstGeom>
          <a:noFill/>
        </p:spPr>
      </p:pic>
      <p:pic>
        <p:nvPicPr>
          <p:cNvPr id="3" name="Picture 2" descr="http://t0.gstatic.com/images?q=tbn:ANd9GcRP8hwFGWASBhLamPylFf3n1v2RcfgVVulGN-2sinob22J3axXc"/>
          <p:cNvPicPr>
            <a:picLocks noChangeAspect="1" noChangeArrowheads="1"/>
          </p:cNvPicPr>
          <p:nvPr/>
        </p:nvPicPr>
        <p:blipFill>
          <a:blip r:embed="rId3"/>
          <a:srcRect/>
          <a:stretch>
            <a:fillRect/>
          </a:stretch>
        </p:blipFill>
        <p:spPr bwMode="auto">
          <a:xfrm>
            <a:off x="4572000" y="3000372"/>
            <a:ext cx="4357718" cy="2857520"/>
          </a:xfrm>
          <a:prstGeom prst="rect">
            <a:avLst/>
          </a:prstGeom>
          <a:noFill/>
        </p:spPr>
      </p:pic>
      <p:sp>
        <p:nvSpPr>
          <p:cNvPr id="5" name="Rectangle 4"/>
          <p:cNvSpPr/>
          <p:nvPr/>
        </p:nvSpPr>
        <p:spPr>
          <a:xfrm>
            <a:off x="571472" y="357166"/>
            <a:ext cx="8072494" cy="6232475"/>
          </a:xfrm>
          <a:prstGeom prst="rect">
            <a:avLst/>
          </a:prstGeom>
        </p:spPr>
        <p:txBody>
          <a:bodyPr wrap="square">
            <a:spAutoFit/>
          </a:bodyPr>
          <a:lstStyle/>
          <a:p>
            <a:pPr marL="457200" lvl="0" indent="-457200" algn="just">
              <a:spcBef>
                <a:spcPts val="1800"/>
              </a:spcBef>
              <a:buClr>
                <a:schemeClr val="tx1"/>
              </a:buClr>
              <a:buSzPct val="80000"/>
              <a:buFont typeface="Wingdings" pitchFamily="2" charset="2"/>
              <a:buChar char=""/>
              <a:defRPr/>
            </a:pPr>
            <a:r>
              <a:rPr lang="en-IN" sz="2400" dirty="0" smtClean="0">
                <a:latin typeface="Times New Roman" pitchFamily="18" charset="0"/>
                <a:cs typeface="Times New Roman" pitchFamily="18" charset="0"/>
              </a:rPr>
              <a:t>Equipments cost is very low.</a:t>
            </a:r>
          </a:p>
          <a:p>
            <a:pPr marL="457200" lvl="0" indent="-457200" algn="just">
              <a:spcBef>
                <a:spcPts val="1800"/>
              </a:spcBef>
              <a:buClr>
                <a:schemeClr val="tx1"/>
              </a:buClr>
              <a:buSzPct val="80000"/>
              <a:buFont typeface="Wingdings" pitchFamily="2" charset="2"/>
              <a:buChar char=""/>
              <a:defRPr/>
            </a:pPr>
            <a:r>
              <a:rPr lang="en-IN" sz="2400" dirty="0" smtClean="0">
                <a:latin typeface="Times New Roman" pitchFamily="18" charset="0"/>
                <a:cs typeface="Times New Roman" pitchFamily="18" charset="0"/>
              </a:rPr>
              <a:t>Accuracy lies between that of </a:t>
            </a:r>
            <a:r>
              <a:rPr lang="en-IN" sz="2400" b="1" dirty="0" smtClean="0">
                <a:latin typeface="Times New Roman" pitchFamily="18" charset="0"/>
                <a:cs typeface="Times New Roman" pitchFamily="18" charset="0"/>
              </a:rPr>
              <a:t>Spectrum analyzer </a:t>
            </a:r>
            <a:r>
              <a:rPr lang="en-IN" sz="2400" dirty="0" smtClean="0">
                <a:latin typeface="Times New Roman" pitchFamily="18" charset="0"/>
                <a:cs typeface="Times New Roman" pitchFamily="18" charset="0"/>
              </a:rPr>
              <a:t>and cavity method.</a:t>
            </a:r>
          </a:p>
          <a:p>
            <a:pPr marL="457200" lvl="0" indent="-457200" algn="just">
              <a:spcBef>
                <a:spcPts val="1800"/>
              </a:spcBef>
              <a:buClr>
                <a:schemeClr val="tx1"/>
              </a:buClr>
              <a:buSzPct val="80000"/>
              <a:buFont typeface="Wingdings" pitchFamily="2" charset="2"/>
              <a:buChar char=""/>
              <a:defRPr/>
            </a:pPr>
            <a:r>
              <a:rPr lang="en-IN" sz="2400" dirty="0" smtClean="0">
                <a:latin typeface="Times New Roman" pitchFamily="18" charset="0"/>
                <a:cs typeface="Times New Roman" pitchFamily="18" charset="0"/>
              </a:rPr>
              <a:t>Limited skill is necessary.</a:t>
            </a:r>
          </a:p>
          <a:p>
            <a:pPr marL="457200" lvl="0" indent="-457200" algn="just">
              <a:spcBef>
                <a:spcPts val="1800"/>
              </a:spcBef>
              <a:buClr>
                <a:schemeClr val="tx1"/>
              </a:buClr>
              <a:buSzPct val="80000"/>
              <a:buFont typeface="Wingdings" pitchFamily="2" charset="2"/>
              <a:buChar char=""/>
              <a:defRPr/>
            </a:pPr>
            <a:endParaRPr lang="en-IN" sz="2400" dirty="0" smtClean="0">
              <a:latin typeface="Times New Roman" pitchFamily="18" charset="0"/>
              <a:cs typeface="Times New Roman" pitchFamily="18" charset="0"/>
            </a:endParaRPr>
          </a:p>
          <a:p>
            <a:pPr marL="457200" lvl="0" indent="-457200" algn="just">
              <a:spcBef>
                <a:spcPts val="1800"/>
              </a:spcBef>
              <a:buClr>
                <a:schemeClr val="tx1"/>
              </a:buClr>
              <a:buSzPct val="80000"/>
              <a:buFont typeface="Wingdings" pitchFamily="2" charset="2"/>
              <a:buChar char=""/>
              <a:defRPr/>
            </a:pPr>
            <a:endParaRPr lang="en-IN" sz="2400" dirty="0" smtClean="0">
              <a:latin typeface="Times New Roman" pitchFamily="18" charset="0"/>
              <a:cs typeface="Times New Roman" pitchFamily="18" charset="0"/>
            </a:endParaRPr>
          </a:p>
          <a:p>
            <a:pPr marL="457200" lvl="0" indent="-457200" algn="just">
              <a:spcBef>
                <a:spcPts val="1800"/>
              </a:spcBef>
              <a:buClr>
                <a:schemeClr val="tx1"/>
              </a:buClr>
              <a:buSzPct val="80000"/>
              <a:buFont typeface="Wingdings" pitchFamily="2" charset="2"/>
              <a:buChar char=""/>
              <a:defRPr/>
            </a:pPr>
            <a:endParaRPr lang="en-IN" sz="2400" dirty="0" smtClean="0">
              <a:latin typeface="Times New Roman" pitchFamily="18" charset="0"/>
              <a:cs typeface="Times New Roman" pitchFamily="18" charset="0"/>
            </a:endParaRPr>
          </a:p>
          <a:p>
            <a:pPr marL="457200" lvl="0" indent="-457200" algn="just">
              <a:spcBef>
                <a:spcPts val="1800"/>
              </a:spcBef>
              <a:buClr>
                <a:schemeClr val="tx1"/>
              </a:buClr>
              <a:buSzPct val="80000"/>
              <a:buFont typeface="Wingdings" pitchFamily="2" charset="2"/>
              <a:buChar char=""/>
              <a:defRPr/>
            </a:pPr>
            <a:endParaRPr lang="en-IN" sz="2400" dirty="0" smtClean="0">
              <a:latin typeface="Times New Roman" pitchFamily="18" charset="0"/>
              <a:cs typeface="Times New Roman" pitchFamily="18" charset="0"/>
            </a:endParaRPr>
          </a:p>
          <a:p>
            <a:pPr marL="457200" lvl="0" indent="-457200" algn="just">
              <a:spcBef>
                <a:spcPts val="1800"/>
              </a:spcBef>
              <a:buClr>
                <a:schemeClr val="tx1"/>
              </a:buClr>
              <a:buSzPct val="80000"/>
              <a:buFont typeface="Wingdings" pitchFamily="2" charset="2"/>
              <a:buChar char=""/>
              <a:defRPr/>
            </a:pPr>
            <a:endParaRPr lang="en-IN" sz="2400" dirty="0" smtClean="0">
              <a:latin typeface="Times New Roman" pitchFamily="18" charset="0"/>
              <a:cs typeface="Times New Roman" pitchFamily="18" charset="0"/>
            </a:endParaRPr>
          </a:p>
          <a:p>
            <a:pPr marL="457200" lvl="0" indent="-457200" algn="just">
              <a:spcBef>
                <a:spcPts val="1800"/>
              </a:spcBef>
              <a:buClr>
                <a:schemeClr val="tx1"/>
              </a:buClr>
              <a:buSzPct val="80000"/>
              <a:buFont typeface="Wingdings" pitchFamily="2" charset="2"/>
              <a:buChar char=""/>
              <a:defRPr/>
            </a:pPr>
            <a:endParaRPr lang="en-IN" sz="2400" dirty="0" smtClean="0">
              <a:latin typeface="Times New Roman" pitchFamily="18" charset="0"/>
              <a:cs typeface="Times New Roman" pitchFamily="18" charset="0"/>
            </a:endParaRPr>
          </a:p>
          <a:p>
            <a:pPr marL="457200" lvl="0" indent="-457200" algn="just">
              <a:spcBef>
                <a:spcPts val="1800"/>
              </a:spcBef>
              <a:buClr>
                <a:schemeClr val="tx1"/>
              </a:buClr>
              <a:buSzPct val="80000"/>
              <a:defRPr/>
            </a:pPr>
            <a:r>
              <a:rPr lang="en-IN" sz="2400" dirty="0" smtClean="0">
                <a:latin typeface="Times New Roman" pitchFamily="18" charset="0"/>
                <a:cs typeface="Times New Roman" pitchFamily="18" charset="0"/>
              </a:rPr>
              <a:t>     Slotted line section                            Variable Attenuator</a:t>
            </a:r>
          </a:p>
        </p:txBody>
      </p:sp>
      <p:sp>
        <p:nvSpPr>
          <p:cNvPr id="6" name="Slide Number Placeholder 5"/>
          <p:cNvSpPr>
            <a:spLocks noGrp="1"/>
          </p:cNvSpPr>
          <p:nvPr>
            <p:ph type="sldNum" sz="quarter" idx="12"/>
          </p:nvPr>
        </p:nvSpPr>
        <p:spPr/>
        <p:txBody>
          <a:bodyPr/>
          <a:lstStyle/>
          <a:p>
            <a:fld id="{C2C1A6A0-3F2F-4BAF-B319-837518E4456F}" type="slidenum">
              <a:rPr lang="en-US" smtClean="0"/>
              <a:pPr/>
              <a:t>24</a:t>
            </a:fld>
            <a:endParaRPr 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srcRect/>
          <a:stretch>
            <a:fillRect/>
          </a:stretch>
        </p:blipFill>
        <p:spPr bwMode="auto">
          <a:xfrm>
            <a:off x="357158" y="1142984"/>
            <a:ext cx="7743852" cy="5500702"/>
          </a:xfrm>
          <a:prstGeom prst="rect">
            <a:avLst/>
          </a:prstGeom>
          <a:noFill/>
          <a:ln w="9525">
            <a:noFill/>
            <a:miter lim="800000"/>
            <a:headEnd/>
            <a:tailEnd/>
          </a:ln>
          <a:effectLst/>
        </p:spPr>
      </p:pic>
      <p:sp>
        <p:nvSpPr>
          <p:cNvPr id="3" name="Title 2"/>
          <p:cNvSpPr>
            <a:spLocks noGrp="1"/>
          </p:cNvSpPr>
          <p:nvPr>
            <p:ph type="title"/>
          </p:nvPr>
        </p:nvSpPr>
        <p:spPr>
          <a:xfrm>
            <a:off x="285720" y="0"/>
            <a:ext cx="8686800" cy="1143000"/>
          </a:xfrm>
        </p:spPr>
        <p:txBody>
          <a:bodyPr/>
          <a:lstStyle/>
          <a:p>
            <a:pPr algn="ctr"/>
            <a:r>
              <a:rPr lang="en-US" b="1" dirty="0" smtClean="0">
                <a:solidFill>
                  <a:schemeClr val="tx1"/>
                </a:solidFill>
                <a:effectLst>
                  <a:outerShdw blurRad="38100" dist="38100" dir="2700000" algn="tl">
                    <a:srgbClr val="000000">
                      <a:alpha val="43137"/>
                    </a:srgbClr>
                  </a:outerShdw>
                </a:effectLst>
              </a:rPr>
              <a:t>BLOCK DIAGRAM FOR EXPERIMENTAL SETUP</a:t>
            </a:r>
            <a:endParaRPr lang="en-US" b="1" dirty="0">
              <a:solidFill>
                <a:schemeClr val="tx1"/>
              </a:solidFill>
              <a:effectLst>
                <a:outerShdw blurRad="38100" dist="38100" dir="2700000" algn="tl">
                  <a:srgbClr val="000000">
                    <a:alpha val="43137"/>
                  </a:srgbClr>
                </a:outerShdw>
              </a:effectLst>
            </a:endParaRPr>
          </a:p>
        </p:txBody>
      </p:sp>
      <p:sp>
        <p:nvSpPr>
          <p:cNvPr id="4" name="Slide Number Placeholder 3"/>
          <p:cNvSpPr>
            <a:spLocks noGrp="1"/>
          </p:cNvSpPr>
          <p:nvPr>
            <p:ph type="sldNum" sz="quarter" idx="11"/>
          </p:nvPr>
        </p:nvSpPr>
        <p:spPr/>
        <p:txBody>
          <a:bodyPr/>
          <a:lstStyle/>
          <a:p>
            <a:fld id="{C2C1A6A0-3F2F-4BAF-B319-837518E4456F}" type="slidenum">
              <a:rPr lang="en-US" smtClean="0"/>
              <a:pPr/>
              <a:t>25</a:t>
            </a:fld>
            <a:endParaRPr 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G:\IMG_1453.jpg"/>
          <p:cNvPicPr/>
          <p:nvPr/>
        </p:nvPicPr>
        <p:blipFill>
          <a:blip r:embed="rId2" cstate="print"/>
          <a:srcRect/>
          <a:stretch>
            <a:fillRect/>
          </a:stretch>
        </p:blipFill>
        <p:spPr bwMode="auto">
          <a:xfrm>
            <a:off x="2928926" y="1285860"/>
            <a:ext cx="5863221" cy="5357850"/>
          </a:xfrm>
          <a:prstGeom prst="rect">
            <a:avLst/>
          </a:prstGeom>
          <a:noFill/>
          <a:ln w="9525">
            <a:noFill/>
            <a:miter lim="800000"/>
            <a:headEnd/>
            <a:tailEnd/>
          </a:ln>
        </p:spPr>
      </p:pic>
      <p:sp>
        <p:nvSpPr>
          <p:cNvPr id="6" name="Rectangle 5"/>
          <p:cNvSpPr/>
          <p:nvPr/>
        </p:nvSpPr>
        <p:spPr>
          <a:xfrm>
            <a:off x="285720" y="357166"/>
            <a:ext cx="8215370" cy="584775"/>
          </a:xfrm>
          <a:prstGeom prst="rect">
            <a:avLst/>
          </a:prstGeom>
          <a:noFill/>
        </p:spPr>
        <p:txBody>
          <a:bodyPr wrap="square" lIns="91440" tIns="45720" rIns="91440" bIns="45720">
            <a:spAutoFit/>
          </a:bodyPr>
          <a:lstStyle/>
          <a:p>
            <a:pPr algn="ctr"/>
            <a:r>
              <a:rPr kumimoji="0" lang="en-US" sz="3200" b="1" i="0" u="none" strike="noStrike" cap="none" spc="0" normalizeH="0" baseline="0" dirty="0" smtClean="0">
                <a:ln w="10541" cmpd="sng">
                  <a:solidFill>
                    <a:srgbClr val="7D7D7D">
                      <a:tint val="100000"/>
                      <a:shade val="100000"/>
                      <a:satMod val="110000"/>
                    </a:srgbClr>
                  </a:solidFill>
                  <a:prstDash val="solid"/>
                </a:ln>
                <a:effectLst>
                  <a:outerShdw blurRad="38100" dist="38100" dir="2700000" algn="tl">
                    <a:srgbClr val="000000">
                      <a:alpha val="43137"/>
                    </a:srgbClr>
                  </a:outerShdw>
                </a:effectLst>
                <a:latin typeface="Times New Roman" pitchFamily="18" charset="0"/>
                <a:ea typeface="Calibri" pitchFamily="34" charset="0"/>
                <a:cs typeface="Times New Roman" pitchFamily="18" charset="0"/>
              </a:rPr>
              <a:t>MEASUREMENT FOR CEREALS </a:t>
            </a:r>
            <a:endParaRPr lang="en-US" sz="3200" b="1" cap="none" spc="0" dirty="0">
              <a:ln w="10541" cmpd="sng">
                <a:solidFill>
                  <a:srgbClr val="7D7D7D">
                    <a:tint val="100000"/>
                    <a:shade val="100000"/>
                    <a:satMod val="110000"/>
                  </a:srgbClr>
                </a:solidFill>
                <a:prstDash val="solid"/>
              </a:ln>
              <a:effectLst>
                <a:outerShdw blurRad="38100" dist="38100" dir="2700000" algn="tl">
                  <a:srgbClr val="000000">
                    <a:alpha val="43137"/>
                  </a:srgbClr>
                </a:outerShdw>
              </a:effectLst>
            </a:endParaRPr>
          </a:p>
        </p:txBody>
      </p:sp>
      <p:graphicFrame>
        <p:nvGraphicFramePr>
          <p:cNvPr id="8" name="Diagram 7"/>
          <p:cNvGraphicFramePr/>
          <p:nvPr/>
        </p:nvGraphicFramePr>
        <p:xfrm>
          <a:off x="0" y="1785926"/>
          <a:ext cx="2857488" cy="27860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Slide Number Placeholder 6"/>
          <p:cNvSpPr>
            <a:spLocks noGrp="1"/>
          </p:cNvSpPr>
          <p:nvPr>
            <p:ph type="sldNum" sz="quarter" idx="12"/>
          </p:nvPr>
        </p:nvSpPr>
        <p:spPr/>
        <p:txBody>
          <a:bodyPr/>
          <a:lstStyle/>
          <a:p>
            <a:fld id="{C2C1A6A0-3F2F-4BAF-B319-837518E4456F}" type="slidenum">
              <a:rPr lang="en-US" smtClean="0"/>
              <a:pPr/>
              <a:t>26</a:t>
            </a:fld>
            <a:endParaRPr lang="en-US"/>
          </a:p>
        </p:txBody>
      </p:sp>
    </p:spTree>
  </p:cSld>
  <p:clrMapOvr>
    <a:masterClrMapping/>
  </p:clrMapOvr>
  <p:transition>
    <p:cove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28596" y="285728"/>
            <a:ext cx="8143932" cy="2308324"/>
          </a:xfrm>
          <a:prstGeom prst="rect">
            <a:avLst/>
          </a:prstGeom>
        </p:spPr>
        <p:txBody>
          <a:bodyPr wrap="square">
            <a:spAutoFit/>
          </a:bodyPr>
          <a:lstStyle/>
          <a:p>
            <a:pPr lvl="0" algn="ctr" fontAlgn="base">
              <a:spcBef>
                <a:spcPct val="0"/>
              </a:spcBef>
              <a:spcAft>
                <a:spcPct val="0"/>
              </a:spcAft>
            </a:pPr>
            <a:r>
              <a:rPr lang="en-US" sz="3600" b="1" u="sng" dirty="0" smtClean="0">
                <a:effectLst>
                  <a:outerShdw blurRad="38100" dist="38100" dir="2700000" algn="tl">
                    <a:srgbClr val="000000">
                      <a:alpha val="43137"/>
                    </a:srgbClr>
                  </a:outerShdw>
                </a:effectLst>
                <a:latin typeface="Times New Roman" pitchFamily="18" charset="0"/>
                <a:ea typeface="Calibri" pitchFamily="34" charset="0"/>
                <a:cs typeface="Times New Roman" pitchFamily="18" charset="0"/>
              </a:rPr>
              <a:t>Methodology</a:t>
            </a:r>
            <a:endParaRPr lang="en-US" sz="2400" dirty="0" smtClean="0">
              <a:latin typeface="Times New Roman" pitchFamily="18" charset="0"/>
              <a:ea typeface="Calibri" pitchFamily="34" charset="0"/>
              <a:cs typeface="Times New Roman" pitchFamily="18" charset="0"/>
            </a:endParaRPr>
          </a:p>
          <a:p>
            <a:pPr lvl="0" algn="ctr" fontAlgn="base">
              <a:spcBef>
                <a:spcPct val="0"/>
              </a:spcBef>
              <a:spcAft>
                <a:spcPct val="0"/>
              </a:spcAft>
            </a:pPr>
            <a:endParaRPr lang="en-US" sz="3600" b="1" dirty="0" smtClean="0">
              <a:effectLst>
                <a:outerShdw blurRad="38100" dist="38100" dir="2700000" algn="tl">
                  <a:srgbClr val="000000">
                    <a:alpha val="43137"/>
                  </a:srgbClr>
                </a:outerShdw>
              </a:effectLst>
              <a:latin typeface="Times New Roman" pitchFamily="18" charset="0"/>
              <a:cs typeface="Times New Roman" pitchFamily="18" charset="0"/>
            </a:endParaRPr>
          </a:p>
          <a:p>
            <a:pPr lvl="0" algn="just" eaLnBrk="0" fontAlgn="base" hangingPunct="0">
              <a:spcBef>
                <a:spcPct val="0"/>
              </a:spcBef>
              <a:spcAft>
                <a:spcPct val="0"/>
              </a:spcAft>
              <a:buFontTx/>
              <a:buChar char="•"/>
            </a:pPr>
            <a:r>
              <a:rPr lang="en-US" sz="2400" b="1" u="sng" dirty="0" smtClean="0">
                <a:latin typeface="Times New Roman" pitchFamily="18" charset="0"/>
                <a:ea typeface="Calibri" pitchFamily="34" charset="0"/>
                <a:cs typeface="Times New Roman" pitchFamily="18" charset="0"/>
              </a:rPr>
              <a:t>Dielectric Constant:-</a:t>
            </a:r>
            <a:r>
              <a:rPr lang="en-US" sz="2400" dirty="0" smtClean="0">
                <a:latin typeface="Times New Roman" pitchFamily="18" charset="0"/>
                <a:ea typeface="Calibri" pitchFamily="34" charset="0"/>
                <a:cs typeface="Times New Roman" pitchFamily="18" charset="0"/>
              </a:rPr>
              <a:t> In lossy materials, the conductivity is zero, i.e. the material is a poor conductor of electricity and the material is called dielectric material. </a:t>
            </a:r>
            <a:endParaRPr lang="en-US" sz="2400" dirty="0" smtClean="0">
              <a:latin typeface="Times New Roman" pitchFamily="18" charset="0"/>
              <a:cs typeface="Times New Roman" pitchFamily="18" charset="0"/>
            </a:endParaRPr>
          </a:p>
        </p:txBody>
      </p:sp>
      <p:sp>
        <p:nvSpPr>
          <p:cNvPr id="3" name="Rectangle 2"/>
          <p:cNvSpPr/>
          <p:nvPr/>
        </p:nvSpPr>
        <p:spPr>
          <a:xfrm>
            <a:off x="428596" y="2786058"/>
            <a:ext cx="8001056" cy="1938992"/>
          </a:xfrm>
          <a:prstGeom prst="rect">
            <a:avLst/>
          </a:prstGeom>
        </p:spPr>
        <p:txBody>
          <a:bodyPr wrap="square">
            <a:spAutoFit/>
          </a:bodyPr>
          <a:lstStyle/>
          <a:p>
            <a:pPr lvl="0" algn="just" eaLnBrk="0" fontAlgn="base" hangingPunct="0">
              <a:spcBef>
                <a:spcPct val="0"/>
              </a:spcBef>
              <a:spcAft>
                <a:spcPct val="0"/>
              </a:spcAft>
              <a:buFontTx/>
              <a:buChar char="•"/>
            </a:pPr>
            <a:r>
              <a:rPr lang="en-US" sz="2400" dirty="0" smtClean="0">
                <a:latin typeface="Times New Roman" pitchFamily="18" charset="0"/>
                <a:ea typeface="Calibri" pitchFamily="34" charset="0"/>
                <a:cs typeface="Times New Roman" pitchFamily="18" charset="0"/>
              </a:rPr>
              <a:t>The dielectric constant can be defined as the extent to which the substance concentrates the electrostatic lines of flux. </a:t>
            </a:r>
            <a:r>
              <a:rPr lang="en-US" sz="2400" dirty="0" smtClean="0">
                <a:latin typeface="Times New Roman" pitchFamily="18" charset="0"/>
                <a:ea typeface="Calibri" pitchFamily="34" charset="0"/>
                <a:cs typeface="Times New Roman" pitchFamily="18" charset="0"/>
              </a:rPr>
              <a:t>It </a:t>
            </a:r>
            <a:r>
              <a:rPr lang="en-US" sz="2400" dirty="0" smtClean="0">
                <a:latin typeface="Times New Roman" pitchFamily="18" charset="0"/>
                <a:ea typeface="Calibri" pitchFamily="34" charset="0"/>
                <a:cs typeface="Times New Roman" pitchFamily="18" charset="0"/>
              </a:rPr>
              <a:t>specifies the relative permittivity of a material. </a:t>
            </a:r>
            <a:endParaRPr lang="en-US" sz="2400" dirty="0" smtClean="0">
              <a:latin typeface="Times New Roman" pitchFamily="18" charset="0"/>
              <a:ea typeface="Calibri" pitchFamily="34" charset="0"/>
              <a:cs typeface="Times New Roman" pitchFamily="18" charset="0"/>
            </a:endParaRPr>
          </a:p>
          <a:p>
            <a:pPr lvl="0" algn="just" eaLnBrk="0" fontAlgn="base" hangingPunct="0">
              <a:spcBef>
                <a:spcPct val="0"/>
              </a:spcBef>
              <a:spcAft>
                <a:spcPct val="0"/>
              </a:spcAft>
              <a:buFontTx/>
              <a:buChar char="•"/>
            </a:pPr>
            <a:r>
              <a:rPr lang="en-US" sz="2400" b="1" dirty="0" smtClean="0">
                <a:latin typeface="Times New Roman" pitchFamily="18" charset="0"/>
                <a:ea typeface="Calibri" pitchFamily="34" charset="0"/>
                <a:cs typeface="Times New Roman" pitchFamily="18" charset="0"/>
              </a:rPr>
              <a:t>Relative </a:t>
            </a:r>
            <a:r>
              <a:rPr lang="en-US" sz="2400" b="1" dirty="0" smtClean="0">
                <a:latin typeface="Times New Roman" pitchFamily="18" charset="0"/>
                <a:ea typeface="Calibri" pitchFamily="34" charset="0"/>
                <a:cs typeface="Times New Roman" pitchFamily="18" charset="0"/>
              </a:rPr>
              <a:t>permittivity</a:t>
            </a:r>
            <a:r>
              <a:rPr lang="en-US" sz="2400" dirty="0" smtClean="0">
                <a:latin typeface="Times New Roman" pitchFamily="18" charset="0"/>
                <a:ea typeface="Calibri" pitchFamily="34" charset="0"/>
                <a:cs typeface="Times New Roman" pitchFamily="18" charset="0"/>
              </a:rPr>
              <a:t> is the permittivity of the material with respect to free space.</a:t>
            </a:r>
          </a:p>
        </p:txBody>
      </p:sp>
      <p:sp>
        <p:nvSpPr>
          <p:cNvPr id="4" name="Rectangle 3"/>
          <p:cNvSpPr/>
          <p:nvPr/>
        </p:nvSpPr>
        <p:spPr>
          <a:xfrm>
            <a:off x="428596" y="4929198"/>
            <a:ext cx="7643866" cy="10715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eaLnBrk="0" fontAlgn="base" hangingPunct="0">
              <a:spcBef>
                <a:spcPct val="0"/>
              </a:spcBef>
              <a:spcAft>
                <a:spcPct val="0"/>
              </a:spcAft>
            </a:pPr>
            <a:r>
              <a:rPr lang="en-US" sz="2000" b="1" dirty="0" smtClean="0">
                <a:ea typeface="Calibri" pitchFamily="34" charset="0"/>
                <a:cs typeface="Times New Roman" pitchFamily="18" charset="0"/>
              </a:rPr>
              <a:t>Relative permittivity (ε</a:t>
            </a:r>
            <a:r>
              <a:rPr lang="en-US" sz="2000" b="1" baseline="-30000" dirty="0" smtClean="0">
                <a:ea typeface="Calibri" pitchFamily="34" charset="0"/>
                <a:cs typeface="Times New Roman" pitchFamily="18" charset="0"/>
              </a:rPr>
              <a:t>r</a:t>
            </a:r>
            <a:r>
              <a:rPr lang="en-US" sz="2000" b="1" dirty="0" smtClean="0">
                <a:ea typeface="Calibri" pitchFamily="34" charset="0"/>
                <a:cs typeface="Times New Roman" pitchFamily="18" charset="0"/>
              </a:rPr>
              <a:t>)=permittivity of material (ε) /    permittivity of free space (</a:t>
            </a:r>
            <a:r>
              <a:rPr lang="en-US" sz="2000" b="1" dirty="0" err="1" smtClean="0">
                <a:ea typeface="Calibri" pitchFamily="34" charset="0"/>
                <a:cs typeface="Times New Roman" pitchFamily="18" charset="0"/>
              </a:rPr>
              <a:t>ε</a:t>
            </a:r>
            <a:r>
              <a:rPr lang="en-US" sz="2000" b="1" baseline="-30000" dirty="0" err="1" smtClean="0">
                <a:ea typeface="Calibri" pitchFamily="34" charset="0"/>
                <a:cs typeface="Times New Roman" pitchFamily="18" charset="0"/>
              </a:rPr>
              <a:t>o</a:t>
            </a:r>
            <a:r>
              <a:rPr lang="en-US" sz="2000" b="1" dirty="0" smtClean="0">
                <a:ea typeface="Calibri" pitchFamily="34" charset="0"/>
                <a:cs typeface="Times New Roman" pitchFamily="18" charset="0"/>
              </a:rPr>
              <a:t>)</a:t>
            </a:r>
          </a:p>
        </p:txBody>
      </p:sp>
      <p:sp>
        <p:nvSpPr>
          <p:cNvPr id="5" name="Slide Number Placeholder 4"/>
          <p:cNvSpPr>
            <a:spLocks noGrp="1"/>
          </p:cNvSpPr>
          <p:nvPr>
            <p:ph type="sldNum" sz="quarter" idx="12"/>
          </p:nvPr>
        </p:nvSpPr>
        <p:spPr/>
        <p:txBody>
          <a:bodyPr/>
          <a:lstStyle/>
          <a:p>
            <a:fld id="{C2C1A6A0-3F2F-4BAF-B319-837518E4456F}" type="slidenum">
              <a:rPr lang="en-US" smtClean="0"/>
              <a:pPr/>
              <a:t>27</a:t>
            </a:fld>
            <a:endParaRPr lang="en-US"/>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7158" y="357166"/>
            <a:ext cx="8786842" cy="3108543"/>
          </a:xfrm>
          <a:prstGeom prst="rect">
            <a:avLst/>
          </a:prstGeom>
        </p:spPr>
        <p:txBody>
          <a:bodyPr wrap="square">
            <a:spAutoFit/>
          </a:bodyPr>
          <a:lstStyle/>
          <a:p>
            <a:pPr algn="ctr"/>
            <a:r>
              <a:rPr lang="en-US" sz="4000" b="1" u="sng" dirty="0" smtClean="0">
                <a:effectLst>
                  <a:outerShdw blurRad="38100" dist="38100" dir="2700000" algn="tl">
                    <a:srgbClr val="000000">
                      <a:alpha val="43137"/>
                    </a:srgbClr>
                  </a:outerShdw>
                </a:effectLst>
                <a:latin typeface="Times New Roman" pitchFamily="18" charset="0"/>
                <a:cs typeface="Times New Roman" pitchFamily="18" charset="0"/>
              </a:rPr>
              <a:t>Preparation of sample</a:t>
            </a:r>
            <a:endParaRPr lang="en-US" sz="4000" b="1" dirty="0" smtClean="0">
              <a:effectLst>
                <a:outerShdw blurRad="38100" dist="38100" dir="2700000" algn="tl">
                  <a:srgbClr val="000000">
                    <a:alpha val="43137"/>
                  </a:srgbClr>
                </a:outerShdw>
              </a:effectLst>
              <a:latin typeface="Times New Roman" pitchFamily="18" charset="0"/>
              <a:cs typeface="Times New Roman" pitchFamily="18" charset="0"/>
            </a:endParaRPr>
          </a:p>
          <a:p>
            <a:pPr algn="ctr"/>
            <a:r>
              <a:rPr lang="en-US" sz="4000" b="1" dirty="0" smtClean="0">
                <a:effectLst>
                  <a:outerShdw blurRad="38100" dist="38100" dir="2700000" algn="tl">
                    <a:srgbClr val="000000">
                      <a:alpha val="43137"/>
                    </a:srgbClr>
                  </a:outerShdw>
                </a:effectLst>
                <a:latin typeface="Times New Roman" pitchFamily="18" charset="0"/>
                <a:cs typeface="Times New Roman" pitchFamily="18" charset="0"/>
              </a:rPr>
              <a:t> </a:t>
            </a:r>
          </a:p>
          <a:p>
            <a:pPr lvl="0">
              <a:buFont typeface="Arial" pitchFamily="34" charset="0"/>
              <a:buChar char="•"/>
            </a:pPr>
            <a:r>
              <a:rPr lang="en-US" sz="2000" b="1" dirty="0" smtClean="0"/>
              <a:t> </a:t>
            </a:r>
            <a:r>
              <a:rPr lang="en-US" sz="2400" b="1" dirty="0" smtClean="0">
                <a:latin typeface="Times New Roman" pitchFamily="18" charset="0"/>
                <a:cs typeface="Times New Roman" pitchFamily="18" charset="0"/>
              </a:rPr>
              <a:t>Preliminary sample- </a:t>
            </a:r>
            <a:r>
              <a:rPr lang="en-US" sz="2400" dirty="0" smtClean="0">
                <a:latin typeface="Times New Roman" pitchFamily="18" charset="0"/>
                <a:cs typeface="Times New Roman" pitchFamily="18" charset="0"/>
              </a:rPr>
              <a:t>Firstly weighted the empty cell.</a:t>
            </a:r>
          </a:p>
          <a:p>
            <a:pPr lvl="0"/>
            <a:r>
              <a:rPr lang="en-US" sz="2400" dirty="0" smtClean="0">
                <a:latin typeface="Times New Roman" pitchFamily="18" charset="0"/>
                <a:cs typeface="Times New Roman" pitchFamily="18" charset="0"/>
              </a:rPr>
              <a:t>Then after take natural sample of each and weighed them before taking measurements.</a:t>
            </a:r>
          </a:p>
          <a:p>
            <a:pPr lvl="0"/>
            <a:endParaRPr lang="en-US" sz="2000" dirty="0" smtClean="0"/>
          </a:p>
          <a:p>
            <a:pPr lvl="0" eaLnBrk="0" fontAlgn="base" hangingPunct="0">
              <a:spcBef>
                <a:spcPct val="0"/>
              </a:spcBef>
              <a:spcAft>
                <a:spcPct val="0"/>
              </a:spcAft>
            </a:pPr>
            <a:endParaRPr lang="en-US" sz="2400" dirty="0" smtClean="0">
              <a:latin typeface="Arial" pitchFamily="34" charset="0"/>
            </a:endParaRPr>
          </a:p>
        </p:txBody>
      </p:sp>
      <p:sp>
        <p:nvSpPr>
          <p:cNvPr id="4" name="Rectangle 3"/>
          <p:cNvSpPr/>
          <p:nvPr/>
        </p:nvSpPr>
        <p:spPr>
          <a:xfrm>
            <a:off x="357158" y="3143248"/>
            <a:ext cx="8001056" cy="1938992"/>
          </a:xfrm>
          <a:prstGeom prst="rect">
            <a:avLst/>
          </a:prstGeom>
        </p:spPr>
        <p:txBody>
          <a:bodyPr wrap="square">
            <a:spAutoFit/>
          </a:bodyPr>
          <a:lstStyle/>
          <a:p>
            <a:pPr lvl="0">
              <a:buFont typeface="Arial" pitchFamily="34" charset="0"/>
              <a:buChar char="•"/>
            </a:pPr>
            <a:r>
              <a:rPr lang="en-US" b="1" dirty="0" smtClean="0"/>
              <a:t> </a:t>
            </a:r>
            <a:r>
              <a:rPr lang="en-US" sz="2400" b="1" dirty="0" smtClean="0">
                <a:latin typeface="Times New Roman" pitchFamily="18" charset="0"/>
                <a:cs typeface="Times New Roman" pitchFamily="18" charset="0"/>
              </a:rPr>
              <a:t>Oven dried sample- </a:t>
            </a:r>
            <a:r>
              <a:rPr lang="en-US" sz="2400" dirty="0" smtClean="0">
                <a:latin typeface="Times New Roman" pitchFamily="18" charset="0"/>
                <a:cs typeface="Times New Roman" pitchFamily="18" charset="0"/>
              </a:rPr>
              <a:t>The samples were firstly oven dried at 110˚C for about 30 minutes.</a:t>
            </a:r>
          </a:p>
          <a:p>
            <a:pPr lvl="0"/>
            <a:r>
              <a:rPr lang="en-US" sz="2400" dirty="0" smtClean="0">
                <a:latin typeface="Times New Roman" pitchFamily="18" charset="0"/>
                <a:cs typeface="Times New Roman" pitchFamily="18" charset="0"/>
              </a:rPr>
              <a:t>Equal amount of oven dried samples were taken for measurements.</a:t>
            </a:r>
          </a:p>
          <a:p>
            <a:pPr lvl="0"/>
            <a:r>
              <a:rPr lang="en-US" sz="2400" dirty="0" smtClean="0">
                <a:latin typeface="Times New Roman" pitchFamily="18" charset="0"/>
                <a:cs typeface="Times New Roman" pitchFamily="18" charset="0"/>
              </a:rPr>
              <a:t>Take weight of each sample after oven dried process. </a:t>
            </a:r>
          </a:p>
        </p:txBody>
      </p:sp>
      <p:sp>
        <p:nvSpPr>
          <p:cNvPr id="5" name="Slide Number Placeholder 4"/>
          <p:cNvSpPr>
            <a:spLocks noGrp="1"/>
          </p:cNvSpPr>
          <p:nvPr>
            <p:ph type="sldNum" sz="quarter" idx="12"/>
          </p:nvPr>
        </p:nvSpPr>
        <p:spPr/>
        <p:txBody>
          <a:bodyPr/>
          <a:lstStyle/>
          <a:p>
            <a:fld id="{C2C1A6A0-3F2F-4BAF-B319-837518E4456F}" type="slidenum">
              <a:rPr lang="en-US" smtClean="0"/>
              <a:pPr/>
              <a:t>28</a:t>
            </a:fld>
            <a:endParaRPr lang="en-US"/>
          </a:p>
        </p:txBody>
      </p:sp>
    </p:spTree>
  </p:cSld>
  <p:clrMapOvr>
    <a:masterClrMapping/>
  </p:clrMapOvr>
  <p:transition>
    <p:wedg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0034" y="857232"/>
            <a:ext cx="8215370" cy="4462760"/>
          </a:xfrm>
          <a:prstGeom prst="rect">
            <a:avLst/>
          </a:prstGeom>
        </p:spPr>
        <p:txBody>
          <a:bodyPr wrap="square">
            <a:spAutoFit/>
          </a:bodyPr>
          <a:lstStyle/>
          <a:p>
            <a:pPr lvl="0"/>
            <a:endParaRPr lang="en-US" sz="2000" dirty="0" smtClean="0"/>
          </a:p>
          <a:p>
            <a:pPr lvl="0">
              <a:buFont typeface="Arial" pitchFamily="34" charset="0"/>
              <a:buChar char="•"/>
            </a:pPr>
            <a:r>
              <a:rPr lang="en-US" sz="2000" b="1" dirty="0" smtClean="0"/>
              <a:t> </a:t>
            </a:r>
            <a:r>
              <a:rPr lang="en-US" sz="2400" b="1" dirty="0" smtClean="0">
                <a:latin typeface="Times New Roman" pitchFamily="18" charset="0"/>
                <a:cs typeface="Times New Roman" pitchFamily="18" charset="0"/>
              </a:rPr>
              <a:t>Saturated sample- </a:t>
            </a:r>
          </a:p>
          <a:p>
            <a:pPr lvl="0">
              <a:buFont typeface="Arial" pitchFamily="34" charset="0"/>
              <a:buChar char="•"/>
            </a:pPr>
            <a:r>
              <a:rPr lang="en-US" sz="2400" dirty="0" smtClean="0">
                <a:latin typeface="Times New Roman" pitchFamily="18" charset="0"/>
                <a:cs typeface="Times New Roman" pitchFamily="18" charset="0"/>
              </a:rPr>
              <a:t>The measured quantity of water was added to the samples using dropper.</a:t>
            </a:r>
          </a:p>
          <a:p>
            <a:pPr>
              <a:buFont typeface="Arial" pitchFamily="34" charset="0"/>
              <a:buChar char="•"/>
            </a:pPr>
            <a:r>
              <a:rPr lang="en-US" sz="2400" dirty="0" smtClean="0">
                <a:latin typeface="Times New Roman" pitchFamily="18" charset="0"/>
                <a:cs typeface="Times New Roman" pitchFamily="18" charset="0"/>
              </a:rPr>
              <a:t>Take weight of each sample after saturation.</a:t>
            </a:r>
          </a:p>
          <a:p>
            <a:pPr>
              <a:buFont typeface="Arial" pitchFamily="34" charset="0"/>
              <a:buChar char="•"/>
            </a:pPr>
            <a:r>
              <a:rPr lang="en-US" sz="2400" dirty="0" smtClean="0">
                <a:latin typeface="Times New Roman" pitchFamily="18" charset="0"/>
                <a:cs typeface="Times New Roman" pitchFamily="18" charset="0"/>
              </a:rPr>
              <a:t>The samples were kept for 24 hours for homogeneous mixing and final settlement.</a:t>
            </a:r>
          </a:p>
          <a:p>
            <a:pPr>
              <a:buFont typeface="Arial" pitchFamily="34" charset="0"/>
              <a:buChar char="•"/>
            </a:pPr>
            <a:r>
              <a:rPr lang="en-US" sz="2400" dirty="0" smtClean="0">
                <a:latin typeface="Times New Roman" pitchFamily="18" charset="0"/>
                <a:cs typeface="Times New Roman" pitchFamily="18" charset="0"/>
              </a:rPr>
              <a:t>The dielectric constant of the samples was then measured at different gravimetric moisture at successive time intervals.</a:t>
            </a:r>
          </a:p>
          <a:p>
            <a:pPr>
              <a:buFont typeface="Arial" pitchFamily="34" charset="0"/>
              <a:buChar char="•"/>
            </a:pPr>
            <a:r>
              <a:rPr lang="en-US" sz="2400" dirty="0" smtClean="0">
                <a:latin typeface="Times New Roman" pitchFamily="18" charset="0"/>
                <a:cs typeface="Times New Roman" pitchFamily="18" charset="0"/>
              </a:rPr>
              <a:t>Weighted each sample also at different gravimetric moisture at successive time intervals.</a:t>
            </a:r>
          </a:p>
          <a:p>
            <a:pPr lvl="0">
              <a:buFont typeface="Arial" pitchFamily="34" charset="0"/>
              <a:buChar char="•"/>
            </a:pPr>
            <a:endParaRPr lang="en-US" sz="2400" dirty="0" smtClean="0">
              <a:latin typeface="Times New Roman" pitchFamily="18" charset="0"/>
              <a:cs typeface="Times New Roman" pitchFamily="18" charset="0"/>
            </a:endParaRPr>
          </a:p>
        </p:txBody>
      </p:sp>
      <p:sp>
        <p:nvSpPr>
          <p:cNvPr id="3" name="Slide Number Placeholder 2"/>
          <p:cNvSpPr>
            <a:spLocks noGrp="1"/>
          </p:cNvSpPr>
          <p:nvPr>
            <p:ph type="sldNum" sz="quarter" idx="12"/>
          </p:nvPr>
        </p:nvSpPr>
        <p:spPr/>
        <p:txBody>
          <a:bodyPr/>
          <a:lstStyle/>
          <a:p>
            <a:fld id="{C2C1A6A0-3F2F-4BAF-B319-837518E4456F}" type="slidenum">
              <a:rPr lang="en-US" smtClean="0"/>
              <a:pPr/>
              <a:t>29</a:t>
            </a:fld>
            <a:endParaRPr lang="en-US"/>
          </a:p>
        </p:txBody>
      </p:sp>
    </p:spTree>
  </p:cSld>
  <p:clrMapOvr>
    <a:masterClrMapping/>
  </p:clrMapOvr>
  <p:transition>
    <p:blinds dir="vert"/>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643042" y="285728"/>
            <a:ext cx="5990743" cy="584775"/>
          </a:xfrm>
          <a:prstGeom prst="rect">
            <a:avLst/>
          </a:prstGeom>
        </p:spPr>
        <p:txBody>
          <a:bodyPr wrap="none">
            <a:spAutoFit/>
          </a:bodyPr>
          <a:lstStyle/>
          <a:p>
            <a:r>
              <a:rPr lang="en-US" sz="3200" b="1" dirty="0" smtClean="0"/>
              <a:t>Description About Samples</a:t>
            </a:r>
            <a:endParaRPr lang="en-US" sz="3200" dirty="0"/>
          </a:p>
        </p:txBody>
      </p:sp>
      <p:sp>
        <p:nvSpPr>
          <p:cNvPr id="4" name="Rectangle 3"/>
          <p:cNvSpPr/>
          <p:nvPr/>
        </p:nvSpPr>
        <p:spPr>
          <a:xfrm>
            <a:off x="642910" y="1000108"/>
            <a:ext cx="6858048" cy="3046988"/>
          </a:xfrm>
          <a:prstGeom prst="rect">
            <a:avLst/>
          </a:prstGeom>
        </p:spPr>
        <p:txBody>
          <a:bodyPr wrap="square">
            <a:spAutoFit/>
          </a:bodyPr>
          <a:lstStyle/>
          <a:p>
            <a:r>
              <a:rPr lang="en-US" sz="2400" dirty="0" smtClean="0"/>
              <a:t>In our project we have taken VSWR  measurement and dielectric measurement  for 5 samples namely :-</a:t>
            </a:r>
          </a:p>
          <a:p>
            <a:r>
              <a:rPr lang="en-US" sz="2400" dirty="0" err="1" smtClean="0"/>
              <a:t>Chana</a:t>
            </a:r>
            <a:r>
              <a:rPr lang="en-US" sz="2400" dirty="0" smtClean="0"/>
              <a:t> </a:t>
            </a:r>
            <a:r>
              <a:rPr lang="en-US" sz="2400" dirty="0" err="1" smtClean="0"/>
              <a:t>dal</a:t>
            </a:r>
            <a:endParaRPr lang="en-US" sz="2400" dirty="0" smtClean="0"/>
          </a:p>
          <a:p>
            <a:r>
              <a:rPr lang="en-US" sz="2400" dirty="0" smtClean="0"/>
              <a:t> </a:t>
            </a:r>
            <a:r>
              <a:rPr lang="en-US" sz="2400" dirty="0" err="1" smtClean="0"/>
              <a:t>Arhar</a:t>
            </a:r>
            <a:r>
              <a:rPr lang="en-US" sz="2400" dirty="0" smtClean="0"/>
              <a:t> </a:t>
            </a:r>
            <a:r>
              <a:rPr lang="en-US" sz="2400" dirty="0" err="1" smtClean="0"/>
              <a:t>dal</a:t>
            </a:r>
            <a:endParaRPr lang="en-US" sz="2400" dirty="0" smtClean="0"/>
          </a:p>
          <a:p>
            <a:r>
              <a:rPr lang="en-US" sz="2400" dirty="0" smtClean="0"/>
              <a:t> </a:t>
            </a:r>
            <a:r>
              <a:rPr lang="en-US" sz="2400" dirty="0" err="1" smtClean="0"/>
              <a:t>Moong</a:t>
            </a:r>
            <a:r>
              <a:rPr lang="en-US" sz="2400" dirty="0" smtClean="0"/>
              <a:t> </a:t>
            </a:r>
            <a:r>
              <a:rPr lang="en-US" sz="2400" dirty="0" err="1" smtClean="0"/>
              <a:t>dal</a:t>
            </a:r>
            <a:endParaRPr lang="en-US" sz="2400" dirty="0" smtClean="0"/>
          </a:p>
          <a:p>
            <a:r>
              <a:rPr lang="en-US" sz="2400" dirty="0" smtClean="0"/>
              <a:t>Wheat and                                        samples </a:t>
            </a:r>
          </a:p>
          <a:p>
            <a:r>
              <a:rPr lang="en-US" sz="2400" dirty="0" smtClean="0"/>
              <a:t>Rice</a:t>
            </a:r>
          </a:p>
        </p:txBody>
      </p:sp>
      <p:pic>
        <p:nvPicPr>
          <p:cNvPr id="5" name="Picture 14" descr="http://t3.gstatic.com/images?q=tbn:ANd9GcRT8cDTH9JDlQKK-oXce99G88RBdlXeACqV3fGJbNrr6NXfSqYEDA"/>
          <p:cNvPicPr>
            <a:picLocks noChangeAspect="1" noChangeArrowheads="1"/>
          </p:cNvPicPr>
          <p:nvPr/>
        </p:nvPicPr>
        <p:blipFill>
          <a:blip r:embed="rId2"/>
          <a:srcRect/>
          <a:stretch>
            <a:fillRect/>
          </a:stretch>
        </p:blipFill>
        <p:spPr bwMode="auto">
          <a:xfrm>
            <a:off x="6929454" y="1928802"/>
            <a:ext cx="1857388" cy="1614486"/>
          </a:xfrm>
          <a:prstGeom prst="rect">
            <a:avLst/>
          </a:prstGeom>
          <a:noFill/>
        </p:spPr>
      </p:pic>
      <p:pic>
        <p:nvPicPr>
          <p:cNvPr id="6" name="Picture 5" descr="http://t2.gstatic.com/images?q=tbn:ANd9GcSrCddCB4ysI7VdNRjvViZI6lzpV9Ndh5r-iGRv9LJMOeV1aQ2y"/>
          <p:cNvPicPr>
            <a:picLocks noChangeAspect="1" noChangeArrowheads="1"/>
          </p:cNvPicPr>
          <p:nvPr/>
        </p:nvPicPr>
        <p:blipFill>
          <a:blip r:embed="rId3"/>
          <a:srcRect/>
          <a:stretch>
            <a:fillRect/>
          </a:stretch>
        </p:blipFill>
        <p:spPr bwMode="auto">
          <a:xfrm>
            <a:off x="3643306" y="2214554"/>
            <a:ext cx="1928826" cy="1643074"/>
          </a:xfrm>
          <a:prstGeom prst="rect">
            <a:avLst/>
          </a:prstGeom>
          <a:noFill/>
        </p:spPr>
      </p:pic>
      <p:pic>
        <p:nvPicPr>
          <p:cNvPr id="7" name="Picture 8" descr="http://t0.gstatic.com/images?q=tbn:ANd9GcSEFK96vzV4rzDwW4kJ5DRUg9mrCSMYbSCCBwHo_svZFPFOXO7OgQ"/>
          <p:cNvPicPr>
            <a:picLocks noChangeAspect="1" noChangeArrowheads="1"/>
          </p:cNvPicPr>
          <p:nvPr/>
        </p:nvPicPr>
        <p:blipFill>
          <a:blip r:embed="rId4"/>
          <a:srcRect/>
          <a:stretch>
            <a:fillRect/>
          </a:stretch>
        </p:blipFill>
        <p:spPr bwMode="auto">
          <a:xfrm>
            <a:off x="6643702" y="3857628"/>
            <a:ext cx="1785950" cy="1500198"/>
          </a:xfrm>
          <a:prstGeom prst="rect">
            <a:avLst/>
          </a:prstGeom>
          <a:noFill/>
        </p:spPr>
      </p:pic>
      <p:pic>
        <p:nvPicPr>
          <p:cNvPr id="8" name="Picture 6" descr="http://t1.gstatic.com/images?q=tbn:ANd9GcRqmMKmu6sJ7GlPVE7808NQ-bM_MUcxkPOVg2IWE8q1-BGAqI9XZQ"/>
          <p:cNvPicPr>
            <a:picLocks noChangeAspect="1" noChangeArrowheads="1"/>
          </p:cNvPicPr>
          <p:nvPr/>
        </p:nvPicPr>
        <p:blipFill>
          <a:blip r:embed="rId5"/>
          <a:srcRect/>
          <a:stretch>
            <a:fillRect/>
          </a:stretch>
        </p:blipFill>
        <p:spPr bwMode="auto">
          <a:xfrm>
            <a:off x="3143240" y="3929066"/>
            <a:ext cx="1643074" cy="1643074"/>
          </a:xfrm>
          <a:prstGeom prst="rect">
            <a:avLst/>
          </a:prstGeom>
          <a:noFill/>
        </p:spPr>
      </p:pic>
      <p:pic>
        <p:nvPicPr>
          <p:cNvPr id="9" name="Picture 10" descr="http://t2.gstatic.com/images?q=tbn:ANd9GcQrc4Cac1LM97KWu-NoadnaiT0junftXs8oP2iTQWm8MI4aMt-6"/>
          <p:cNvPicPr>
            <a:picLocks noChangeAspect="1" noChangeArrowheads="1"/>
          </p:cNvPicPr>
          <p:nvPr/>
        </p:nvPicPr>
        <p:blipFill>
          <a:blip r:embed="rId6"/>
          <a:srcRect/>
          <a:stretch>
            <a:fillRect/>
          </a:stretch>
        </p:blipFill>
        <p:spPr bwMode="auto">
          <a:xfrm>
            <a:off x="4857752" y="5214950"/>
            <a:ext cx="1643074" cy="1428760"/>
          </a:xfrm>
          <a:prstGeom prst="rect">
            <a:avLst/>
          </a:prstGeom>
          <a:noFill/>
        </p:spPr>
      </p:pic>
      <p:sp>
        <p:nvSpPr>
          <p:cNvPr id="10" name="Slide Number Placeholder 9"/>
          <p:cNvSpPr>
            <a:spLocks noGrp="1"/>
          </p:cNvSpPr>
          <p:nvPr>
            <p:ph type="sldNum" sz="quarter" idx="12"/>
          </p:nvPr>
        </p:nvSpPr>
        <p:spPr/>
        <p:txBody>
          <a:bodyPr/>
          <a:lstStyle/>
          <a:p>
            <a:fld id="{C2C1A6A0-3F2F-4BAF-B319-837518E4456F}" type="slidenum">
              <a:rPr lang="en-US" smtClean="0"/>
              <a:pPr/>
              <a:t>30</a:t>
            </a:fld>
            <a:endParaRPr lang="en-US"/>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2910" y="214290"/>
            <a:ext cx="7786742" cy="7294305"/>
          </a:xfrm>
          <a:prstGeom prst="rect">
            <a:avLst/>
          </a:prstGeom>
        </p:spPr>
        <p:txBody>
          <a:bodyPr wrap="square">
            <a:spAutoFit/>
          </a:bodyPr>
          <a:lstStyle/>
          <a:p>
            <a:pPr algn="ctr"/>
            <a:r>
              <a:rPr lang="en-US" sz="3600" b="1" dirty="0" smtClean="0">
                <a:effectLst>
                  <a:outerShdw blurRad="38100" dist="38100" dir="2700000" algn="tl">
                    <a:srgbClr val="000000">
                      <a:alpha val="43137"/>
                    </a:srgbClr>
                  </a:outerShdw>
                </a:effectLst>
                <a:latin typeface="Times New Roman" pitchFamily="18" charset="0"/>
                <a:cs typeface="Times New Roman" pitchFamily="18" charset="0"/>
              </a:rPr>
              <a:t>Analysis of the data</a:t>
            </a:r>
          </a:p>
          <a:p>
            <a:r>
              <a:rPr lang="en-US" sz="2400" dirty="0" smtClean="0">
                <a:latin typeface="Times New Roman" pitchFamily="18" charset="0"/>
                <a:cs typeface="Times New Roman" pitchFamily="18" charset="0"/>
              </a:rPr>
              <a:t>For this experiments the whole procedure is followed for microwave equipments used in microwave bench setup.</a:t>
            </a:r>
          </a:p>
          <a:p>
            <a:endParaRPr lang="en-US" sz="2400" dirty="0" smtClean="0">
              <a:latin typeface="Times New Roman" pitchFamily="18" charset="0"/>
              <a:cs typeface="Times New Roman" pitchFamily="18" charset="0"/>
            </a:endParaRPr>
          </a:p>
          <a:p>
            <a:endParaRPr lang="en-US" sz="2400" dirty="0" smtClean="0">
              <a:latin typeface="Times New Roman" pitchFamily="18" charset="0"/>
              <a:cs typeface="Times New Roman" pitchFamily="18" charset="0"/>
            </a:endParaRPr>
          </a:p>
          <a:p>
            <a:endParaRPr lang="en-US" sz="2400" dirty="0" smtClean="0">
              <a:latin typeface="Times New Roman" pitchFamily="18" charset="0"/>
              <a:cs typeface="Times New Roman" pitchFamily="18" charset="0"/>
            </a:endParaRPr>
          </a:p>
          <a:p>
            <a:endParaRPr lang="en-US" sz="2400" dirty="0" smtClean="0">
              <a:latin typeface="Times New Roman" pitchFamily="18" charset="0"/>
              <a:cs typeface="Times New Roman" pitchFamily="18" charset="0"/>
            </a:endParaRPr>
          </a:p>
          <a:p>
            <a:endParaRPr lang="en-US" sz="2400" dirty="0" smtClean="0">
              <a:latin typeface="Times New Roman" pitchFamily="18" charset="0"/>
              <a:cs typeface="Times New Roman" pitchFamily="18" charset="0"/>
            </a:endParaRPr>
          </a:p>
          <a:p>
            <a:endParaRPr lang="en-US" sz="2400" dirty="0" smtClean="0">
              <a:latin typeface="Times New Roman" pitchFamily="18" charset="0"/>
              <a:cs typeface="Times New Roman" pitchFamily="18" charset="0"/>
            </a:endParaRPr>
          </a:p>
          <a:p>
            <a:endParaRPr lang="en-US" sz="2400" dirty="0" smtClean="0">
              <a:latin typeface="Times New Roman" pitchFamily="18" charset="0"/>
              <a:cs typeface="Times New Roman" pitchFamily="18" charset="0"/>
            </a:endParaRPr>
          </a:p>
          <a:p>
            <a:endParaRPr lang="en-US" sz="2400" dirty="0" smtClean="0">
              <a:latin typeface="Times New Roman" pitchFamily="18" charset="0"/>
              <a:cs typeface="Times New Roman" pitchFamily="18" charset="0"/>
            </a:endParaRPr>
          </a:p>
          <a:p>
            <a:pPr lvl="0" eaLnBrk="0" fontAlgn="base" hangingPunct="0">
              <a:spcBef>
                <a:spcPct val="0"/>
              </a:spcBef>
              <a:spcAft>
                <a:spcPct val="0"/>
              </a:spcAft>
            </a:pPr>
            <a:r>
              <a:rPr lang="en-US" sz="2400" dirty="0" smtClean="0">
                <a:latin typeface="Times New Roman" pitchFamily="18" charset="0"/>
                <a:ea typeface="Calibri" pitchFamily="34" charset="0"/>
                <a:cs typeface="Times New Roman" pitchFamily="18" charset="0"/>
              </a:rPr>
              <a:t>Keep the control knobs of VSWR meter as below:</a:t>
            </a:r>
          </a:p>
          <a:p>
            <a:pPr lvl="1" eaLnBrk="0" fontAlgn="base" hangingPunct="0">
              <a:spcBef>
                <a:spcPct val="0"/>
              </a:spcBef>
              <a:spcAft>
                <a:spcPct val="0"/>
              </a:spcAft>
            </a:pPr>
            <a:r>
              <a:rPr lang="en-US" sz="2400" dirty="0" smtClean="0">
                <a:latin typeface="Times New Roman" pitchFamily="18" charset="0"/>
                <a:ea typeface="Calibri" pitchFamily="34" charset="0"/>
                <a:cs typeface="Times New Roman" pitchFamily="18" charset="0"/>
              </a:rPr>
              <a:t>Range dB                       -   50 dB position</a:t>
            </a:r>
            <a:endParaRPr lang="en-US" sz="2400" dirty="0" smtClean="0">
              <a:latin typeface="Arial" pitchFamily="34" charset="0"/>
              <a:cs typeface="Arial" pitchFamily="34" charset="0"/>
            </a:endParaRPr>
          </a:p>
          <a:p>
            <a:pPr lvl="1" eaLnBrk="0" fontAlgn="base" hangingPunct="0">
              <a:spcBef>
                <a:spcPct val="0"/>
              </a:spcBef>
              <a:spcAft>
                <a:spcPct val="0"/>
              </a:spcAft>
            </a:pPr>
            <a:r>
              <a:rPr lang="en-US" sz="2400" dirty="0" smtClean="0">
                <a:latin typeface="Times New Roman" pitchFamily="18" charset="0"/>
                <a:ea typeface="Calibri" pitchFamily="34" charset="0"/>
                <a:cs typeface="Times New Roman" pitchFamily="18" charset="0"/>
              </a:rPr>
              <a:t>Input switch                   -   low impedance</a:t>
            </a:r>
            <a:endParaRPr lang="en-US" sz="2400" dirty="0" smtClean="0">
              <a:latin typeface="Arial" pitchFamily="34" charset="0"/>
              <a:cs typeface="Arial" pitchFamily="34" charset="0"/>
            </a:endParaRPr>
          </a:p>
          <a:p>
            <a:pPr lvl="1" eaLnBrk="0" fontAlgn="base" hangingPunct="0">
              <a:spcBef>
                <a:spcPct val="0"/>
              </a:spcBef>
              <a:spcAft>
                <a:spcPct val="0"/>
              </a:spcAft>
            </a:pPr>
            <a:r>
              <a:rPr lang="en-US" sz="2400" dirty="0" smtClean="0">
                <a:latin typeface="Times New Roman" pitchFamily="18" charset="0"/>
                <a:ea typeface="Calibri" pitchFamily="34" charset="0"/>
                <a:cs typeface="Times New Roman" pitchFamily="18" charset="0"/>
              </a:rPr>
              <a:t>Meter switch                  -   normal position</a:t>
            </a:r>
            <a:endParaRPr lang="en-US" sz="2400" dirty="0" smtClean="0">
              <a:latin typeface="Arial" pitchFamily="34" charset="0"/>
              <a:cs typeface="Arial" pitchFamily="34" charset="0"/>
            </a:endParaRPr>
          </a:p>
          <a:p>
            <a:pPr lvl="1" eaLnBrk="0" fontAlgn="base" hangingPunct="0">
              <a:spcBef>
                <a:spcPct val="0"/>
              </a:spcBef>
              <a:spcAft>
                <a:spcPct val="0"/>
              </a:spcAft>
            </a:pPr>
            <a:r>
              <a:rPr lang="en-US" sz="2400" dirty="0" smtClean="0">
                <a:latin typeface="Times New Roman" pitchFamily="18" charset="0"/>
                <a:ea typeface="Calibri" pitchFamily="34" charset="0"/>
                <a:cs typeface="Times New Roman" pitchFamily="18" charset="0"/>
              </a:rPr>
              <a:t>Gain (coarse and fine)   -   full clockwise</a:t>
            </a:r>
          </a:p>
          <a:p>
            <a:endParaRPr lang="en-US" sz="2400" dirty="0" smtClean="0">
              <a:latin typeface="Times New Roman" pitchFamily="18" charset="0"/>
              <a:cs typeface="Times New Roman" pitchFamily="18" charset="0"/>
            </a:endParaRPr>
          </a:p>
          <a:p>
            <a:endParaRPr lang="en-US" sz="2400" dirty="0" smtClean="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p:txBody>
      </p:sp>
      <p:graphicFrame>
        <p:nvGraphicFramePr>
          <p:cNvPr id="2050" name="Object 4"/>
          <p:cNvGraphicFramePr>
            <a:graphicFrameLocks noChangeAspect="1"/>
          </p:cNvGraphicFramePr>
          <p:nvPr/>
        </p:nvGraphicFramePr>
        <p:xfrm>
          <a:off x="571472" y="1643050"/>
          <a:ext cx="3286125" cy="2286000"/>
        </p:xfrm>
        <a:graphic>
          <a:graphicData uri="http://schemas.openxmlformats.org/presentationml/2006/ole">
            <p:oleObj spid="_x0000_s2050" name="Picture" r:id="rId3" imgW="2371429" imgH="1628571" progId="StaticMetafile">
              <p:embed/>
            </p:oleObj>
          </a:graphicData>
        </a:graphic>
      </p:graphicFrame>
      <p:sp>
        <p:nvSpPr>
          <p:cNvPr id="4" name="Left Arrow 3"/>
          <p:cNvSpPr/>
          <p:nvPr/>
        </p:nvSpPr>
        <p:spPr>
          <a:xfrm>
            <a:off x="4214810" y="2214554"/>
            <a:ext cx="1928826" cy="857256"/>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p:cNvSpPr/>
          <p:nvPr/>
        </p:nvSpPr>
        <p:spPr>
          <a:xfrm>
            <a:off x="6500826" y="2285992"/>
            <a:ext cx="1428760" cy="830997"/>
          </a:xfrm>
          <a:prstGeom prst="rect">
            <a:avLst/>
          </a:prstGeom>
        </p:spPr>
        <p:txBody>
          <a:bodyPr wrap="square">
            <a:spAutoFit/>
          </a:bodyPr>
          <a:lstStyle/>
          <a:p>
            <a:r>
              <a:rPr lang="en-US" sz="2400" b="1" dirty="0" smtClean="0">
                <a:latin typeface="Times New Roman" pitchFamily="18" charset="0"/>
                <a:cs typeface="Times New Roman" pitchFamily="18" charset="0"/>
              </a:rPr>
              <a:t>VSWR METER</a:t>
            </a:r>
          </a:p>
        </p:txBody>
      </p:sp>
      <p:sp>
        <p:nvSpPr>
          <p:cNvPr id="6" name="Slide Number Placeholder 5"/>
          <p:cNvSpPr>
            <a:spLocks noGrp="1"/>
          </p:cNvSpPr>
          <p:nvPr>
            <p:ph type="sldNum" sz="quarter" idx="12"/>
          </p:nvPr>
        </p:nvSpPr>
        <p:spPr/>
        <p:txBody>
          <a:bodyPr/>
          <a:lstStyle/>
          <a:p>
            <a:fld id="{C2C1A6A0-3F2F-4BAF-B319-837518E4456F}" type="slidenum">
              <a:rPr lang="en-US" smtClean="0"/>
              <a:pPr/>
              <a:t>31</a:t>
            </a:fld>
            <a:endParaRPr lang="en-US"/>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74" name="Object 2"/>
          <p:cNvGraphicFramePr>
            <a:graphicFrameLocks noChangeAspect="1"/>
          </p:cNvGraphicFramePr>
          <p:nvPr/>
        </p:nvGraphicFramePr>
        <p:xfrm>
          <a:off x="214282" y="3500438"/>
          <a:ext cx="3429000" cy="3357562"/>
        </p:xfrm>
        <a:graphic>
          <a:graphicData uri="http://schemas.openxmlformats.org/presentationml/2006/ole">
            <p:oleObj spid="_x0000_s3074" name="Picture" r:id="rId3" imgW="5323810" imgH="4285714" progId="StaticMetafile">
              <p:embed/>
            </p:oleObj>
          </a:graphicData>
        </a:graphic>
      </p:graphicFrame>
      <p:sp>
        <p:nvSpPr>
          <p:cNvPr id="3" name="Left Arrow 2"/>
          <p:cNvSpPr/>
          <p:nvPr/>
        </p:nvSpPr>
        <p:spPr>
          <a:xfrm>
            <a:off x="3929058" y="4357694"/>
            <a:ext cx="1571636" cy="770384"/>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p:cNvSpPr/>
          <p:nvPr/>
        </p:nvSpPr>
        <p:spPr>
          <a:xfrm>
            <a:off x="5572132" y="4500570"/>
            <a:ext cx="2678044" cy="646331"/>
          </a:xfrm>
          <a:prstGeom prst="rect">
            <a:avLst/>
          </a:prstGeom>
        </p:spPr>
        <p:txBody>
          <a:bodyPr wrap="square">
            <a:spAutoFit/>
          </a:bodyPr>
          <a:lstStyle/>
          <a:p>
            <a:pPr algn="ctr"/>
            <a:r>
              <a:rPr lang="en-US" b="1" dirty="0" smtClean="0"/>
              <a:t>GUNN POWER SUPPLY</a:t>
            </a:r>
            <a:endParaRPr lang="en-IN" b="1" dirty="0"/>
          </a:p>
        </p:txBody>
      </p:sp>
      <p:sp>
        <p:nvSpPr>
          <p:cNvPr id="5" name="Rectangle 4"/>
          <p:cNvSpPr/>
          <p:nvPr/>
        </p:nvSpPr>
        <p:spPr>
          <a:xfrm>
            <a:off x="428596" y="428604"/>
            <a:ext cx="7429552" cy="2677656"/>
          </a:xfrm>
          <a:prstGeom prst="rect">
            <a:avLst/>
          </a:prstGeom>
        </p:spPr>
        <p:txBody>
          <a:bodyPr wrap="square">
            <a:spAutoFit/>
          </a:bodyPr>
          <a:lstStyle/>
          <a:p>
            <a:pPr lvl="0" eaLnBrk="0" fontAlgn="base" hangingPunct="0">
              <a:spcBef>
                <a:spcPct val="0"/>
              </a:spcBef>
              <a:spcAft>
                <a:spcPct val="0"/>
              </a:spcAft>
            </a:pPr>
            <a:r>
              <a:rPr lang="en-US" sz="2400" dirty="0" smtClean="0">
                <a:latin typeface="Times New Roman" pitchFamily="18" charset="0"/>
                <a:ea typeface="Calibri" pitchFamily="34" charset="0"/>
                <a:cs typeface="Times New Roman" pitchFamily="18" charset="0"/>
              </a:rPr>
              <a:t>4.Keep the control knob of the power supply as under:</a:t>
            </a:r>
          </a:p>
          <a:p>
            <a:pPr lvl="0" eaLnBrk="0" fontAlgn="base" hangingPunct="0">
              <a:spcBef>
                <a:spcPct val="0"/>
              </a:spcBef>
              <a:spcAft>
                <a:spcPct val="0"/>
              </a:spcAft>
            </a:pPr>
            <a:endParaRPr lang="en-US" sz="2400" dirty="0" smtClean="0">
              <a:latin typeface="Arial" pitchFamily="34" charset="0"/>
              <a:cs typeface="Arial" pitchFamily="34" charset="0"/>
            </a:endParaRPr>
          </a:p>
          <a:p>
            <a:pPr lvl="1" eaLnBrk="0" fontAlgn="base" hangingPunct="0">
              <a:spcBef>
                <a:spcPct val="0"/>
              </a:spcBef>
              <a:spcAft>
                <a:spcPct val="0"/>
              </a:spcAft>
              <a:buFontTx/>
              <a:buAutoNum type="arabicPeriod"/>
            </a:pPr>
            <a:r>
              <a:rPr lang="en-US" sz="2400" dirty="0" smtClean="0">
                <a:latin typeface="Times New Roman" pitchFamily="18" charset="0"/>
                <a:ea typeface="Calibri" pitchFamily="34" charset="0"/>
                <a:cs typeface="Times New Roman" pitchFamily="18" charset="0"/>
              </a:rPr>
              <a:t>Meter switch                 -          (V)</a:t>
            </a:r>
            <a:endParaRPr lang="en-US" sz="2400" dirty="0" smtClean="0">
              <a:latin typeface="Arial" pitchFamily="34" charset="0"/>
              <a:cs typeface="Arial" pitchFamily="34" charset="0"/>
            </a:endParaRPr>
          </a:p>
          <a:p>
            <a:pPr lvl="1" eaLnBrk="0" fontAlgn="base" hangingPunct="0">
              <a:spcBef>
                <a:spcPct val="0"/>
              </a:spcBef>
              <a:spcAft>
                <a:spcPct val="0"/>
              </a:spcAft>
              <a:buFontTx/>
              <a:buAutoNum type="arabicPeriod"/>
            </a:pPr>
            <a:r>
              <a:rPr lang="en-US" sz="2400" dirty="0" smtClean="0">
                <a:latin typeface="Times New Roman" pitchFamily="18" charset="0"/>
                <a:ea typeface="Calibri" pitchFamily="34" charset="0"/>
                <a:cs typeface="Times New Roman" pitchFamily="18" charset="0"/>
              </a:rPr>
              <a:t>Gunn bias knob            -           full anti clockwise</a:t>
            </a:r>
            <a:endParaRPr lang="en-US" sz="2400" dirty="0" smtClean="0">
              <a:latin typeface="Arial" pitchFamily="34" charset="0"/>
              <a:cs typeface="Arial" pitchFamily="34" charset="0"/>
            </a:endParaRPr>
          </a:p>
          <a:p>
            <a:pPr lvl="1" eaLnBrk="0" fontAlgn="base" hangingPunct="0">
              <a:spcBef>
                <a:spcPct val="0"/>
              </a:spcBef>
              <a:spcAft>
                <a:spcPct val="0"/>
              </a:spcAft>
              <a:buFontTx/>
              <a:buAutoNum type="arabicPeriod"/>
            </a:pPr>
            <a:r>
              <a:rPr lang="en-US" sz="2400" dirty="0" smtClean="0">
                <a:latin typeface="Times New Roman" pitchFamily="18" charset="0"/>
                <a:ea typeface="Calibri" pitchFamily="34" charset="0"/>
                <a:cs typeface="Times New Roman" pitchFamily="18" charset="0"/>
              </a:rPr>
              <a:t>Pin bias knob               -            full anti clockwise</a:t>
            </a:r>
            <a:endParaRPr lang="en-US" sz="2400" dirty="0" smtClean="0">
              <a:latin typeface="Arial" pitchFamily="34" charset="0"/>
              <a:cs typeface="Arial" pitchFamily="34" charset="0"/>
            </a:endParaRPr>
          </a:p>
          <a:p>
            <a:pPr lvl="1" eaLnBrk="0" fontAlgn="base" hangingPunct="0">
              <a:spcBef>
                <a:spcPct val="0"/>
              </a:spcBef>
              <a:spcAft>
                <a:spcPct val="0"/>
              </a:spcAft>
              <a:buFontTx/>
              <a:buAutoNum type="arabicPeriod"/>
            </a:pPr>
            <a:r>
              <a:rPr lang="en-US" sz="2400" dirty="0" smtClean="0">
                <a:latin typeface="Times New Roman" pitchFamily="18" charset="0"/>
                <a:ea typeface="Calibri" pitchFamily="34" charset="0"/>
                <a:cs typeface="Times New Roman" pitchFamily="18" charset="0"/>
              </a:rPr>
              <a:t>Switch no. 4                -             INT position</a:t>
            </a:r>
            <a:endParaRPr lang="en-US" sz="2400" dirty="0" smtClean="0">
              <a:latin typeface="Arial" pitchFamily="34" charset="0"/>
              <a:cs typeface="Arial" pitchFamily="34" charset="0"/>
            </a:endParaRPr>
          </a:p>
          <a:p>
            <a:pPr lvl="1" eaLnBrk="0" fontAlgn="base" hangingPunct="0">
              <a:spcBef>
                <a:spcPct val="0"/>
              </a:spcBef>
              <a:spcAft>
                <a:spcPct val="0"/>
              </a:spcAft>
              <a:buFontTx/>
              <a:buAutoNum type="arabicPeriod"/>
            </a:pPr>
            <a:r>
              <a:rPr lang="en-US" sz="2400" dirty="0" smtClean="0">
                <a:latin typeface="Times New Roman" pitchFamily="18" charset="0"/>
                <a:ea typeface="Calibri" pitchFamily="34" charset="0"/>
                <a:cs typeface="Times New Roman" pitchFamily="18" charset="0"/>
              </a:rPr>
              <a:t>Pin mod frequency      -             any position</a:t>
            </a:r>
          </a:p>
        </p:txBody>
      </p:sp>
      <p:sp>
        <p:nvSpPr>
          <p:cNvPr id="6" name="Slide Number Placeholder 5"/>
          <p:cNvSpPr>
            <a:spLocks noGrp="1"/>
          </p:cNvSpPr>
          <p:nvPr>
            <p:ph type="sldNum" sz="quarter" idx="12"/>
          </p:nvPr>
        </p:nvSpPr>
        <p:spPr/>
        <p:txBody>
          <a:bodyPr/>
          <a:lstStyle/>
          <a:p>
            <a:fld id="{C2C1A6A0-3F2F-4BAF-B319-837518E4456F}" type="slidenum">
              <a:rPr lang="en-US" smtClean="0"/>
              <a:pPr/>
              <a:t>32</a:t>
            </a:fld>
            <a:endParaRPr lang="en-US"/>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98" name="Object 2"/>
          <p:cNvGraphicFramePr>
            <a:graphicFrameLocks noChangeAspect="1"/>
          </p:cNvGraphicFramePr>
          <p:nvPr/>
        </p:nvGraphicFramePr>
        <p:xfrm>
          <a:off x="428596" y="3571876"/>
          <a:ext cx="3571875" cy="2357440"/>
        </p:xfrm>
        <a:graphic>
          <a:graphicData uri="http://schemas.openxmlformats.org/presentationml/2006/ole">
            <p:oleObj spid="_x0000_s4098" name="Picture" r:id="rId3" imgW="2381582" imgH="1276190" progId="StaticMetafile">
              <p:embed/>
            </p:oleObj>
          </a:graphicData>
        </a:graphic>
      </p:graphicFrame>
      <p:sp>
        <p:nvSpPr>
          <p:cNvPr id="3" name="Left Arrow 2"/>
          <p:cNvSpPr/>
          <p:nvPr/>
        </p:nvSpPr>
        <p:spPr>
          <a:xfrm>
            <a:off x="4286248" y="4500570"/>
            <a:ext cx="1285884" cy="698946"/>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p:cNvSpPr/>
          <p:nvPr/>
        </p:nvSpPr>
        <p:spPr>
          <a:xfrm>
            <a:off x="4572000" y="4572008"/>
            <a:ext cx="4572000" cy="830997"/>
          </a:xfrm>
          <a:prstGeom prst="rect">
            <a:avLst/>
          </a:prstGeom>
        </p:spPr>
        <p:txBody>
          <a:bodyPr>
            <a:spAutoFit/>
          </a:bodyPr>
          <a:lstStyle/>
          <a:p>
            <a:pPr algn="ctr"/>
            <a:r>
              <a:rPr lang="en-US" sz="2400" b="1" dirty="0" smtClean="0"/>
              <a:t>GUNN </a:t>
            </a:r>
          </a:p>
          <a:p>
            <a:pPr algn="ctr"/>
            <a:r>
              <a:rPr lang="en-US" sz="2400" b="1" dirty="0" smtClean="0"/>
              <a:t>OSCILLATOR</a:t>
            </a:r>
            <a:endParaRPr lang="en-IN" sz="2400" b="1" dirty="0"/>
          </a:p>
        </p:txBody>
      </p:sp>
      <p:sp>
        <p:nvSpPr>
          <p:cNvPr id="5" name="Rectangle 4"/>
          <p:cNvSpPr/>
          <p:nvPr/>
        </p:nvSpPr>
        <p:spPr>
          <a:xfrm>
            <a:off x="428596" y="357166"/>
            <a:ext cx="8215370" cy="830997"/>
          </a:xfrm>
          <a:prstGeom prst="rect">
            <a:avLst/>
          </a:prstGeom>
        </p:spPr>
        <p:txBody>
          <a:bodyPr wrap="square">
            <a:spAutoFit/>
          </a:bodyPr>
          <a:lstStyle/>
          <a:p>
            <a:r>
              <a:rPr lang="en-US" sz="2400" dirty="0" smtClean="0">
                <a:latin typeface="Times New Roman" pitchFamily="18" charset="0"/>
                <a:ea typeface="Calibri" pitchFamily="34" charset="0"/>
                <a:cs typeface="Times New Roman" pitchFamily="18" charset="0"/>
              </a:rPr>
              <a:t>5.Set the micrometer of Gunn oscillator for required frequency of operation.</a:t>
            </a:r>
            <a:endParaRPr lang="en-US" sz="2400" dirty="0"/>
          </a:p>
        </p:txBody>
      </p:sp>
      <p:sp>
        <p:nvSpPr>
          <p:cNvPr id="6" name="Rectangle 5"/>
          <p:cNvSpPr/>
          <p:nvPr/>
        </p:nvSpPr>
        <p:spPr>
          <a:xfrm>
            <a:off x="357158" y="1285860"/>
            <a:ext cx="8358246" cy="830997"/>
          </a:xfrm>
          <a:prstGeom prst="rect">
            <a:avLst/>
          </a:prstGeom>
        </p:spPr>
        <p:txBody>
          <a:bodyPr wrap="square">
            <a:spAutoFit/>
          </a:bodyPr>
          <a:lstStyle/>
          <a:p>
            <a:r>
              <a:rPr lang="en-US" sz="2400" dirty="0" smtClean="0">
                <a:latin typeface="Times New Roman" pitchFamily="18" charset="0"/>
                <a:ea typeface="Calibri" pitchFamily="34" charset="0"/>
                <a:cs typeface="Times New Roman" pitchFamily="18" charset="0"/>
              </a:rPr>
              <a:t>6.Connect the cord of cooling fan to the socket provided at the back of Gunn power supply.</a:t>
            </a:r>
            <a:endParaRPr lang="en-US" sz="2400" dirty="0"/>
          </a:p>
        </p:txBody>
      </p:sp>
      <p:sp>
        <p:nvSpPr>
          <p:cNvPr id="7" name="Rectangle 6"/>
          <p:cNvSpPr/>
          <p:nvPr/>
        </p:nvSpPr>
        <p:spPr>
          <a:xfrm>
            <a:off x="428596" y="2285992"/>
            <a:ext cx="8001056" cy="461665"/>
          </a:xfrm>
          <a:prstGeom prst="rect">
            <a:avLst/>
          </a:prstGeom>
        </p:spPr>
        <p:txBody>
          <a:bodyPr wrap="square">
            <a:spAutoFit/>
          </a:bodyPr>
          <a:lstStyle/>
          <a:p>
            <a:pPr lvl="0" eaLnBrk="0" fontAlgn="base" hangingPunct="0">
              <a:spcBef>
                <a:spcPct val="0"/>
              </a:spcBef>
              <a:spcAft>
                <a:spcPct val="0"/>
              </a:spcAft>
            </a:pPr>
            <a:r>
              <a:rPr lang="en-US" sz="2400" dirty="0" smtClean="0">
                <a:latin typeface="Times New Roman" pitchFamily="18" charset="0"/>
                <a:ea typeface="Calibri" pitchFamily="34" charset="0"/>
                <a:cs typeface="Times New Roman" pitchFamily="18" charset="0"/>
              </a:rPr>
              <a:t>7.Switch on the Gunn power supply and VSWR meter.</a:t>
            </a:r>
          </a:p>
        </p:txBody>
      </p:sp>
      <p:sp>
        <p:nvSpPr>
          <p:cNvPr id="8" name="Slide Number Placeholder 7"/>
          <p:cNvSpPr>
            <a:spLocks noGrp="1"/>
          </p:cNvSpPr>
          <p:nvPr>
            <p:ph type="sldNum" sz="quarter" idx="12"/>
          </p:nvPr>
        </p:nvSpPr>
        <p:spPr/>
        <p:txBody>
          <a:bodyPr/>
          <a:lstStyle/>
          <a:p>
            <a:fld id="{C2C1A6A0-3F2F-4BAF-B319-837518E4456F}" type="slidenum">
              <a:rPr lang="en-US" smtClean="0"/>
              <a:pPr/>
              <a:t>33</a:t>
            </a:fld>
            <a:endParaRPr lang="en-US"/>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28596" y="714356"/>
            <a:ext cx="7858180" cy="3785652"/>
          </a:xfrm>
          <a:prstGeom prst="rect">
            <a:avLst/>
          </a:prstGeom>
        </p:spPr>
        <p:txBody>
          <a:bodyPr wrap="square">
            <a:spAutoFit/>
          </a:bodyPr>
          <a:lstStyle/>
          <a:p>
            <a:pPr lvl="0" eaLnBrk="0" fontAlgn="base" hangingPunct="0">
              <a:spcBef>
                <a:spcPct val="0"/>
              </a:spcBef>
              <a:spcAft>
                <a:spcPct val="0"/>
              </a:spcAft>
            </a:pPr>
            <a:r>
              <a:rPr lang="en-US" sz="2400" dirty="0" smtClean="0">
                <a:latin typeface="Times New Roman" pitchFamily="18" charset="0"/>
                <a:ea typeface="Calibri" pitchFamily="34" charset="0"/>
                <a:cs typeface="Times New Roman" pitchFamily="18" charset="0"/>
              </a:rPr>
              <a:t>8.Increase the Gunn bias control knob on 10V maximum position.</a:t>
            </a:r>
          </a:p>
          <a:p>
            <a:pPr lvl="0" eaLnBrk="0" fontAlgn="base" hangingPunct="0">
              <a:spcBef>
                <a:spcPct val="0"/>
              </a:spcBef>
              <a:spcAft>
                <a:spcPct val="0"/>
              </a:spcAft>
            </a:pPr>
            <a:endParaRPr lang="en-US" sz="2400" dirty="0" smtClean="0">
              <a:latin typeface="Times New Roman" pitchFamily="18" charset="0"/>
              <a:cs typeface="Times New Roman" pitchFamily="18" charset="0"/>
            </a:endParaRPr>
          </a:p>
          <a:p>
            <a:pPr lvl="0" eaLnBrk="0" fontAlgn="base" hangingPunct="0">
              <a:spcBef>
                <a:spcPct val="0"/>
              </a:spcBef>
              <a:spcAft>
                <a:spcPct val="0"/>
              </a:spcAft>
            </a:pPr>
            <a:r>
              <a:rPr lang="en-US" sz="2400" dirty="0" smtClean="0">
                <a:latin typeface="Times New Roman" pitchFamily="18" charset="0"/>
                <a:ea typeface="Calibri" pitchFamily="34" charset="0"/>
                <a:cs typeface="Times New Roman" pitchFamily="18" charset="0"/>
              </a:rPr>
              <a:t>9.Rotate pin bias knob to around maximum position.</a:t>
            </a:r>
          </a:p>
          <a:p>
            <a:pPr lvl="0" eaLnBrk="0" fontAlgn="base" hangingPunct="0">
              <a:spcBef>
                <a:spcPct val="0"/>
              </a:spcBef>
              <a:spcAft>
                <a:spcPct val="0"/>
              </a:spcAft>
            </a:pPr>
            <a:endParaRPr lang="en-US" sz="2400" dirty="0" smtClean="0">
              <a:latin typeface="Times New Roman" pitchFamily="18" charset="0"/>
              <a:cs typeface="Times New Roman" pitchFamily="18" charset="0"/>
            </a:endParaRPr>
          </a:p>
          <a:p>
            <a:pPr lvl="0" eaLnBrk="0" fontAlgn="base" hangingPunct="0">
              <a:spcBef>
                <a:spcPct val="0"/>
              </a:spcBef>
              <a:spcAft>
                <a:spcPct val="0"/>
              </a:spcAft>
            </a:pPr>
            <a:r>
              <a:rPr lang="en-US" sz="2400" dirty="0" smtClean="0">
                <a:latin typeface="Times New Roman" pitchFamily="18" charset="0"/>
                <a:ea typeface="Calibri" pitchFamily="34" charset="0"/>
                <a:cs typeface="Times New Roman" pitchFamily="18" charset="0"/>
              </a:rPr>
              <a:t>10.Tune the maximum output in the VSWR meter through frequency control knob of modulation and tunable probe. </a:t>
            </a:r>
          </a:p>
          <a:p>
            <a:pPr lvl="0" eaLnBrk="0" fontAlgn="base" hangingPunct="0">
              <a:spcBef>
                <a:spcPct val="0"/>
              </a:spcBef>
              <a:spcAft>
                <a:spcPct val="0"/>
              </a:spcAft>
            </a:pPr>
            <a:endParaRPr lang="en-US" sz="2400" dirty="0" smtClean="0">
              <a:latin typeface="Times New Roman" pitchFamily="18" charset="0"/>
              <a:cs typeface="Times New Roman" pitchFamily="18" charset="0"/>
            </a:endParaRPr>
          </a:p>
          <a:p>
            <a:pPr lvl="0" eaLnBrk="0" fontAlgn="base" hangingPunct="0">
              <a:spcBef>
                <a:spcPct val="0"/>
              </a:spcBef>
              <a:spcAft>
                <a:spcPct val="0"/>
              </a:spcAft>
            </a:pPr>
            <a:r>
              <a:rPr lang="en-US" sz="2400" dirty="0" smtClean="0">
                <a:latin typeface="Times New Roman" pitchFamily="18" charset="0"/>
                <a:ea typeface="Calibri" pitchFamily="34" charset="0"/>
                <a:cs typeface="Times New Roman" pitchFamily="18" charset="0"/>
              </a:rPr>
              <a:t>11.If necessary change the range dB switch of VSWR meter to higher or lower dB position.</a:t>
            </a:r>
          </a:p>
        </p:txBody>
      </p:sp>
      <p:sp>
        <p:nvSpPr>
          <p:cNvPr id="3" name="Slide Number Placeholder 2"/>
          <p:cNvSpPr>
            <a:spLocks noGrp="1"/>
          </p:cNvSpPr>
          <p:nvPr>
            <p:ph type="sldNum" sz="quarter" idx="12"/>
          </p:nvPr>
        </p:nvSpPr>
        <p:spPr/>
        <p:txBody>
          <a:bodyPr/>
          <a:lstStyle/>
          <a:p>
            <a:fld id="{C2C1A6A0-3F2F-4BAF-B319-837518E4456F}" type="slidenum">
              <a:rPr lang="en-US" smtClean="0"/>
              <a:pPr/>
              <a:t>34</a:t>
            </a:fld>
            <a:endParaRPr lang="en-US"/>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14546" y="0"/>
            <a:ext cx="4572000" cy="1077218"/>
          </a:xfrm>
          <a:prstGeom prst="rect">
            <a:avLst/>
          </a:prstGeom>
        </p:spPr>
        <p:txBody>
          <a:bodyPr>
            <a:spAutoFit/>
          </a:bodyPr>
          <a:lstStyle/>
          <a:p>
            <a:pPr algn="ctr"/>
            <a:r>
              <a:rPr lang="en-US" sz="3200" b="1" dirty="0" smtClean="0">
                <a:effectLst>
                  <a:outerShdw blurRad="38100" dist="38100" dir="2700000" algn="tl">
                    <a:srgbClr val="000000">
                      <a:alpha val="43137"/>
                    </a:srgbClr>
                  </a:outerShdw>
                </a:effectLst>
                <a:latin typeface="Times New Roman" pitchFamily="18" charset="0"/>
                <a:cs typeface="Times New Roman" pitchFamily="18" charset="0"/>
              </a:rPr>
              <a:t>VSWR measurement using SAMPLES</a:t>
            </a:r>
          </a:p>
        </p:txBody>
      </p:sp>
      <p:sp>
        <p:nvSpPr>
          <p:cNvPr id="3" name="Rectangle 2"/>
          <p:cNvSpPr/>
          <p:nvPr/>
        </p:nvSpPr>
        <p:spPr>
          <a:xfrm>
            <a:off x="500034" y="1285860"/>
            <a:ext cx="7715304" cy="4524315"/>
          </a:xfrm>
          <a:prstGeom prst="rect">
            <a:avLst/>
          </a:prstGeom>
        </p:spPr>
        <p:txBody>
          <a:bodyPr wrap="square">
            <a:spAutoFit/>
          </a:bodyPr>
          <a:lstStyle/>
          <a:p>
            <a:pPr marL="342900" indent="-342900">
              <a:buClrTx/>
              <a:buFont typeface="+mj-lt"/>
              <a:buAutoNum type="arabicPeriod"/>
            </a:pPr>
            <a:r>
              <a:rPr lang="en-US" sz="2400" dirty="0" smtClean="0">
                <a:latin typeface="Times New Roman" pitchFamily="18" charset="0"/>
                <a:cs typeface="Times New Roman" pitchFamily="18" charset="0"/>
              </a:rPr>
              <a:t>With no sample in short circuited  line, find voltage minima position with the help of slotted section and tunable probe. let it be D</a:t>
            </a:r>
            <a:r>
              <a:rPr lang="en-US" sz="2400" baseline="-25000" dirty="0" smtClean="0">
                <a:latin typeface="Times New Roman" pitchFamily="18" charset="0"/>
                <a:cs typeface="Times New Roman" pitchFamily="18" charset="0"/>
              </a:rPr>
              <a:t>R.</a:t>
            </a:r>
          </a:p>
          <a:p>
            <a:pPr marL="342900" indent="-342900">
              <a:buClrTx/>
              <a:buFont typeface="+mj-lt"/>
              <a:buAutoNum type="arabicPeriod"/>
            </a:pPr>
            <a:r>
              <a:rPr lang="en-US" sz="2400" dirty="0" smtClean="0">
                <a:latin typeface="Times New Roman" pitchFamily="18" charset="0"/>
                <a:cs typeface="Times New Roman" pitchFamily="18" charset="0"/>
              </a:rPr>
              <a:t>Measure the guide wavelength (</a:t>
            </a:r>
            <a:r>
              <a:rPr lang="en-US" sz="2400" dirty="0" smtClean="0">
                <a:latin typeface="Times New Roman" pitchFamily="18" charset="0"/>
                <a:cs typeface="Times New Roman" pitchFamily="18" charset="0"/>
                <a:sym typeface="Symbol"/>
              </a:rPr>
              <a:t></a:t>
            </a:r>
            <a:r>
              <a:rPr lang="en-US" sz="2400" baseline="-25000" dirty="0" smtClean="0">
                <a:latin typeface="Times New Roman" pitchFamily="18" charset="0"/>
                <a:cs typeface="Times New Roman" pitchFamily="18" charset="0"/>
                <a:sym typeface="Symbol"/>
              </a:rPr>
              <a:t>g</a:t>
            </a:r>
            <a:r>
              <a:rPr lang="en-US" sz="2400" dirty="0" smtClean="0">
                <a:latin typeface="Times New Roman" pitchFamily="18" charset="0"/>
                <a:cs typeface="Times New Roman" pitchFamily="18" charset="0"/>
                <a:sym typeface="Symbol"/>
              </a:rPr>
              <a:t> ) by measuring the distance between two adjacent minima in the slotted line.</a:t>
            </a:r>
          </a:p>
          <a:p>
            <a:pPr marL="342900" indent="-342900">
              <a:buClrTx/>
              <a:buFont typeface="+mj-lt"/>
              <a:buAutoNum type="arabicPeriod"/>
            </a:pPr>
            <a:r>
              <a:rPr lang="en-US" sz="2400" dirty="0" smtClean="0">
                <a:latin typeface="Times New Roman" pitchFamily="18" charset="0"/>
                <a:cs typeface="Times New Roman" pitchFamily="18" charset="0"/>
                <a:sym typeface="Symbol"/>
              </a:rPr>
              <a:t>Remove the short circuit ,insert the sample  in the short circuited line such that it surface is properly leveled and fitted.</a:t>
            </a:r>
          </a:p>
          <a:p>
            <a:pPr marL="342900" indent="-342900">
              <a:buClrTx/>
              <a:buFont typeface="+mj-lt"/>
              <a:buAutoNum type="arabicPeriod"/>
            </a:pPr>
            <a:r>
              <a:rPr lang="en-US" sz="2400" dirty="0" smtClean="0">
                <a:latin typeface="Times New Roman" pitchFamily="18" charset="0"/>
                <a:cs typeface="Times New Roman" pitchFamily="18" charset="0"/>
                <a:sym typeface="Symbol"/>
              </a:rPr>
              <a:t>Measure D, the position of minima in the slotted line</a:t>
            </a:r>
            <a:r>
              <a:rPr lang="en-IN" sz="2400" dirty="0" smtClean="0">
                <a:latin typeface="Times New Roman" pitchFamily="18" charset="0"/>
                <a:cs typeface="Times New Roman" pitchFamily="18" charset="0"/>
              </a:rPr>
              <a:t> with respect to the reference plane</a:t>
            </a:r>
            <a:r>
              <a:rPr lang="en-US" sz="2400" dirty="0" smtClean="0">
                <a:latin typeface="Times New Roman" pitchFamily="18" charset="0"/>
                <a:cs typeface="Times New Roman" pitchFamily="18" charset="0"/>
                <a:sym typeface="Symbol"/>
              </a:rPr>
              <a:t>.</a:t>
            </a:r>
          </a:p>
          <a:p>
            <a:pPr marL="342900" indent="-342900">
              <a:buClrTx/>
              <a:buFont typeface="+mj-lt"/>
              <a:buAutoNum type="arabicPeriod"/>
            </a:pPr>
            <a:r>
              <a:rPr lang="en-US" sz="2400" dirty="0" smtClean="0">
                <a:latin typeface="Times New Roman" pitchFamily="18" charset="0"/>
                <a:cs typeface="Times New Roman" pitchFamily="18" charset="0"/>
                <a:sym typeface="Symbol"/>
              </a:rPr>
              <a:t>Measure the VSWR in the meter and from the slotted line as discussed in the previous slide.</a:t>
            </a:r>
          </a:p>
        </p:txBody>
      </p:sp>
      <p:sp>
        <p:nvSpPr>
          <p:cNvPr id="4" name="Slide Number Placeholder 3"/>
          <p:cNvSpPr>
            <a:spLocks noGrp="1"/>
          </p:cNvSpPr>
          <p:nvPr>
            <p:ph type="sldNum" sz="quarter" idx="12"/>
          </p:nvPr>
        </p:nvSpPr>
        <p:spPr/>
        <p:txBody>
          <a:bodyPr/>
          <a:lstStyle/>
          <a:p>
            <a:fld id="{C2C1A6A0-3F2F-4BAF-B319-837518E4456F}" type="slidenum">
              <a:rPr lang="en-US" smtClean="0"/>
              <a:pPr/>
              <a:t>35</a:t>
            </a:fld>
            <a:endParaRPr lang="en-US"/>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Rectangle 4"/>
          <p:cNvSpPr>
            <a:spLocks noChangeArrowheads="1"/>
          </p:cNvSpPr>
          <p:nvPr/>
        </p:nvSpPr>
        <p:spPr bwMode="auto">
          <a:xfrm>
            <a:off x="285720" y="0"/>
            <a:ext cx="8501122" cy="686341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171450" algn="l"/>
              </a:tabLst>
            </a:pPr>
            <a:r>
              <a:rPr kumimoji="0" lang="en-US" sz="3200" b="1" i="0" u="none" strike="noStrike" cap="none" normalizeH="0" baseline="0" dirty="0" smtClean="0">
                <a:ln>
                  <a:noFill/>
                </a:ln>
                <a:solidFill>
                  <a:schemeClr val="accent1">
                    <a:lumMod val="75000"/>
                  </a:schemeClr>
                </a:solidFill>
                <a:effectLst>
                  <a:outerShdw blurRad="38100" dist="38100" dir="2700000" algn="tl">
                    <a:srgbClr val="000000">
                      <a:alpha val="43137"/>
                    </a:srgbClr>
                  </a:outerShdw>
                </a:effectLst>
                <a:latin typeface="Times New Roman" pitchFamily="18" charset="0"/>
                <a:ea typeface="Calibri" pitchFamily="34" charset="0"/>
                <a:cs typeface="Times New Roman" pitchFamily="18" charset="0"/>
              </a:rPr>
              <a:t>Mathematical Formulations for dielectric measurement:</a:t>
            </a:r>
          </a:p>
          <a:p>
            <a:pPr marL="0" marR="0" lvl="0" indent="0" algn="l" defTabSz="914400" rtl="0" eaLnBrk="1" fontAlgn="base" latinLnBrk="0" hangingPunct="1">
              <a:lnSpc>
                <a:spcPct val="100000"/>
              </a:lnSpc>
              <a:spcBef>
                <a:spcPct val="0"/>
              </a:spcBef>
              <a:spcAft>
                <a:spcPct val="0"/>
              </a:spcAft>
              <a:buClrTx/>
              <a:buSzTx/>
              <a:buFontTx/>
              <a:buNone/>
              <a:tabLst>
                <a:tab pos="171450" algn="l"/>
              </a:tabLst>
            </a:pPr>
            <a:endParaRPr lang="en-US" sz="2000" dirty="0" smtClean="0">
              <a:ea typeface="Calibri" pitchFamily="34" charset="0"/>
              <a:cs typeface="Times New Roman" pitchFamily="18" charset="0"/>
            </a:endParaRPr>
          </a:p>
          <a:p>
            <a:pPr lvl="0" fontAlgn="base">
              <a:spcBef>
                <a:spcPct val="0"/>
              </a:spcBef>
              <a:spcAft>
                <a:spcPct val="0"/>
              </a:spcAft>
              <a:tabLst>
                <a:tab pos="171450" algn="l"/>
              </a:tabLst>
            </a:pPr>
            <a:r>
              <a:rPr lang="en-US" sz="2400" dirty="0" smtClean="0">
                <a:ea typeface="Calibri" pitchFamily="34" charset="0"/>
                <a:cs typeface="Times New Roman" pitchFamily="18" charset="0"/>
              </a:rPr>
              <a:t>The relevant equations used for determining the dielectric constant in the given frequencies are as follows:-</a:t>
            </a:r>
            <a:endParaRPr lang="en-US" sz="2400" dirty="0" smtClean="0"/>
          </a:p>
          <a:p>
            <a:pPr lvl="0" eaLnBrk="0" fontAlgn="base" hangingPunct="0">
              <a:spcBef>
                <a:spcPct val="0"/>
              </a:spcBef>
              <a:spcAft>
                <a:spcPct val="0"/>
              </a:spcAft>
              <a:tabLst>
                <a:tab pos="171450" algn="l"/>
              </a:tabLst>
            </a:pPr>
            <a:r>
              <a:rPr lang="en-US" sz="2400" dirty="0" smtClean="0">
                <a:ea typeface="Calibri" pitchFamily="34" charset="0"/>
                <a:cs typeface="Times New Roman" pitchFamily="18" charset="0"/>
              </a:rPr>
              <a:t>                           k=2Π/</a:t>
            </a:r>
            <a:r>
              <a:rPr lang="en-US" sz="2400" dirty="0" err="1" smtClean="0">
                <a:ea typeface="Calibri" pitchFamily="34" charset="0"/>
                <a:cs typeface="Times New Roman" pitchFamily="18" charset="0"/>
              </a:rPr>
              <a:t>λ</a:t>
            </a:r>
            <a:r>
              <a:rPr lang="en-US" sz="2400" baseline="-30000" dirty="0" err="1" smtClean="0">
                <a:ea typeface="Calibri" pitchFamily="34" charset="0"/>
                <a:cs typeface="Times New Roman" pitchFamily="18" charset="0"/>
              </a:rPr>
              <a:t>g</a:t>
            </a:r>
            <a:r>
              <a:rPr lang="en-US" sz="2400" dirty="0" smtClean="0">
                <a:ea typeface="Calibri" pitchFamily="34" charset="0"/>
                <a:cs typeface="Times New Roman" pitchFamily="18" charset="0"/>
              </a:rPr>
              <a:t>                                         (1)</a:t>
            </a:r>
            <a:endParaRPr lang="en-US" sz="2400" dirty="0" smtClean="0"/>
          </a:p>
          <a:p>
            <a:pPr lvl="0" eaLnBrk="0" fontAlgn="base" hangingPunct="0">
              <a:spcBef>
                <a:spcPct val="0"/>
              </a:spcBef>
              <a:spcAft>
                <a:spcPct val="0"/>
              </a:spcAft>
              <a:tabLst>
                <a:tab pos="171450" algn="l"/>
              </a:tabLst>
            </a:pPr>
            <a:r>
              <a:rPr lang="en-US" sz="2400" dirty="0" smtClean="0">
                <a:ea typeface="Calibri" pitchFamily="34" charset="0"/>
                <a:cs typeface="Times New Roman" pitchFamily="18" charset="0"/>
              </a:rPr>
              <a:t>where,</a:t>
            </a:r>
            <a:endParaRPr lang="en-US" sz="2400" dirty="0" smtClean="0"/>
          </a:p>
          <a:p>
            <a:pPr lvl="0" eaLnBrk="0" fontAlgn="base" hangingPunct="0">
              <a:spcBef>
                <a:spcPct val="0"/>
              </a:spcBef>
              <a:spcAft>
                <a:spcPct val="0"/>
              </a:spcAft>
              <a:tabLst>
                <a:tab pos="171450" algn="l"/>
              </a:tabLst>
            </a:pPr>
            <a:r>
              <a:rPr lang="en-US" sz="2400" dirty="0" smtClean="0">
                <a:ea typeface="Calibri" pitchFamily="34" charset="0"/>
                <a:cs typeface="Times New Roman" pitchFamily="18" charset="0"/>
              </a:rPr>
              <a:t>     k= Propagation constant</a:t>
            </a:r>
            <a:endParaRPr lang="en-US" sz="2400" dirty="0" smtClean="0"/>
          </a:p>
          <a:p>
            <a:pPr lvl="0" eaLnBrk="0" fontAlgn="base" hangingPunct="0">
              <a:spcBef>
                <a:spcPct val="0"/>
              </a:spcBef>
              <a:spcAft>
                <a:spcPct val="0"/>
              </a:spcAft>
              <a:tabLst>
                <a:tab pos="171450" algn="l"/>
              </a:tabLst>
            </a:pPr>
            <a:r>
              <a:rPr lang="en-US" sz="2400" dirty="0" err="1" smtClean="0">
                <a:ea typeface="Calibri" pitchFamily="34" charset="0"/>
                <a:cs typeface="Times New Roman" pitchFamily="18" charset="0"/>
              </a:rPr>
              <a:t>λg</a:t>
            </a:r>
            <a:r>
              <a:rPr lang="en-US" sz="2400" dirty="0" smtClean="0">
                <a:ea typeface="Calibri" pitchFamily="34" charset="0"/>
                <a:cs typeface="Times New Roman" pitchFamily="18" charset="0"/>
              </a:rPr>
              <a:t> = Guide wavelength</a:t>
            </a:r>
            <a:endParaRPr lang="en-US" sz="2400" dirty="0" smtClean="0"/>
          </a:p>
          <a:p>
            <a:pPr lvl="0" eaLnBrk="0" fontAlgn="base" hangingPunct="0">
              <a:spcBef>
                <a:spcPct val="0"/>
              </a:spcBef>
              <a:spcAft>
                <a:spcPct val="0"/>
              </a:spcAft>
              <a:tabLst>
                <a:tab pos="171450" algn="l"/>
              </a:tabLst>
            </a:pPr>
            <a:r>
              <a:rPr lang="en-US" sz="2400" dirty="0" smtClean="0">
                <a:ea typeface="Calibri" pitchFamily="34" charset="0"/>
                <a:cs typeface="Times New Roman" pitchFamily="18" charset="0"/>
              </a:rPr>
              <a:t>                         φ= 2k (D-Dr-</a:t>
            </a:r>
            <a:r>
              <a:rPr lang="en-US" sz="2400" dirty="0" err="1" smtClean="0">
                <a:ea typeface="Calibri" pitchFamily="34" charset="0"/>
                <a:cs typeface="Times New Roman" pitchFamily="18" charset="0"/>
              </a:rPr>
              <a:t>lε</a:t>
            </a:r>
            <a:r>
              <a:rPr lang="en-US" sz="2400" dirty="0" smtClean="0">
                <a:ea typeface="Calibri" pitchFamily="34" charset="0"/>
                <a:cs typeface="Times New Roman" pitchFamily="18" charset="0"/>
              </a:rPr>
              <a:t>)                               (2)</a:t>
            </a:r>
            <a:endParaRPr lang="en-US" sz="2400" dirty="0" smtClean="0"/>
          </a:p>
          <a:p>
            <a:pPr lvl="0" eaLnBrk="0" fontAlgn="base" hangingPunct="0">
              <a:spcBef>
                <a:spcPct val="0"/>
              </a:spcBef>
              <a:spcAft>
                <a:spcPct val="0"/>
              </a:spcAft>
              <a:tabLst>
                <a:tab pos="171450" algn="l"/>
              </a:tabLst>
            </a:pPr>
            <a:r>
              <a:rPr lang="en-US" sz="2400" dirty="0" smtClean="0">
                <a:ea typeface="Calibri" pitchFamily="34" charset="0"/>
                <a:cs typeface="Times New Roman" pitchFamily="18" charset="0"/>
              </a:rPr>
              <a:t>Where,</a:t>
            </a:r>
            <a:endParaRPr lang="en-US" sz="2400" dirty="0" smtClean="0"/>
          </a:p>
          <a:p>
            <a:pPr lvl="0" eaLnBrk="0" fontAlgn="base" hangingPunct="0">
              <a:spcBef>
                <a:spcPct val="0"/>
              </a:spcBef>
              <a:spcAft>
                <a:spcPct val="0"/>
              </a:spcAft>
              <a:tabLst>
                <a:tab pos="171450" algn="l"/>
              </a:tabLst>
            </a:pPr>
            <a:r>
              <a:rPr lang="en-US" sz="2400" dirty="0" smtClean="0">
                <a:ea typeface="Calibri" pitchFamily="34" charset="0"/>
                <a:cs typeface="Times New Roman" pitchFamily="18" charset="0"/>
              </a:rPr>
              <a:t>    φ = Phase angle</a:t>
            </a:r>
            <a:endParaRPr lang="en-US" sz="2400" dirty="0" smtClean="0"/>
          </a:p>
          <a:p>
            <a:pPr lvl="0" eaLnBrk="0" fontAlgn="base" hangingPunct="0">
              <a:spcBef>
                <a:spcPct val="0"/>
              </a:spcBef>
              <a:spcAft>
                <a:spcPct val="0"/>
              </a:spcAft>
              <a:tabLst>
                <a:tab pos="171450" algn="l"/>
              </a:tabLst>
            </a:pPr>
            <a:r>
              <a:rPr lang="en-US" sz="2400" dirty="0" smtClean="0">
                <a:ea typeface="Calibri" pitchFamily="34" charset="0"/>
                <a:cs typeface="Times New Roman" pitchFamily="18" charset="0"/>
              </a:rPr>
              <a:t>    D = First voltage minima of sample</a:t>
            </a:r>
            <a:endParaRPr lang="en-US" sz="2400" dirty="0" smtClean="0"/>
          </a:p>
          <a:p>
            <a:pPr lvl="0" eaLnBrk="0" fontAlgn="base" hangingPunct="0">
              <a:spcBef>
                <a:spcPct val="0"/>
              </a:spcBef>
              <a:spcAft>
                <a:spcPct val="0"/>
              </a:spcAft>
              <a:tabLst>
                <a:tab pos="171450" algn="l"/>
              </a:tabLst>
            </a:pPr>
            <a:r>
              <a:rPr lang="en-US" sz="2400" dirty="0" smtClean="0">
                <a:ea typeface="Calibri" pitchFamily="34" charset="0"/>
                <a:cs typeface="Times New Roman" pitchFamily="18" charset="0"/>
              </a:rPr>
              <a:t>    Dr = First voltage minima when waveguide is short circuited</a:t>
            </a:r>
            <a:endParaRPr lang="en-US" sz="2400" dirty="0" smtClean="0"/>
          </a:p>
          <a:p>
            <a:pPr lvl="0" eaLnBrk="0" fontAlgn="base" hangingPunct="0">
              <a:spcBef>
                <a:spcPct val="0"/>
              </a:spcBef>
              <a:spcAft>
                <a:spcPct val="0"/>
              </a:spcAft>
              <a:tabLst>
                <a:tab pos="171450" algn="l"/>
              </a:tabLst>
            </a:pPr>
            <a:r>
              <a:rPr lang="en-US" sz="2400" dirty="0" smtClean="0">
                <a:ea typeface="Calibri" pitchFamily="34" charset="0"/>
                <a:cs typeface="Times New Roman" pitchFamily="18" charset="0"/>
              </a:rPr>
              <a:t>     </a:t>
            </a:r>
            <a:r>
              <a:rPr lang="en-US" sz="2400" dirty="0" err="1" smtClean="0">
                <a:ea typeface="Calibri" pitchFamily="34" charset="0"/>
                <a:cs typeface="Times New Roman" pitchFamily="18" charset="0"/>
              </a:rPr>
              <a:t>l</a:t>
            </a:r>
            <a:r>
              <a:rPr lang="en-US" sz="2400" baseline="-30000" dirty="0" err="1" smtClean="0">
                <a:ea typeface="Calibri" pitchFamily="34" charset="0"/>
                <a:cs typeface="Times New Roman" pitchFamily="18" charset="0"/>
              </a:rPr>
              <a:t>ε</a:t>
            </a:r>
            <a:r>
              <a:rPr lang="en-US" sz="2400" dirty="0" smtClean="0">
                <a:ea typeface="Calibri" pitchFamily="34" charset="0"/>
                <a:cs typeface="Times New Roman" pitchFamily="18" charset="0"/>
              </a:rPr>
              <a:t>= length of sample=0.694 cm(depth of waveguide cell)</a:t>
            </a:r>
          </a:p>
          <a:p>
            <a:pPr marL="0" marR="0" lvl="0" indent="0" algn="l" defTabSz="914400" rtl="0" eaLnBrk="0" fontAlgn="base" latinLnBrk="0" hangingPunct="0">
              <a:lnSpc>
                <a:spcPct val="100000"/>
              </a:lnSpc>
              <a:spcBef>
                <a:spcPct val="0"/>
              </a:spcBef>
              <a:spcAft>
                <a:spcPct val="0"/>
              </a:spcAft>
              <a:buClrTx/>
              <a:buSzTx/>
              <a:buFontTx/>
              <a:buNone/>
              <a:tabLst>
                <a:tab pos="171450" algn="l"/>
              </a:tabLst>
            </a:pPr>
            <a:endParaRPr kumimoji="0" lang="en-US" sz="2400"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71450" algn="l"/>
              </a:tabLst>
            </a:pPr>
            <a:endParaRPr kumimoji="0" lang="en-US" sz="2000" b="0" i="0" u="none" strike="noStrike" cap="none" normalizeH="0" baseline="0" dirty="0" smtClean="0">
              <a:ln>
                <a:noFill/>
              </a:ln>
              <a:solidFill>
                <a:schemeClr val="tx1"/>
              </a:solidFill>
              <a:effectLst/>
            </a:endParaRPr>
          </a:p>
        </p:txBody>
      </p:sp>
      <p:sp>
        <p:nvSpPr>
          <p:cNvPr id="3" name="Slide Number Placeholder 2"/>
          <p:cNvSpPr>
            <a:spLocks noGrp="1"/>
          </p:cNvSpPr>
          <p:nvPr>
            <p:ph type="sldNum" sz="quarter" idx="12"/>
          </p:nvPr>
        </p:nvSpPr>
        <p:spPr/>
        <p:txBody>
          <a:bodyPr/>
          <a:lstStyle/>
          <a:p>
            <a:fld id="{C2C1A6A0-3F2F-4BAF-B319-837518E4456F}" type="slidenum">
              <a:rPr lang="en-US" smtClean="0"/>
              <a:pPr/>
              <a:t>36</a:t>
            </a:fld>
            <a:endParaRPr lang="en-US"/>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1"/>
          <p:cNvSpPr>
            <a:spLocks noChangeArrowheads="1"/>
          </p:cNvSpPr>
          <p:nvPr/>
        </p:nvSpPr>
        <p:spPr bwMode="auto">
          <a:xfrm>
            <a:off x="285720" y="1571612"/>
            <a:ext cx="8358246" cy="600164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tab pos="5943600" algn="r"/>
              </a:tabLst>
            </a:pPr>
            <a:r>
              <a:rPr kumimoji="0" lang="en-US" sz="2800" b="1" i="0" u="none" strike="noStrike" cap="none" normalizeH="0" baseline="0" dirty="0" smtClean="0">
                <a:ln>
                  <a:noFill/>
                </a:ln>
                <a:solidFill>
                  <a:schemeClr val="accent1">
                    <a:lumMod val="75000"/>
                  </a:schemeClr>
                </a:solidFill>
                <a:effectLst>
                  <a:outerShdw blurRad="38100" dist="38100" dir="2700000" algn="tl">
                    <a:srgbClr val="000000">
                      <a:alpha val="43137"/>
                    </a:srgbClr>
                  </a:outerShdw>
                </a:effectLst>
                <a:latin typeface="Times New Roman" pitchFamily="18" charset="0"/>
                <a:ea typeface="Calibri" pitchFamily="34" charset="0"/>
                <a:cs typeface="Times New Roman" pitchFamily="18" charset="0"/>
              </a:rPr>
              <a:t>Complex transcendental equations:-</a:t>
            </a:r>
            <a:endParaRPr kumimoji="0" lang="en-US" sz="2800" b="0" i="0" u="none" strike="noStrike" cap="none" normalizeH="0" baseline="0" dirty="0" smtClean="0">
              <a:ln>
                <a:noFill/>
              </a:ln>
              <a:solidFill>
                <a:schemeClr val="accent1">
                  <a:lumMod val="75000"/>
                </a:schemeClr>
              </a:solidFill>
              <a:effectLst>
                <a:outerShdw blurRad="38100" dist="38100" dir="2700000" algn="tl">
                  <a:srgbClr val="000000">
                    <a:alpha val="43137"/>
                  </a:srgbClr>
                </a:outerShdw>
              </a:effectLst>
              <a:latin typeface="Times New Roman" pitchFamily="18" charset="0"/>
              <a:cs typeface="Times New Roman" pitchFamily="18" charset="0"/>
            </a:endParaRPr>
          </a:p>
          <a:p>
            <a:pPr lvl="0" eaLnBrk="0" fontAlgn="base" hangingPunct="0">
              <a:spcBef>
                <a:spcPct val="0"/>
              </a:spcBef>
              <a:spcAft>
                <a:spcPct val="0"/>
              </a:spcAft>
              <a:tabLst>
                <a:tab pos="5943600" algn="r"/>
              </a:tabLst>
            </a:pPr>
            <a:r>
              <a:rPr lang="en-US" sz="2400" dirty="0" smtClean="0">
                <a:latin typeface="Times New Roman" pitchFamily="18" charset="0"/>
                <a:ea typeface="Calibri" pitchFamily="34" charset="0"/>
                <a:cs typeface="Times New Roman" pitchFamily="18" charset="0"/>
              </a:rPr>
              <a:t> K=(-2|Г|sinφ)/ (</a:t>
            </a:r>
            <a:r>
              <a:rPr lang="en-US" sz="2400" dirty="0" err="1" smtClean="0">
                <a:latin typeface="Times New Roman" pitchFamily="18" charset="0"/>
                <a:ea typeface="Calibri" pitchFamily="34" charset="0"/>
                <a:cs typeface="Times New Roman" pitchFamily="18" charset="0"/>
              </a:rPr>
              <a:t>kl</a:t>
            </a:r>
            <a:r>
              <a:rPr lang="en-US" sz="2400" baseline="-30000" dirty="0" err="1" smtClean="0">
                <a:latin typeface="Times New Roman" pitchFamily="18" charset="0"/>
                <a:ea typeface="Calibri" pitchFamily="34" charset="0"/>
                <a:cs typeface="Times New Roman" pitchFamily="18" charset="0"/>
              </a:rPr>
              <a:t>ε</a:t>
            </a:r>
            <a:r>
              <a:rPr lang="en-US" sz="2400" dirty="0" smtClean="0">
                <a:latin typeface="Times New Roman" pitchFamily="18" charset="0"/>
                <a:ea typeface="Calibri" pitchFamily="34" charset="0"/>
                <a:cs typeface="Times New Roman" pitchFamily="18" charset="0"/>
              </a:rPr>
              <a:t>(1+|Г|</a:t>
            </a:r>
            <a:r>
              <a:rPr lang="en-US" sz="2400" baseline="30000" dirty="0" smtClean="0">
                <a:latin typeface="Times New Roman" pitchFamily="18" charset="0"/>
                <a:ea typeface="Calibri" pitchFamily="34" charset="0"/>
                <a:cs typeface="Times New Roman" pitchFamily="18" charset="0"/>
              </a:rPr>
              <a:t>2</a:t>
            </a:r>
            <a:r>
              <a:rPr lang="en-US" sz="2400" dirty="0" smtClean="0">
                <a:latin typeface="Times New Roman" pitchFamily="18" charset="0"/>
                <a:ea typeface="Calibri" pitchFamily="34" charset="0"/>
                <a:cs typeface="Times New Roman" pitchFamily="18" charset="0"/>
              </a:rPr>
              <a:t>+2|Г|cosφ))                                       (4)</a:t>
            </a:r>
          </a:p>
          <a:p>
            <a:pPr lvl="0" eaLnBrk="0" fontAlgn="base" hangingPunct="0">
              <a:spcBef>
                <a:spcPct val="0"/>
              </a:spcBef>
              <a:spcAft>
                <a:spcPct val="0"/>
              </a:spcAft>
              <a:tabLst>
                <a:tab pos="5943600" algn="r"/>
              </a:tabLst>
            </a:pPr>
            <a:endParaRPr lang="en-US" sz="2400" dirty="0" smtClean="0">
              <a:latin typeface="Times New Roman" pitchFamily="18" charset="0"/>
              <a:cs typeface="Times New Roman" pitchFamily="18" charset="0"/>
            </a:endParaRPr>
          </a:p>
          <a:p>
            <a:pPr lvl="0" eaLnBrk="0" fontAlgn="base" hangingPunct="0">
              <a:spcBef>
                <a:spcPct val="0"/>
              </a:spcBef>
              <a:spcAft>
                <a:spcPct val="0"/>
              </a:spcAft>
              <a:tabLst>
                <a:tab pos="5943600" algn="r"/>
              </a:tabLst>
            </a:pPr>
            <a:r>
              <a:rPr lang="en-US" sz="2400" dirty="0" smtClean="0">
                <a:latin typeface="Times New Roman" pitchFamily="18" charset="0"/>
                <a:ea typeface="Calibri" pitchFamily="34" charset="0"/>
                <a:cs typeface="Times New Roman" pitchFamily="18" charset="0"/>
              </a:rPr>
              <a:t>        A=(|Г|</a:t>
            </a:r>
            <a:r>
              <a:rPr lang="en-US" sz="2400" baseline="30000" dirty="0" smtClean="0">
                <a:latin typeface="Times New Roman" pitchFamily="18" charset="0"/>
                <a:ea typeface="Calibri" pitchFamily="34" charset="0"/>
                <a:cs typeface="Times New Roman" pitchFamily="18" charset="0"/>
              </a:rPr>
              <a:t>2</a:t>
            </a:r>
            <a:r>
              <a:rPr lang="en-US" sz="2400" dirty="0" smtClean="0">
                <a:latin typeface="Times New Roman" pitchFamily="18" charset="0"/>
                <a:ea typeface="Calibri" pitchFamily="34" charset="0"/>
                <a:cs typeface="Times New Roman" pitchFamily="18" charset="0"/>
              </a:rPr>
              <a:t>-1)/(k </a:t>
            </a:r>
            <a:r>
              <a:rPr lang="en-US" sz="2400" dirty="0" err="1" smtClean="0">
                <a:latin typeface="Times New Roman" pitchFamily="18" charset="0"/>
                <a:ea typeface="Calibri" pitchFamily="34" charset="0"/>
                <a:cs typeface="Times New Roman" pitchFamily="18" charset="0"/>
              </a:rPr>
              <a:t>l</a:t>
            </a:r>
            <a:r>
              <a:rPr lang="en-US" sz="2400" baseline="-30000" dirty="0" err="1" smtClean="0">
                <a:latin typeface="Times New Roman" pitchFamily="18" charset="0"/>
                <a:ea typeface="Calibri" pitchFamily="34" charset="0"/>
                <a:cs typeface="Times New Roman" pitchFamily="18" charset="0"/>
              </a:rPr>
              <a:t>ε</a:t>
            </a:r>
            <a:r>
              <a:rPr lang="en-US" sz="2400" dirty="0" smtClean="0">
                <a:latin typeface="Times New Roman" pitchFamily="18" charset="0"/>
                <a:ea typeface="Calibri" pitchFamily="34" charset="0"/>
                <a:cs typeface="Times New Roman" pitchFamily="18" charset="0"/>
              </a:rPr>
              <a:t>(1+|Г|</a:t>
            </a:r>
            <a:r>
              <a:rPr lang="en-US" sz="2400" baseline="30000" dirty="0" smtClean="0">
                <a:latin typeface="Times New Roman" pitchFamily="18" charset="0"/>
                <a:ea typeface="Calibri" pitchFamily="34" charset="0"/>
                <a:cs typeface="Times New Roman" pitchFamily="18" charset="0"/>
              </a:rPr>
              <a:t>2</a:t>
            </a:r>
            <a:r>
              <a:rPr lang="en-US" sz="2400" dirty="0" smtClean="0">
                <a:latin typeface="Times New Roman" pitchFamily="18" charset="0"/>
                <a:ea typeface="Calibri" pitchFamily="34" charset="0"/>
                <a:cs typeface="Times New Roman" pitchFamily="18" charset="0"/>
              </a:rPr>
              <a:t>+2|Г|cosφ))                                      (5)</a:t>
            </a:r>
          </a:p>
          <a:p>
            <a:pPr lvl="0" eaLnBrk="0" fontAlgn="base" hangingPunct="0">
              <a:spcBef>
                <a:spcPct val="0"/>
              </a:spcBef>
              <a:spcAft>
                <a:spcPct val="0"/>
              </a:spcAft>
              <a:tabLst>
                <a:tab pos="5943600" algn="r"/>
              </a:tabLst>
            </a:pPr>
            <a:endParaRPr lang="en-US" sz="2400" dirty="0" smtClean="0">
              <a:latin typeface="Times New Roman" pitchFamily="18" charset="0"/>
              <a:cs typeface="Times New Roman" pitchFamily="18" charset="0"/>
            </a:endParaRPr>
          </a:p>
          <a:p>
            <a:pPr lvl="0" algn="just" eaLnBrk="0" fontAlgn="base" hangingPunct="0">
              <a:spcBef>
                <a:spcPct val="0"/>
              </a:spcBef>
              <a:spcAft>
                <a:spcPct val="0"/>
              </a:spcAft>
              <a:tabLst>
                <a:tab pos="5943600" algn="r"/>
              </a:tabLst>
            </a:pPr>
            <a:r>
              <a:rPr lang="en-US" sz="2400" dirty="0" smtClean="0">
                <a:latin typeface="Times New Roman" pitchFamily="18" charset="0"/>
                <a:ea typeface="Calibri" pitchFamily="34" charset="0"/>
                <a:cs typeface="Times New Roman" pitchFamily="18" charset="0"/>
              </a:rPr>
              <a:t>Now, solve for X in the real transcendental equation, using the two sets of data to determine X’ </a:t>
            </a:r>
          </a:p>
          <a:p>
            <a:pPr lvl="0" algn="just" eaLnBrk="0" fontAlgn="base" hangingPunct="0">
              <a:spcBef>
                <a:spcPct val="0"/>
              </a:spcBef>
              <a:spcAft>
                <a:spcPct val="0"/>
              </a:spcAft>
              <a:tabLst>
                <a:tab pos="5943600" algn="r"/>
              </a:tabLst>
            </a:pPr>
            <a:endParaRPr lang="en-US" sz="2400" dirty="0" smtClean="0">
              <a:latin typeface="Times New Roman" pitchFamily="18" charset="0"/>
              <a:cs typeface="Times New Roman" pitchFamily="18" charset="0"/>
            </a:endParaRPr>
          </a:p>
          <a:p>
            <a:pPr lvl="0" algn="just" eaLnBrk="0" fontAlgn="base" hangingPunct="0">
              <a:spcBef>
                <a:spcPct val="0"/>
              </a:spcBef>
              <a:spcAft>
                <a:spcPct val="0"/>
              </a:spcAft>
              <a:tabLst>
                <a:tab pos="5943600" algn="r"/>
              </a:tabLst>
            </a:pPr>
            <a:r>
              <a:rPr lang="en-US" sz="2400" dirty="0" smtClean="0">
                <a:latin typeface="Times New Roman" pitchFamily="18" charset="0"/>
                <a:ea typeface="Calibri" pitchFamily="34" charset="0"/>
                <a:cs typeface="Times New Roman" pitchFamily="18" charset="0"/>
              </a:rPr>
              <a:t>R= (A X’</a:t>
            </a:r>
            <a:r>
              <a:rPr lang="en-US" sz="2400" baseline="30000" dirty="0" smtClean="0">
                <a:latin typeface="Times New Roman" pitchFamily="18" charset="0"/>
                <a:ea typeface="Calibri" pitchFamily="34" charset="0"/>
                <a:cs typeface="Times New Roman" pitchFamily="18" charset="0"/>
              </a:rPr>
              <a:t>2</a:t>
            </a:r>
            <a:r>
              <a:rPr lang="en-US" sz="2400" dirty="0" smtClean="0">
                <a:latin typeface="Times New Roman" pitchFamily="18" charset="0"/>
                <a:ea typeface="Calibri" pitchFamily="34" charset="0"/>
                <a:cs typeface="Times New Roman" pitchFamily="18" charset="0"/>
              </a:rPr>
              <a:t>) / (tan X’- X’ (1+tan</a:t>
            </a:r>
            <a:r>
              <a:rPr lang="en-US" sz="2400" baseline="30000" dirty="0" smtClean="0">
                <a:latin typeface="Times New Roman" pitchFamily="18" charset="0"/>
                <a:ea typeface="Calibri" pitchFamily="34" charset="0"/>
                <a:cs typeface="Times New Roman" pitchFamily="18" charset="0"/>
              </a:rPr>
              <a:t>2</a:t>
            </a:r>
            <a:r>
              <a:rPr lang="en-US" sz="2400" dirty="0" smtClean="0">
                <a:latin typeface="Times New Roman" pitchFamily="18" charset="0"/>
                <a:ea typeface="Calibri" pitchFamily="34" charset="0"/>
                <a:cs typeface="Times New Roman" pitchFamily="18" charset="0"/>
              </a:rPr>
              <a:t> X’)) 	                                       (6) </a:t>
            </a:r>
          </a:p>
          <a:p>
            <a:r>
              <a:rPr lang="en-US" sz="2400" dirty="0" smtClean="0">
                <a:latin typeface="Times New Roman" pitchFamily="18" charset="0"/>
                <a:cs typeface="Times New Roman" pitchFamily="18" charset="0"/>
              </a:rPr>
              <a:t>K’ = (R tan h R (1+tan</a:t>
            </a:r>
            <a:r>
              <a:rPr lang="en-US" sz="2400" baseline="30000" dirty="0" smtClean="0">
                <a:latin typeface="Times New Roman" pitchFamily="18" charset="0"/>
                <a:cs typeface="Times New Roman" pitchFamily="18" charset="0"/>
              </a:rPr>
              <a:t>2</a:t>
            </a:r>
            <a:r>
              <a:rPr lang="en-US" sz="2400" dirty="0" smtClean="0">
                <a:latin typeface="Times New Roman" pitchFamily="18" charset="0"/>
                <a:cs typeface="Times New Roman" pitchFamily="18" charset="0"/>
              </a:rPr>
              <a:t> X’) + X’ tan X’ (1- tan h</a:t>
            </a:r>
            <a:r>
              <a:rPr lang="en-US" sz="2400" baseline="30000" dirty="0" smtClean="0">
                <a:latin typeface="Times New Roman" pitchFamily="18" charset="0"/>
                <a:cs typeface="Times New Roman" pitchFamily="18" charset="0"/>
              </a:rPr>
              <a:t>2</a:t>
            </a:r>
            <a:r>
              <a:rPr lang="en-US" sz="2400" dirty="0" smtClean="0">
                <a:latin typeface="Times New Roman" pitchFamily="18" charset="0"/>
                <a:cs typeface="Times New Roman" pitchFamily="18" charset="0"/>
              </a:rPr>
              <a:t>R))/</a:t>
            </a:r>
          </a:p>
          <a:p>
            <a:r>
              <a:rPr lang="en-US" sz="2400" dirty="0" smtClean="0">
                <a:latin typeface="Times New Roman" pitchFamily="18" charset="0"/>
                <a:cs typeface="Times New Roman" pitchFamily="18" charset="0"/>
              </a:rPr>
              <a:t>          ((R</a:t>
            </a:r>
            <a:r>
              <a:rPr lang="en-US" sz="2400" baseline="30000" dirty="0" smtClean="0">
                <a:latin typeface="Times New Roman" pitchFamily="18" charset="0"/>
                <a:cs typeface="Times New Roman" pitchFamily="18" charset="0"/>
              </a:rPr>
              <a:t>2</a:t>
            </a:r>
            <a:r>
              <a:rPr lang="en-US" sz="2400" dirty="0" smtClean="0">
                <a:latin typeface="Times New Roman" pitchFamily="18" charset="0"/>
                <a:cs typeface="Times New Roman" pitchFamily="18" charset="0"/>
              </a:rPr>
              <a:t>+X’</a:t>
            </a:r>
            <a:r>
              <a:rPr lang="en-US" sz="2400" baseline="30000" dirty="0" smtClean="0">
                <a:latin typeface="Times New Roman" pitchFamily="18" charset="0"/>
                <a:cs typeface="Times New Roman" pitchFamily="18" charset="0"/>
              </a:rPr>
              <a:t>2</a:t>
            </a:r>
            <a:r>
              <a:rPr lang="en-US" sz="2400" dirty="0" smtClean="0">
                <a:latin typeface="Times New Roman" pitchFamily="18" charset="0"/>
                <a:cs typeface="Times New Roman" pitchFamily="18" charset="0"/>
              </a:rPr>
              <a:t>) (1+ tan</a:t>
            </a:r>
            <a:r>
              <a:rPr lang="en-US" sz="2400" baseline="30000" dirty="0" smtClean="0">
                <a:latin typeface="Times New Roman" pitchFamily="18" charset="0"/>
                <a:cs typeface="Times New Roman" pitchFamily="18" charset="0"/>
              </a:rPr>
              <a:t>2 </a:t>
            </a:r>
            <a:r>
              <a:rPr lang="en-US" sz="2400" dirty="0" smtClean="0">
                <a:latin typeface="Times New Roman" pitchFamily="18" charset="0"/>
                <a:cs typeface="Times New Roman" pitchFamily="18" charset="0"/>
              </a:rPr>
              <a:t>R tan</a:t>
            </a:r>
            <a:r>
              <a:rPr lang="en-US" sz="2400" baseline="30000" dirty="0" smtClean="0">
                <a:latin typeface="Times New Roman" pitchFamily="18" charset="0"/>
                <a:cs typeface="Times New Roman" pitchFamily="18" charset="0"/>
              </a:rPr>
              <a:t>2</a:t>
            </a:r>
            <a:r>
              <a:rPr lang="en-US" sz="2400" dirty="0" smtClean="0">
                <a:latin typeface="Times New Roman" pitchFamily="18" charset="0"/>
                <a:cs typeface="Times New Roman" pitchFamily="18" charset="0"/>
              </a:rPr>
              <a:t> X’))</a:t>
            </a:r>
            <a:r>
              <a:rPr lang="en-US" sz="2400" b="1"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(7)</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If K and K’ are almost identical, the values of X’ and R calculated are acceptable; if not, this method of solution does not apply.</a:t>
            </a:r>
          </a:p>
          <a:p>
            <a:r>
              <a:rPr lang="en-US" sz="2400" b="1" dirty="0" smtClean="0">
                <a:latin typeface="Times New Roman" pitchFamily="18" charset="0"/>
                <a:cs typeface="Times New Roman" pitchFamily="18" charset="0"/>
              </a:rPr>
              <a:t>  </a:t>
            </a:r>
            <a:endParaRPr lang="en-US" sz="2400" dirty="0" smtClean="0">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tab pos="5943600" algn="r"/>
              </a:tabLst>
            </a:pPr>
            <a:endParaRPr kumimoji="0" lang="en-US" sz="2000" b="0" i="0" u="none" strike="noStrike" cap="none" normalizeH="0" baseline="0" dirty="0" smtClean="0">
              <a:ln>
                <a:noFill/>
              </a:ln>
              <a:solidFill>
                <a:schemeClr val="tx1"/>
              </a:solidFill>
              <a:effectLst/>
              <a:latin typeface="Arial" pitchFamily="34" charset="0"/>
            </a:endParaRPr>
          </a:p>
        </p:txBody>
      </p:sp>
      <p:sp>
        <p:nvSpPr>
          <p:cNvPr id="3" name="Rectangle 2"/>
          <p:cNvSpPr/>
          <p:nvPr/>
        </p:nvSpPr>
        <p:spPr>
          <a:xfrm>
            <a:off x="500034" y="428604"/>
            <a:ext cx="7786742" cy="1200329"/>
          </a:xfrm>
          <a:prstGeom prst="rect">
            <a:avLst/>
          </a:prstGeom>
        </p:spPr>
        <p:txBody>
          <a:bodyPr wrap="square">
            <a:spAutoFit/>
          </a:bodyPr>
          <a:lstStyle/>
          <a:p>
            <a:pPr lvl="0" algn="just" eaLnBrk="0" fontAlgn="base" hangingPunct="0">
              <a:spcBef>
                <a:spcPct val="0"/>
              </a:spcBef>
              <a:spcAft>
                <a:spcPct val="0"/>
              </a:spcAft>
              <a:tabLst>
                <a:tab pos="171450" algn="l"/>
                <a:tab pos="228600" algn="l"/>
              </a:tabLst>
            </a:pPr>
            <a:r>
              <a:rPr lang="en-US" sz="2400" dirty="0" smtClean="0">
                <a:latin typeface="Times New Roman" pitchFamily="18" charset="0"/>
                <a:ea typeface="Calibri" pitchFamily="34" charset="0"/>
                <a:cs typeface="Times New Roman" pitchFamily="18" charset="0"/>
              </a:rPr>
              <a:t>Where, </a:t>
            </a:r>
            <a:endParaRPr lang="en-US" sz="2400" dirty="0" smtClean="0">
              <a:latin typeface="Times New Roman" pitchFamily="18" charset="0"/>
              <a:cs typeface="Times New Roman" pitchFamily="18" charset="0"/>
            </a:endParaRPr>
          </a:p>
          <a:p>
            <a:pPr lvl="0" algn="just" eaLnBrk="0" fontAlgn="base" hangingPunct="0">
              <a:spcBef>
                <a:spcPct val="0"/>
              </a:spcBef>
              <a:spcAft>
                <a:spcPct val="0"/>
              </a:spcAft>
              <a:tabLst>
                <a:tab pos="171450" algn="l"/>
                <a:tab pos="228600" algn="l"/>
              </a:tabLst>
            </a:pPr>
            <a:r>
              <a:rPr lang="en-US" sz="2400" dirty="0" smtClean="0">
                <a:latin typeface="Times New Roman" pitchFamily="18" charset="0"/>
                <a:ea typeface="Calibri" pitchFamily="34" charset="0"/>
                <a:cs typeface="Times New Roman" pitchFamily="18" charset="0"/>
              </a:rPr>
              <a:t>|Г| =reflection coefficient</a:t>
            </a:r>
            <a:endParaRPr lang="en-US" sz="2400" dirty="0" smtClean="0">
              <a:latin typeface="Times New Roman" pitchFamily="18" charset="0"/>
              <a:cs typeface="Times New Roman" pitchFamily="18" charset="0"/>
            </a:endParaRPr>
          </a:p>
          <a:p>
            <a:pPr lvl="0" algn="just" eaLnBrk="0" fontAlgn="base" hangingPunct="0">
              <a:spcBef>
                <a:spcPct val="0"/>
              </a:spcBef>
              <a:spcAft>
                <a:spcPct val="0"/>
              </a:spcAft>
              <a:tabLst>
                <a:tab pos="171450" algn="l"/>
                <a:tab pos="228600" algn="l"/>
              </a:tabLst>
            </a:pPr>
            <a:r>
              <a:rPr lang="en-US" sz="2400" dirty="0" smtClean="0">
                <a:latin typeface="Times New Roman" pitchFamily="18" charset="0"/>
                <a:ea typeface="Calibri" pitchFamily="34" charset="0"/>
                <a:cs typeface="Times New Roman" pitchFamily="18" charset="0"/>
              </a:rPr>
              <a:t>   r =voltage standing wave ratio (</a:t>
            </a:r>
            <a:r>
              <a:rPr lang="en-US" sz="2400" dirty="0" err="1" smtClean="0">
                <a:latin typeface="Times New Roman" pitchFamily="18" charset="0"/>
                <a:ea typeface="Calibri" pitchFamily="34" charset="0"/>
                <a:cs typeface="Times New Roman" pitchFamily="18" charset="0"/>
              </a:rPr>
              <a:t>vswr</a:t>
            </a:r>
            <a:r>
              <a:rPr lang="en-US" sz="2400" dirty="0" smtClean="0">
                <a:latin typeface="Times New Roman" pitchFamily="18" charset="0"/>
                <a:ea typeface="Calibri" pitchFamily="34" charset="0"/>
                <a:cs typeface="Times New Roman" pitchFamily="18" charset="0"/>
              </a:rPr>
              <a:t>)  </a:t>
            </a:r>
            <a:endParaRPr lang="en-US" sz="2400" dirty="0" smtClean="0">
              <a:latin typeface="Times New Roman" pitchFamily="18" charset="0"/>
              <a:cs typeface="Times New Roman" pitchFamily="18" charset="0"/>
            </a:endParaRPr>
          </a:p>
        </p:txBody>
      </p:sp>
      <p:sp>
        <p:nvSpPr>
          <p:cNvPr id="4" name="Rectangle 3"/>
          <p:cNvSpPr/>
          <p:nvPr/>
        </p:nvSpPr>
        <p:spPr>
          <a:xfrm>
            <a:off x="2571736" y="285728"/>
            <a:ext cx="6143668" cy="461665"/>
          </a:xfrm>
          <a:prstGeom prst="rect">
            <a:avLst/>
          </a:prstGeom>
        </p:spPr>
        <p:txBody>
          <a:bodyPr wrap="square">
            <a:spAutoFit/>
          </a:bodyPr>
          <a:lstStyle/>
          <a:p>
            <a:r>
              <a:rPr lang="en-US" sz="2400" b="1" dirty="0" smtClean="0">
                <a:latin typeface="Times New Roman" pitchFamily="18" charset="0"/>
                <a:ea typeface="Calibri" pitchFamily="34" charset="0"/>
                <a:cs typeface="Times New Roman" pitchFamily="18" charset="0"/>
              </a:rPr>
              <a:t>|Г| =(r-1)/(r+1)                                             </a:t>
            </a:r>
            <a:r>
              <a:rPr lang="en-US" sz="2400" dirty="0" smtClean="0">
                <a:latin typeface="Times New Roman" pitchFamily="18" charset="0"/>
                <a:ea typeface="Calibri" pitchFamily="34" charset="0"/>
                <a:cs typeface="Times New Roman" pitchFamily="18" charset="0"/>
              </a:rPr>
              <a:t>(3) </a:t>
            </a:r>
            <a:endParaRPr lang="en-US" sz="2400"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C2C1A6A0-3F2F-4BAF-B319-837518E4456F}" type="slidenum">
              <a:rPr lang="en-US" smtClean="0"/>
              <a:pPr/>
              <a:t>37</a:t>
            </a:fld>
            <a:endParaRPr lang="en-US"/>
          </a:p>
        </p:txBody>
      </p:sp>
    </p:spTree>
  </p:cSld>
  <p:clrMapOvr>
    <a:masterClrMapping/>
  </p:clrMapOvr>
  <p:transition>
    <p:pull dir="d"/>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1"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6" name="Rectangle 5"/>
          <p:cNvSpPr/>
          <p:nvPr/>
        </p:nvSpPr>
        <p:spPr>
          <a:xfrm>
            <a:off x="785786" y="285728"/>
            <a:ext cx="7929586" cy="461665"/>
          </a:xfrm>
          <a:prstGeom prst="rect">
            <a:avLst/>
          </a:prstGeom>
        </p:spPr>
        <p:txBody>
          <a:bodyPr wrap="square">
            <a:spAutoFit/>
          </a:bodyPr>
          <a:lstStyle/>
          <a:p>
            <a:r>
              <a:rPr lang="en-US" sz="2400" dirty="0" smtClean="0">
                <a:latin typeface="Times New Roman" pitchFamily="18" charset="0"/>
                <a:ea typeface="Calibri" pitchFamily="34" charset="0"/>
                <a:cs typeface="Times New Roman" pitchFamily="18" charset="0"/>
              </a:rPr>
              <a:t>T= (R</a:t>
            </a:r>
            <a:r>
              <a:rPr lang="en-US" sz="2400" baseline="30000" dirty="0" smtClean="0">
                <a:latin typeface="Times New Roman" pitchFamily="18" charset="0"/>
                <a:ea typeface="Calibri" pitchFamily="34" charset="0"/>
                <a:cs typeface="Times New Roman" pitchFamily="18" charset="0"/>
              </a:rPr>
              <a:t>2</a:t>
            </a:r>
            <a:r>
              <a:rPr lang="en-US" sz="2400" dirty="0" smtClean="0">
                <a:latin typeface="Times New Roman" pitchFamily="18" charset="0"/>
                <a:ea typeface="Calibri" pitchFamily="34" charset="0"/>
                <a:cs typeface="Times New Roman" pitchFamily="18" charset="0"/>
              </a:rPr>
              <a:t>+X’</a:t>
            </a:r>
            <a:r>
              <a:rPr lang="en-US" sz="2400" baseline="30000" dirty="0" smtClean="0">
                <a:latin typeface="Times New Roman" pitchFamily="18" charset="0"/>
                <a:ea typeface="Calibri" pitchFamily="34" charset="0"/>
                <a:cs typeface="Times New Roman" pitchFamily="18" charset="0"/>
              </a:rPr>
              <a:t>2</a:t>
            </a:r>
            <a:r>
              <a:rPr lang="en-US" sz="2400" dirty="0" smtClean="0">
                <a:latin typeface="Times New Roman" pitchFamily="18" charset="0"/>
                <a:ea typeface="Calibri" pitchFamily="34" charset="0"/>
                <a:cs typeface="Times New Roman" pitchFamily="18" charset="0"/>
              </a:rPr>
              <a:t>)</a:t>
            </a:r>
            <a:r>
              <a:rPr lang="en-US" sz="2400" baseline="30000" dirty="0" smtClean="0">
                <a:latin typeface="Times New Roman" pitchFamily="18" charset="0"/>
                <a:ea typeface="Calibri" pitchFamily="34" charset="0"/>
                <a:cs typeface="Times New Roman" pitchFamily="18" charset="0"/>
              </a:rPr>
              <a:t>1/2 </a:t>
            </a:r>
            <a:r>
              <a:rPr lang="en-US" sz="2400" dirty="0" smtClean="0">
                <a:effectLst>
                  <a:outerShdw blurRad="38100" dist="38100" dir="2700000" algn="tl">
                    <a:srgbClr val="000000">
                      <a:alpha val="43137"/>
                    </a:srgbClr>
                  </a:outerShdw>
                </a:effectLst>
                <a:latin typeface="Times New Roman" pitchFamily="18" charset="0"/>
                <a:ea typeface="Calibri" pitchFamily="34" charset="0"/>
                <a:cs typeface="Times New Roman" pitchFamily="18" charset="0"/>
              </a:rPr>
              <a:t>                                                                     (8)</a:t>
            </a:r>
            <a:endParaRPr lang="en-US" sz="2400" dirty="0">
              <a:latin typeface="Times New Roman" pitchFamily="18" charset="0"/>
              <a:cs typeface="Times New Roman" pitchFamily="18" charset="0"/>
            </a:endParaRPr>
          </a:p>
        </p:txBody>
      </p:sp>
      <p:pic>
        <p:nvPicPr>
          <p:cNvPr id="7" name="Picture 6"/>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928662" y="928670"/>
            <a:ext cx="1928826" cy="500066"/>
          </a:xfrm>
          <a:prstGeom prst="rect">
            <a:avLst/>
          </a:prstGeom>
          <a:noFill/>
        </p:spPr>
      </p:pic>
      <p:sp>
        <p:nvSpPr>
          <p:cNvPr id="8" name="Rectangle 7"/>
          <p:cNvSpPr/>
          <p:nvPr/>
        </p:nvSpPr>
        <p:spPr>
          <a:xfrm>
            <a:off x="500034" y="1428736"/>
            <a:ext cx="8072494" cy="1200329"/>
          </a:xfrm>
          <a:prstGeom prst="rect">
            <a:avLst/>
          </a:prstGeom>
        </p:spPr>
        <p:txBody>
          <a:bodyPr wrap="square">
            <a:spAutoFit/>
          </a:bodyPr>
          <a:lstStyle/>
          <a:p>
            <a:pPr lvl="0" indent="228600" algn="just" fontAlgn="base">
              <a:spcBef>
                <a:spcPct val="0"/>
              </a:spcBef>
              <a:spcAft>
                <a:spcPct val="0"/>
              </a:spcAft>
              <a:tabLst>
                <a:tab pos="400050" algn="l"/>
                <a:tab pos="571500" algn="l"/>
              </a:tabLst>
            </a:pPr>
            <a:r>
              <a:rPr lang="en-US" sz="2400" dirty="0" smtClean="0">
                <a:latin typeface="Times New Roman" pitchFamily="18" charset="0"/>
                <a:ea typeface="Calibri" pitchFamily="34" charset="0"/>
                <a:cs typeface="Times New Roman" pitchFamily="18" charset="0"/>
              </a:rPr>
              <a:t> 45˚&lt;𝝉&lt; 90˚               </a:t>
            </a:r>
            <a:r>
              <a:rPr lang="en-US" sz="2400" baseline="30000" dirty="0" smtClean="0">
                <a:latin typeface="Times New Roman" pitchFamily="18" charset="0"/>
                <a:ea typeface="Calibri" pitchFamily="34" charset="0"/>
                <a:cs typeface="Times New Roman" pitchFamily="18" charset="0"/>
              </a:rPr>
              <a:t>	                                                                          </a:t>
            </a:r>
            <a:r>
              <a:rPr lang="en-US" sz="2400" dirty="0" smtClean="0">
                <a:latin typeface="Times New Roman" pitchFamily="18" charset="0"/>
                <a:ea typeface="Calibri" pitchFamily="34" charset="0"/>
                <a:cs typeface="Times New Roman" pitchFamily="18" charset="0"/>
              </a:rPr>
              <a:t>(9)</a:t>
            </a:r>
          </a:p>
          <a:p>
            <a:pPr lvl="0" indent="228600" algn="just" fontAlgn="base">
              <a:spcBef>
                <a:spcPct val="0"/>
              </a:spcBef>
              <a:spcAft>
                <a:spcPct val="0"/>
              </a:spcAft>
              <a:tabLst>
                <a:tab pos="400050" algn="l"/>
                <a:tab pos="571500" algn="l"/>
              </a:tabLst>
            </a:pPr>
            <a:endParaRPr lang="en-US" sz="2400" dirty="0" smtClean="0">
              <a:latin typeface="Times New Roman" pitchFamily="18" charset="0"/>
              <a:cs typeface="Times New Roman" pitchFamily="18" charset="0"/>
            </a:endParaRPr>
          </a:p>
          <a:p>
            <a:pPr lvl="0" indent="228600" algn="just" eaLnBrk="0" fontAlgn="base" hangingPunct="0">
              <a:spcBef>
                <a:spcPct val="0"/>
              </a:spcBef>
              <a:spcAft>
                <a:spcPct val="0"/>
              </a:spcAft>
              <a:tabLst>
                <a:tab pos="400050" algn="l"/>
                <a:tab pos="571500" algn="l"/>
              </a:tabLst>
            </a:pPr>
            <a:r>
              <a:rPr lang="en-US" sz="2400" dirty="0" err="1" smtClean="0">
                <a:latin typeface="Times New Roman" pitchFamily="18" charset="0"/>
                <a:ea typeface="Calibri" pitchFamily="34" charset="0"/>
                <a:cs typeface="Times New Roman" pitchFamily="18" charset="0"/>
              </a:rPr>
              <a:t>γ</a:t>
            </a:r>
            <a:r>
              <a:rPr lang="en-US" sz="2400" baseline="-30000" dirty="0" err="1" smtClean="0">
                <a:latin typeface="Times New Roman" pitchFamily="18" charset="0"/>
                <a:ea typeface="Calibri" pitchFamily="34" charset="0"/>
                <a:cs typeface="Times New Roman" pitchFamily="18" charset="0"/>
              </a:rPr>
              <a:t>e</a:t>
            </a:r>
            <a:r>
              <a:rPr lang="en-US" sz="2400" baseline="-30000" dirty="0" smtClean="0">
                <a:latin typeface="Times New Roman" pitchFamily="18" charset="0"/>
                <a:ea typeface="Calibri" pitchFamily="34" charset="0"/>
                <a:cs typeface="Times New Roman" pitchFamily="18" charset="0"/>
              </a:rPr>
              <a:t> = </a:t>
            </a:r>
            <a:r>
              <a:rPr lang="en-US" sz="2400" dirty="0" smtClean="0">
                <a:latin typeface="Times New Roman" pitchFamily="18" charset="0"/>
                <a:ea typeface="Calibri" pitchFamily="34" charset="0"/>
                <a:cs typeface="Times New Roman" pitchFamily="18" charset="0"/>
              </a:rPr>
              <a:t>(T/k l</a:t>
            </a:r>
            <a:r>
              <a:rPr lang="en-US" sz="2400" baseline="-30000" dirty="0" smtClean="0">
                <a:latin typeface="Times New Roman" pitchFamily="18" charset="0"/>
                <a:ea typeface="Calibri" pitchFamily="34" charset="0"/>
                <a:cs typeface="Times New Roman" pitchFamily="18" charset="0"/>
              </a:rPr>
              <a:t>e</a:t>
            </a:r>
            <a:r>
              <a:rPr lang="en-US" sz="2400" dirty="0" smtClean="0">
                <a:latin typeface="Times New Roman" pitchFamily="18" charset="0"/>
                <a:ea typeface="Calibri" pitchFamily="34" charset="0"/>
                <a:cs typeface="Times New Roman" pitchFamily="18" charset="0"/>
              </a:rPr>
              <a:t>)</a:t>
            </a:r>
            <a:r>
              <a:rPr lang="en-US" sz="2400" baseline="30000" dirty="0" smtClean="0">
                <a:latin typeface="Times New Roman" pitchFamily="18" charset="0"/>
                <a:ea typeface="Calibri" pitchFamily="34" charset="0"/>
                <a:cs typeface="Times New Roman" pitchFamily="18" charset="0"/>
              </a:rPr>
              <a:t>2   </a:t>
            </a:r>
            <a:r>
              <a:rPr lang="en-US" sz="2400" dirty="0" smtClean="0">
                <a:latin typeface="Times New Roman" pitchFamily="18" charset="0"/>
                <a:ea typeface="Calibri" pitchFamily="34" charset="0"/>
                <a:cs typeface="Times New Roman" pitchFamily="18" charset="0"/>
              </a:rPr>
              <a:t>&lt;(2*(𝝉-90˚) )		                                    (10)</a:t>
            </a:r>
            <a:endParaRPr lang="en-US" sz="2400" dirty="0">
              <a:latin typeface="Times New Roman" pitchFamily="18" charset="0"/>
              <a:cs typeface="Times New Roman" pitchFamily="18" charset="0"/>
            </a:endParaRPr>
          </a:p>
        </p:txBody>
      </p:sp>
      <p:sp>
        <p:nvSpPr>
          <p:cNvPr id="9" name="Rectangle 8"/>
          <p:cNvSpPr/>
          <p:nvPr/>
        </p:nvSpPr>
        <p:spPr>
          <a:xfrm>
            <a:off x="642910" y="2857496"/>
            <a:ext cx="6215090" cy="461665"/>
          </a:xfrm>
          <a:prstGeom prst="rect">
            <a:avLst/>
          </a:prstGeom>
        </p:spPr>
        <p:txBody>
          <a:bodyPr wrap="square">
            <a:spAutoFit/>
          </a:bodyPr>
          <a:lstStyle/>
          <a:p>
            <a:r>
              <a:rPr lang="en-IN" sz="2400" dirty="0" smtClean="0">
                <a:latin typeface="Times New Roman" pitchFamily="18" charset="0"/>
                <a:cs typeface="Times New Roman" pitchFamily="18" charset="0"/>
              </a:rPr>
              <a:t>Compute </a:t>
            </a:r>
            <a:r>
              <a:rPr lang="el-GR" sz="2400" b="1" dirty="0" smtClean="0">
                <a:latin typeface="Times New Roman" pitchFamily="18" charset="0"/>
                <a:cs typeface="Times New Roman" pitchFamily="18" charset="0"/>
              </a:rPr>
              <a:t>ε</a:t>
            </a:r>
            <a:r>
              <a:rPr lang="en-IN" sz="2400" b="1" baseline="-25000" dirty="0" smtClean="0">
                <a:latin typeface="Times New Roman" pitchFamily="18" charset="0"/>
                <a:cs typeface="Times New Roman" pitchFamily="18" charset="0"/>
              </a:rPr>
              <a:t>r</a:t>
            </a:r>
            <a:r>
              <a:rPr lang="en-IN" sz="2400" b="1" dirty="0" smtClean="0">
                <a:latin typeface="Times New Roman" pitchFamily="18" charset="0"/>
                <a:cs typeface="Times New Roman" pitchFamily="18" charset="0"/>
              </a:rPr>
              <a:t> (Relative Permittivity) </a:t>
            </a:r>
            <a:r>
              <a:rPr lang="en-IN" sz="2400" dirty="0" smtClean="0">
                <a:latin typeface="Times New Roman" pitchFamily="18" charset="0"/>
                <a:cs typeface="Times New Roman" pitchFamily="18" charset="0"/>
              </a:rPr>
              <a:t>as follows:</a:t>
            </a:r>
          </a:p>
        </p:txBody>
      </p:sp>
      <p:sp>
        <p:nvSpPr>
          <p:cNvPr id="10" name="Rectangle 9"/>
          <p:cNvSpPr/>
          <p:nvPr/>
        </p:nvSpPr>
        <p:spPr>
          <a:xfrm>
            <a:off x="428596" y="3500438"/>
            <a:ext cx="8286808" cy="2308324"/>
          </a:xfrm>
          <a:prstGeom prst="rect">
            <a:avLst/>
          </a:prstGeom>
        </p:spPr>
        <p:txBody>
          <a:bodyPr wrap="square">
            <a:spAutoFit/>
          </a:bodyPr>
          <a:lstStyle/>
          <a:p>
            <a:pPr lvl="0" indent="228600" algn="just" eaLnBrk="0" fontAlgn="base" hangingPunct="0">
              <a:spcBef>
                <a:spcPct val="0"/>
              </a:spcBef>
              <a:spcAft>
                <a:spcPct val="0"/>
              </a:spcAft>
              <a:tabLst>
                <a:tab pos="400050" algn="l"/>
                <a:tab pos="571500" algn="l"/>
              </a:tabLst>
            </a:pPr>
            <a:r>
              <a:rPr lang="en-US" sz="2400" dirty="0" err="1" smtClean="0">
                <a:latin typeface="Times New Roman" pitchFamily="18" charset="0"/>
                <a:ea typeface="Calibri" pitchFamily="34" charset="0"/>
                <a:cs typeface="Times New Roman" pitchFamily="18" charset="0"/>
              </a:rPr>
              <a:t>γ</a:t>
            </a:r>
            <a:r>
              <a:rPr lang="en-US" sz="2400" baseline="-30000" dirty="0" err="1" smtClean="0">
                <a:latin typeface="Times New Roman" pitchFamily="18" charset="0"/>
                <a:ea typeface="Calibri" pitchFamily="34" charset="0"/>
                <a:cs typeface="Times New Roman" pitchFamily="18" charset="0"/>
              </a:rPr>
              <a:t>e</a:t>
            </a:r>
            <a:r>
              <a:rPr lang="en-US" sz="2400" baseline="-30000" dirty="0" smtClean="0">
                <a:latin typeface="Times New Roman" pitchFamily="18" charset="0"/>
                <a:ea typeface="Calibri" pitchFamily="34" charset="0"/>
                <a:cs typeface="Times New Roman" pitchFamily="18" charset="0"/>
              </a:rPr>
              <a:t> = </a:t>
            </a:r>
            <a:r>
              <a:rPr lang="en-US" sz="2400" dirty="0" err="1" smtClean="0">
                <a:latin typeface="Times New Roman" pitchFamily="18" charset="0"/>
                <a:ea typeface="Calibri" pitchFamily="34" charset="0"/>
                <a:cs typeface="Times New Roman" pitchFamily="18" charset="0"/>
              </a:rPr>
              <a:t>G</a:t>
            </a:r>
            <a:r>
              <a:rPr lang="en-US" sz="2400" baseline="-30000" dirty="0" err="1" smtClean="0">
                <a:latin typeface="Times New Roman" pitchFamily="18" charset="0"/>
                <a:ea typeface="Calibri" pitchFamily="34" charset="0"/>
                <a:cs typeface="Times New Roman" pitchFamily="18" charset="0"/>
              </a:rPr>
              <a:t>e</a:t>
            </a:r>
            <a:r>
              <a:rPr lang="en-US" sz="2400" dirty="0" smtClean="0">
                <a:latin typeface="Times New Roman" pitchFamily="18" charset="0"/>
                <a:ea typeface="Calibri" pitchFamily="34" charset="0"/>
                <a:cs typeface="Times New Roman" pitchFamily="18" charset="0"/>
              </a:rPr>
              <a:t>- </a:t>
            </a:r>
            <a:r>
              <a:rPr lang="en-US" sz="2400" dirty="0" err="1" smtClean="0">
                <a:latin typeface="Times New Roman" pitchFamily="18" charset="0"/>
                <a:ea typeface="Calibri" pitchFamily="34" charset="0"/>
                <a:cs typeface="Times New Roman" pitchFamily="18" charset="0"/>
              </a:rPr>
              <a:t>jB</a:t>
            </a:r>
            <a:r>
              <a:rPr lang="en-US" sz="2400" baseline="-30000" dirty="0" err="1" smtClean="0">
                <a:latin typeface="Times New Roman" pitchFamily="18" charset="0"/>
                <a:ea typeface="Calibri" pitchFamily="34" charset="0"/>
                <a:cs typeface="Times New Roman" pitchFamily="18" charset="0"/>
              </a:rPr>
              <a:t>e</a:t>
            </a:r>
            <a:r>
              <a:rPr lang="en-US" sz="2400" dirty="0" smtClean="0">
                <a:latin typeface="Times New Roman" pitchFamily="18" charset="0"/>
                <a:ea typeface="Calibri" pitchFamily="34" charset="0"/>
                <a:cs typeface="Times New Roman" pitchFamily="18" charset="0"/>
              </a:rPr>
              <a:t>		                                                             (11)</a:t>
            </a:r>
          </a:p>
          <a:p>
            <a:pPr lvl="0" indent="228600" algn="just" eaLnBrk="0" fontAlgn="base" hangingPunct="0">
              <a:spcBef>
                <a:spcPct val="0"/>
              </a:spcBef>
              <a:spcAft>
                <a:spcPct val="0"/>
              </a:spcAft>
              <a:tabLst>
                <a:tab pos="400050" algn="l"/>
                <a:tab pos="571500" algn="l"/>
              </a:tabLst>
            </a:pPr>
            <a:r>
              <a:rPr lang="en-US" sz="2400" dirty="0" smtClean="0">
                <a:latin typeface="Times New Roman" pitchFamily="18" charset="0"/>
                <a:ea typeface="Calibri" pitchFamily="34" charset="0"/>
                <a:cs typeface="Times New Roman" pitchFamily="18" charset="0"/>
              </a:rPr>
              <a:t>		                                           </a:t>
            </a:r>
            <a:endParaRPr lang="en-US" sz="2400" dirty="0" smtClean="0">
              <a:latin typeface="Times New Roman" pitchFamily="18" charset="0"/>
              <a:cs typeface="Times New Roman" pitchFamily="18" charset="0"/>
            </a:endParaRPr>
          </a:p>
          <a:p>
            <a:pPr lvl="0" indent="228600" algn="just" eaLnBrk="0" fontAlgn="base" hangingPunct="0">
              <a:spcBef>
                <a:spcPct val="0"/>
              </a:spcBef>
              <a:spcAft>
                <a:spcPct val="0"/>
              </a:spcAft>
              <a:tabLst>
                <a:tab pos="400050" algn="l"/>
                <a:tab pos="571500" algn="l"/>
              </a:tabLst>
            </a:pPr>
            <a:r>
              <a:rPr lang="en-US" sz="2400" dirty="0" smtClean="0">
                <a:latin typeface="Times New Roman" pitchFamily="18" charset="0"/>
                <a:ea typeface="Calibri" pitchFamily="34" charset="0"/>
                <a:cs typeface="Times New Roman" pitchFamily="18" charset="0"/>
              </a:rPr>
              <a:t>Where,</a:t>
            </a:r>
            <a:endParaRPr lang="en-US" sz="2400" dirty="0" smtClean="0">
              <a:latin typeface="Times New Roman" pitchFamily="18" charset="0"/>
              <a:cs typeface="Times New Roman" pitchFamily="18" charset="0"/>
            </a:endParaRPr>
          </a:p>
          <a:p>
            <a:pPr lvl="0" indent="228600" algn="just" eaLnBrk="0" fontAlgn="base" hangingPunct="0">
              <a:spcBef>
                <a:spcPct val="0"/>
              </a:spcBef>
              <a:spcAft>
                <a:spcPct val="0"/>
              </a:spcAft>
              <a:tabLst>
                <a:tab pos="400050" algn="l"/>
                <a:tab pos="571500" algn="l"/>
              </a:tabLst>
            </a:pPr>
            <a:r>
              <a:rPr lang="en-US" sz="2400" dirty="0" err="1" smtClean="0">
                <a:latin typeface="Times New Roman" pitchFamily="18" charset="0"/>
                <a:ea typeface="Calibri" pitchFamily="34" charset="0"/>
                <a:cs typeface="Times New Roman" pitchFamily="18" charset="0"/>
              </a:rPr>
              <a:t>γe</a:t>
            </a:r>
            <a:r>
              <a:rPr lang="en-US" sz="2400" dirty="0" smtClean="0">
                <a:latin typeface="Times New Roman" pitchFamily="18" charset="0"/>
                <a:ea typeface="Calibri" pitchFamily="34" charset="0"/>
                <a:cs typeface="Times New Roman" pitchFamily="18" charset="0"/>
              </a:rPr>
              <a:t> = admittance</a:t>
            </a:r>
            <a:endParaRPr lang="en-US" sz="2400" dirty="0" smtClean="0">
              <a:latin typeface="Times New Roman" pitchFamily="18" charset="0"/>
              <a:cs typeface="Times New Roman" pitchFamily="18" charset="0"/>
            </a:endParaRPr>
          </a:p>
          <a:p>
            <a:pPr lvl="0" indent="228600" algn="just" eaLnBrk="0" fontAlgn="base" hangingPunct="0">
              <a:spcBef>
                <a:spcPct val="0"/>
              </a:spcBef>
              <a:spcAft>
                <a:spcPct val="0"/>
              </a:spcAft>
              <a:tabLst>
                <a:tab pos="400050" algn="l"/>
                <a:tab pos="571500" algn="l"/>
              </a:tabLst>
            </a:pPr>
            <a:r>
              <a:rPr lang="en-US" sz="2400" dirty="0" err="1" smtClean="0">
                <a:latin typeface="Times New Roman" pitchFamily="18" charset="0"/>
                <a:ea typeface="Calibri" pitchFamily="34" charset="0"/>
                <a:cs typeface="Times New Roman" pitchFamily="18" charset="0"/>
              </a:rPr>
              <a:t>G</a:t>
            </a:r>
            <a:r>
              <a:rPr lang="en-US" sz="2400" baseline="-30000" dirty="0" err="1" smtClean="0">
                <a:latin typeface="Times New Roman" pitchFamily="18" charset="0"/>
                <a:ea typeface="Calibri" pitchFamily="34" charset="0"/>
                <a:cs typeface="Times New Roman" pitchFamily="18" charset="0"/>
              </a:rPr>
              <a:t>e</a:t>
            </a:r>
            <a:r>
              <a:rPr lang="en-US" sz="2400" baseline="-30000" dirty="0" smtClean="0">
                <a:latin typeface="Times New Roman" pitchFamily="18" charset="0"/>
                <a:ea typeface="Calibri" pitchFamily="34" charset="0"/>
                <a:cs typeface="Times New Roman" pitchFamily="18" charset="0"/>
              </a:rPr>
              <a:t> =  </a:t>
            </a:r>
            <a:r>
              <a:rPr lang="en-US" sz="2400" dirty="0" smtClean="0">
                <a:latin typeface="Times New Roman" pitchFamily="18" charset="0"/>
                <a:ea typeface="Calibri" pitchFamily="34" charset="0"/>
                <a:cs typeface="Times New Roman" pitchFamily="18" charset="0"/>
              </a:rPr>
              <a:t>conductance</a:t>
            </a:r>
            <a:endParaRPr lang="en-US" sz="2400" dirty="0" smtClean="0">
              <a:latin typeface="Times New Roman" pitchFamily="18" charset="0"/>
              <a:cs typeface="Times New Roman" pitchFamily="18" charset="0"/>
            </a:endParaRPr>
          </a:p>
          <a:p>
            <a:pPr lvl="0" indent="228600" algn="just" eaLnBrk="0" fontAlgn="base" hangingPunct="0">
              <a:spcBef>
                <a:spcPct val="0"/>
              </a:spcBef>
              <a:spcAft>
                <a:spcPct val="0"/>
              </a:spcAft>
              <a:tabLst>
                <a:tab pos="400050" algn="l"/>
                <a:tab pos="571500" algn="l"/>
              </a:tabLst>
            </a:pPr>
            <a:r>
              <a:rPr lang="en-US" sz="2400" dirty="0" smtClean="0">
                <a:latin typeface="Times New Roman" pitchFamily="18" charset="0"/>
                <a:ea typeface="Calibri" pitchFamily="34" charset="0"/>
                <a:cs typeface="Times New Roman" pitchFamily="18" charset="0"/>
              </a:rPr>
              <a:t> B</a:t>
            </a:r>
            <a:r>
              <a:rPr lang="en-US" sz="2400" baseline="-30000" dirty="0" smtClean="0">
                <a:latin typeface="Times New Roman" pitchFamily="18" charset="0"/>
                <a:ea typeface="Calibri" pitchFamily="34" charset="0"/>
                <a:cs typeface="Times New Roman" pitchFamily="18" charset="0"/>
              </a:rPr>
              <a:t>e =  </a:t>
            </a:r>
            <a:r>
              <a:rPr lang="en-US" sz="2400" dirty="0" smtClean="0">
                <a:latin typeface="Times New Roman" pitchFamily="18" charset="0"/>
                <a:ea typeface="Calibri" pitchFamily="34" charset="0"/>
                <a:cs typeface="Times New Roman" pitchFamily="18" charset="0"/>
              </a:rPr>
              <a:t>susceptance</a:t>
            </a:r>
          </a:p>
        </p:txBody>
      </p:sp>
      <p:sp>
        <p:nvSpPr>
          <p:cNvPr id="11" name="Slide Number Placeholder 10"/>
          <p:cNvSpPr>
            <a:spLocks noGrp="1"/>
          </p:cNvSpPr>
          <p:nvPr>
            <p:ph type="sldNum" sz="quarter" idx="12"/>
          </p:nvPr>
        </p:nvSpPr>
        <p:spPr/>
        <p:txBody>
          <a:bodyPr/>
          <a:lstStyle/>
          <a:p>
            <a:fld id="{C2C1A6A0-3F2F-4BAF-B319-837518E4456F}" type="slidenum">
              <a:rPr lang="en-US" smtClean="0"/>
              <a:pPr/>
              <a:t>38</a:t>
            </a:fld>
            <a:endParaRPr lang="en-US"/>
          </a:p>
        </p:txBody>
      </p:sp>
    </p:spTree>
  </p:cSld>
  <p:clrMapOvr>
    <a:masterClrMapping/>
  </p:clrMapOvr>
  <p:transition>
    <p:split orient="vert"/>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14348" y="857232"/>
            <a:ext cx="7858180" cy="3847207"/>
          </a:xfrm>
          <a:prstGeom prst="rect">
            <a:avLst/>
          </a:prstGeom>
        </p:spPr>
        <p:txBody>
          <a:bodyPr wrap="square">
            <a:spAutoFit/>
          </a:bodyPr>
          <a:lstStyle/>
          <a:p>
            <a:pPr lvl="0" indent="228600" algn="just" eaLnBrk="0" fontAlgn="base" hangingPunct="0">
              <a:spcBef>
                <a:spcPct val="0"/>
              </a:spcBef>
              <a:spcAft>
                <a:spcPct val="0"/>
              </a:spcAft>
              <a:tabLst>
                <a:tab pos="400050" algn="l"/>
                <a:tab pos="571500" algn="l"/>
              </a:tabLst>
            </a:pPr>
            <a:r>
              <a:rPr lang="en-US" sz="2400" dirty="0" smtClean="0">
                <a:latin typeface="Times New Roman" pitchFamily="18" charset="0"/>
                <a:ea typeface="Calibri" pitchFamily="34" charset="0"/>
                <a:cs typeface="Times New Roman" pitchFamily="18" charset="0"/>
              </a:rPr>
              <a:t>ε’= (</a:t>
            </a:r>
            <a:r>
              <a:rPr lang="en-US" sz="2400" dirty="0" err="1" smtClean="0">
                <a:latin typeface="Times New Roman" pitchFamily="18" charset="0"/>
                <a:ea typeface="Calibri" pitchFamily="34" charset="0"/>
                <a:cs typeface="Times New Roman" pitchFamily="18" charset="0"/>
              </a:rPr>
              <a:t>G</a:t>
            </a:r>
            <a:r>
              <a:rPr lang="en-US" sz="2400" baseline="-30000" dirty="0" err="1" smtClean="0">
                <a:latin typeface="Times New Roman" pitchFamily="18" charset="0"/>
                <a:ea typeface="Calibri" pitchFamily="34" charset="0"/>
                <a:cs typeface="Times New Roman" pitchFamily="18" charset="0"/>
              </a:rPr>
              <a:t>e</a:t>
            </a:r>
            <a:r>
              <a:rPr lang="en-US" sz="2400" dirty="0" smtClean="0">
                <a:latin typeface="Times New Roman" pitchFamily="18" charset="0"/>
                <a:ea typeface="Calibri" pitchFamily="34" charset="0"/>
                <a:cs typeface="Times New Roman" pitchFamily="18" charset="0"/>
              </a:rPr>
              <a:t>+(</a:t>
            </a:r>
            <a:r>
              <a:rPr lang="en-US" sz="2400" dirty="0" err="1" smtClean="0">
                <a:latin typeface="Times New Roman" pitchFamily="18" charset="0"/>
                <a:ea typeface="Calibri" pitchFamily="34" charset="0"/>
                <a:cs typeface="Times New Roman" pitchFamily="18" charset="0"/>
              </a:rPr>
              <a:t>λ</a:t>
            </a:r>
            <a:r>
              <a:rPr lang="en-US" sz="2400" baseline="-30000" dirty="0" err="1" smtClean="0">
                <a:latin typeface="Times New Roman" pitchFamily="18" charset="0"/>
                <a:ea typeface="Calibri" pitchFamily="34" charset="0"/>
                <a:cs typeface="Times New Roman" pitchFamily="18" charset="0"/>
              </a:rPr>
              <a:t>g</a:t>
            </a:r>
            <a:r>
              <a:rPr lang="en-US" sz="2400" dirty="0" smtClean="0">
                <a:latin typeface="Times New Roman" pitchFamily="18" charset="0"/>
                <a:ea typeface="Calibri" pitchFamily="34" charset="0"/>
                <a:cs typeface="Times New Roman" pitchFamily="18" charset="0"/>
              </a:rPr>
              <a:t>/2a)</a:t>
            </a:r>
            <a:r>
              <a:rPr lang="en-US" sz="2400" baseline="30000" dirty="0" smtClean="0">
                <a:latin typeface="Times New Roman" pitchFamily="18" charset="0"/>
                <a:ea typeface="Calibri" pitchFamily="34" charset="0"/>
                <a:cs typeface="Times New Roman" pitchFamily="18" charset="0"/>
              </a:rPr>
              <a:t>2</a:t>
            </a:r>
            <a:r>
              <a:rPr lang="en-US" sz="2400" dirty="0" smtClean="0">
                <a:latin typeface="Times New Roman" pitchFamily="18" charset="0"/>
                <a:ea typeface="Calibri" pitchFamily="34" charset="0"/>
                <a:cs typeface="Times New Roman" pitchFamily="18" charset="0"/>
              </a:rPr>
              <a:t>)/(1+(</a:t>
            </a:r>
            <a:r>
              <a:rPr lang="en-US" sz="2400" dirty="0" err="1" smtClean="0">
                <a:latin typeface="Times New Roman" pitchFamily="18" charset="0"/>
                <a:ea typeface="Calibri" pitchFamily="34" charset="0"/>
                <a:cs typeface="Times New Roman" pitchFamily="18" charset="0"/>
              </a:rPr>
              <a:t>λ</a:t>
            </a:r>
            <a:r>
              <a:rPr lang="en-US" sz="2400" baseline="-30000" dirty="0" err="1" smtClean="0">
                <a:latin typeface="Times New Roman" pitchFamily="18" charset="0"/>
                <a:ea typeface="Calibri" pitchFamily="34" charset="0"/>
                <a:cs typeface="Times New Roman" pitchFamily="18" charset="0"/>
              </a:rPr>
              <a:t>g</a:t>
            </a:r>
            <a:r>
              <a:rPr lang="en-US" sz="2400" dirty="0" smtClean="0">
                <a:latin typeface="Times New Roman" pitchFamily="18" charset="0"/>
                <a:ea typeface="Calibri" pitchFamily="34" charset="0"/>
                <a:cs typeface="Times New Roman" pitchFamily="18" charset="0"/>
              </a:rPr>
              <a:t>/2a)</a:t>
            </a:r>
            <a:r>
              <a:rPr lang="en-US" sz="2400" baseline="30000" dirty="0" smtClean="0">
                <a:latin typeface="Times New Roman" pitchFamily="18" charset="0"/>
                <a:ea typeface="Calibri" pitchFamily="34" charset="0"/>
                <a:cs typeface="Times New Roman" pitchFamily="18" charset="0"/>
              </a:rPr>
              <a:t>2</a:t>
            </a:r>
            <a:r>
              <a:rPr lang="en-US" sz="2400" dirty="0" smtClean="0">
                <a:latin typeface="Times New Roman" pitchFamily="18" charset="0"/>
                <a:ea typeface="Calibri" pitchFamily="34" charset="0"/>
                <a:cs typeface="Times New Roman" pitchFamily="18" charset="0"/>
              </a:rPr>
              <a:t>)                                           (12)</a:t>
            </a:r>
          </a:p>
          <a:p>
            <a:pPr lvl="0" indent="228600" algn="just" eaLnBrk="0" fontAlgn="base" hangingPunct="0">
              <a:spcBef>
                <a:spcPct val="0"/>
              </a:spcBef>
              <a:spcAft>
                <a:spcPct val="0"/>
              </a:spcAft>
              <a:tabLst>
                <a:tab pos="400050" algn="l"/>
                <a:tab pos="571500" algn="l"/>
              </a:tabLst>
            </a:pPr>
            <a:r>
              <a:rPr lang="en-US" sz="2400" dirty="0" smtClean="0">
                <a:latin typeface="Times New Roman" pitchFamily="18" charset="0"/>
                <a:ea typeface="Calibri" pitchFamily="34" charset="0"/>
                <a:cs typeface="Times New Roman" pitchFamily="18" charset="0"/>
              </a:rPr>
              <a:t>				   </a:t>
            </a:r>
            <a:endParaRPr lang="en-US" sz="2400" dirty="0" smtClean="0">
              <a:latin typeface="Times New Roman" pitchFamily="18" charset="0"/>
              <a:cs typeface="Times New Roman" pitchFamily="18" charset="0"/>
            </a:endParaRPr>
          </a:p>
          <a:p>
            <a:pPr lvl="0" indent="228600" algn="just" eaLnBrk="0" fontAlgn="base" hangingPunct="0">
              <a:spcBef>
                <a:spcPct val="0"/>
              </a:spcBef>
              <a:spcAft>
                <a:spcPct val="0"/>
              </a:spcAft>
              <a:tabLst>
                <a:tab pos="400050" algn="l"/>
                <a:tab pos="571500" algn="l"/>
              </a:tabLst>
            </a:pPr>
            <a:r>
              <a:rPr lang="en-US" sz="2400" dirty="0" smtClean="0">
                <a:latin typeface="Times New Roman" pitchFamily="18" charset="0"/>
                <a:ea typeface="Calibri" pitchFamily="34" charset="0"/>
                <a:cs typeface="Times New Roman" pitchFamily="18" charset="0"/>
              </a:rPr>
              <a:t>ε’’=(-B</a:t>
            </a:r>
            <a:r>
              <a:rPr lang="en-US" sz="2400" baseline="-30000" dirty="0" smtClean="0">
                <a:latin typeface="Times New Roman" pitchFamily="18" charset="0"/>
                <a:ea typeface="Calibri" pitchFamily="34" charset="0"/>
                <a:cs typeface="Times New Roman" pitchFamily="18" charset="0"/>
              </a:rPr>
              <a:t>e</a:t>
            </a:r>
            <a:r>
              <a:rPr lang="en-US" sz="2400" dirty="0" smtClean="0">
                <a:latin typeface="Times New Roman" pitchFamily="18" charset="0"/>
                <a:ea typeface="Calibri" pitchFamily="34" charset="0"/>
                <a:cs typeface="Times New Roman" pitchFamily="18" charset="0"/>
              </a:rPr>
              <a:t>)/(1+(</a:t>
            </a:r>
            <a:r>
              <a:rPr lang="en-US" sz="2400" dirty="0" err="1" smtClean="0">
                <a:latin typeface="Times New Roman" pitchFamily="18" charset="0"/>
                <a:ea typeface="Calibri" pitchFamily="34" charset="0"/>
                <a:cs typeface="Times New Roman" pitchFamily="18" charset="0"/>
              </a:rPr>
              <a:t>λ</a:t>
            </a:r>
            <a:r>
              <a:rPr lang="en-US" sz="2400" baseline="-30000" dirty="0" err="1" smtClean="0">
                <a:latin typeface="Times New Roman" pitchFamily="18" charset="0"/>
                <a:ea typeface="Calibri" pitchFamily="34" charset="0"/>
                <a:cs typeface="Times New Roman" pitchFamily="18" charset="0"/>
              </a:rPr>
              <a:t>g</a:t>
            </a:r>
            <a:r>
              <a:rPr lang="en-US" sz="2400" dirty="0" smtClean="0">
                <a:latin typeface="Times New Roman" pitchFamily="18" charset="0"/>
                <a:ea typeface="Calibri" pitchFamily="34" charset="0"/>
                <a:cs typeface="Times New Roman" pitchFamily="18" charset="0"/>
              </a:rPr>
              <a:t>/2a)</a:t>
            </a:r>
            <a:r>
              <a:rPr lang="en-US" sz="2400" baseline="30000" dirty="0" smtClean="0">
                <a:latin typeface="Times New Roman" pitchFamily="18" charset="0"/>
                <a:ea typeface="Calibri" pitchFamily="34" charset="0"/>
                <a:cs typeface="Times New Roman" pitchFamily="18" charset="0"/>
              </a:rPr>
              <a:t>2</a:t>
            </a:r>
            <a:r>
              <a:rPr lang="en-US" sz="2400" dirty="0" smtClean="0">
                <a:latin typeface="Times New Roman" pitchFamily="18" charset="0"/>
                <a:ea typeface="Calibri" pitchFamily="34" charset="0"/>
                <a:cs typeface="Times New Roman" pitchFamily="18" charset="0"/>
              </a:rPr>
              <a:t>)		                                  (13)</a:t>
            </a:r>
          </a:p>
          <a:p>
            <a:pPr lvl="0" indent="228600" algn="just" eaLnBrk="0" fontAlgn="base" hangingPunct="0">
              <a:spcBef>
                <a:spcPct val="0"/>
              </a:spcBef>
              <a:spcAft>
                <a:spcPct val="0"/>
              </a:spcAft>
              <a:tabLst>
                <a:tab pos="400050" algn="l"/>
                <a:tab pos="571500" algn="l"/>
              </a:tabLst>
            </a:pPr>
            <a:endParaRPr lang="en-US" sz="2400" dirty="0" smtClean="0">
              <a:latin typeface="Times New Roman" pitchFamily="18" charset="0"/>
              <a:cs typeface="Times New Roman" pitchFamily="18" charset="0"/>
            </a:endParaRPr>
          </a:p>
          <a:p>
            <a:pPr lvl="0" indent="228600" algn="just" eaLnBrk="0" fontAlgn="base" hangingPunct="0">
              <a:spcBef>
                <a:spcPct val="0"/>
              </a:spcBef>
              <a:spcAft>
                <a:spcPct val="0"/>
              </a:spcAft>
              <a:tabLst>
                <a:tab pos="400050" algn="l"/>
                <a:tab pos="571500" algn="l"/>
              </a:tabLst>
            </a:pPr>
            <a:r>
              <a:rPr lang="en-US" sz="2800" b="1" dirty="0" err="1" smtClean="0">
                <a:latin typeface="Times New Roman" pitchFamily="18" charset="0"/>
                <a:ea typeface="Calibri" pitchFamily="34" charset="0"/>
                <a:cs typeface="Times New Roman" pitchFamily="18" charset="0"/>
              </a:rPr>
              <a:t>ε</a:t>
            </a:r>
            <a:r>
              <a:rPr lang="en-US" sz="2800" b="1" baseline="-30000" dirty="0" err="1" smtClean="0">
                <a:latin typeface="Times New Roman" pitchFamily="18" charset="0"/>
                <a:ea typeface="Calibri" pitchFamily="34" charset="0"/>
                <a:cs typeface="Times New Roman" pitchFamily="18" charset="0"/>
              </a:rPr>
              <a:t>r</a:t>
            </a:r>
            <a:r>
              <a:rPr lang="en-US" sz="2800" b="1" baseline="-30000" dirty="0" smtClean="0">
                <a:latin typeface="Times New Roman" pitchFamily="18" charset="0"/>
                <a:ea typeface="Calibri" pitchFamily="34" charset="0"/>
                <a:cs typeface="Times New Roman" pitchFamily="18" charset="0"/>
              </a:rPr>
              <a:t> =</a:t>
            </a:r>
            <a:r>
              <a:rPr lang="en-US" sz="2800" b="1" dirty="0" smtClean="0">
                <a:latin typeface="Times New Roman" pitchFamily="18" charset="0"/>
                <a:ea typeface="Calibri" pitchFamily="34" charset="0"/>
                <a:cs typeface="Times New Roman" pitchFamily="18" charset="0"/>
              </a:rPr>
              <a:t> </a:t>
            </a:r>
            <a:r>
              <a:rPr lang="en-US" sz="2800" b="1" dirty="0" err="1" smtClean="0">
                <a:latin typeface="Times New Roman" pitchFamily="18" charset="0"/>
                <a:ea typeface="Calibri" pitchFamily="34" charset="0"/>
                <a:cs typeface="Times New Roman" pitchFamily="18" charset="0"/>
              </a:rPr>
              <a:t>ε’-jε</a:t>
            </a:r>
            <a:r>
              <a:rPr lang="en-US" sz="2800" b="1" dirty="0" smtClean="0">
                <a:latin typeface="Times New Roman" pitchFamily="18" charset="0"/>
                <a:ea typeface="Calibri" pitchFamily="34" charset="0"/>
                <a:cs typeface="Times New Roman" pitchFamily="18" charset="0"/>
              </a:rPr>
              <a:t>’’</a:t>
            </a:r>
            <a:r>
              <a:rPr lang="en-US" sz="2400" dirty="0" smtClean="0">
                <a:latin typeface="Times New Roman" pitchFamily="18" charset="0"/>
                <a:ea typeface="Calibri" pitchFamily="34" charset="0"/>
                <a:cs typeface="Times New Roman" pitchFamily="18" charset="0"/>
              </a:rPr>
              <a:t>	                                                                      (14)			                                       </a:t>
            </a:r>
            <a:endParaRPr lang="en-US" sz="2400" dirty="0" smtClean="0">
              <a:latin typeface="Times New Roman" pitchFamily="18" charset="0"/>
              <a:cs typeface="Times New Roman" pitchFamily="18" charset="0"/>
            </a:endParaRPr>
          </a:p>
          <a:p>
            <a:pPr lvl="0" indent="228600" algn="just" eaLnBrk="0" fontAlgn="base" hangingPunct="0">
              <a:spcBef>
                <a:spcPct val="0"/>
              </a:spcBef>
              <a:spcAft>
                <a:spcPct val="0"/>
              </a:spcAft>
              <a:tabLst>
                <a:tab pos="400050" algn="l"/>
                <a:tab pos="571500" algn="l"/>
              </a:tabLst>
            </a:pPr>
            <a:r>
              <a:rPr lang="en-US" sz="2400" dirty="0" smtClean="0">
                <a:latin typeface="Times New Roman" pitchFamily="18" charset="0"/>
                <a:ea typeface="Calibri" pitchFamily="34" charset="0"/>
                <a:cs typeface="Times New Roman" pitchFamily="18" charset="0"/>
              </a:rPr>
              <a:t>Where,</a:t>
            </a:r>
            <a:endParaRPr lang="en-US" sz="2400" dirty="0" smtClean="0">
              <a:latin typeface="Times New Roman" pitchFamily="18" charset="0"/>
              <a:cs typeface="Times New Roman" pitchFamily="18" charset="0"/>
            </a:endParaRPr>
          </a:p>
          <a:p>
            <a:pPr lvl="0" indent="228600" algn="just" eaLnBrk="0" fontAlgn="base" hangingPunct="0">
              <a:spcBef>
                <a:spcPct val="0"/>
              </a:spcBef>
              <a:spcAft>
                <a:spcPct val="0"/>
              </a:spcAft>
              <a:tabLst>
                <a:tab pos="400050" algn="l"/>
                <a:tab pos="571500" algn="l"/>
              </a:tabLst>
            </a:pPr>
            <a:r>
              <a:rPr lang="en-US" sz="2400" dirty="0" smtClean="0">
                <a:latin typeface="Times New Roman" pitchFamily="18" charset="0"/>
                <a:ea typeface="Calibri" pitchFamily="34" charset="0"/>
                <a:cs typeface="Times New Roman" pitchFamily="18" charset="0"/>
              </a:rPr>
              <a:t>ε’ =storage factor</a:t>
            </a:r>
            <a:endParaRPr lang="en-US" sz="2400" dirty="0" smtClean="0">
              <a:latin typeface="Times New Roman" pitchFamily="18" charset="0"/>
              <a:cs typeface="Times New Roman" pitchFamily="18" charset="0"/>
            </a:endParaRPr>
          </a:p>
          <a:p>
            <a:pPr lvl="0" indent="228600" algn="just" eaLnBrk="0" fontAlgn="base" hangingPunct="0">
              <a:spcBef>
                <a:spcPct val="0"/>
              </a:spcBef>
              <a:spcAft>
                <a:spcPct val="0"/>
              </a:spcAft>
              <a:tabLst>
                <a:tab pos="400050" algn="l"/>
                <a:tab pos="571500" algn="l"/>
              </a:tabLst>
            </a:pPr>
            <a:r>
              <a:rPr lang="en-US" sz="2400" dirty="0" smtClean="0">
                <a:latin typeface="Times New Roman" pitchFamily="18" charset="0"/>
                <a:ea typeface="Calibri" pitchFamily="34" charset="0"/>
                <a:cs typeface="Times New Roman" pitchFamily="18" charset="0"/>
              </a:rPr>
              <a:t>ε’’=loss factor</a:t>
            </a:r>
            <a:endParaRPr lang="en-US" sz="2400" dirty="0" smtClean="0">
              <a:latin typeface="Times New Roman" pitchFamily="18" charset="0"/>
              <a:cs typeface="Times New Roman" pitchFamily="18" charset="0"/>
            </a:endParaRPr>
          </a:p>
          <a:p>
            <a:pPr lvl="0" indent="228600" algn="just" eaLnBrk="0" fontAlgn="base" hangingPunct="0">
              <a:spcBef>
                <a:spcPct val="0"/>
              </a:spcBef>
              <a:spcAft>
                <a:spcPct val="0"/>
              </a:spcAft>
              <a:tabLst>
                <a:tab pos="400050" algn="l"/>
                <a:tab pos="571500" algn="l"/>
              </a:tabLst>
            </a:pPr>
            <a:r>
              <a:rPr lang="en-US" sz="2400" dirty="0" err="1" smtClean="0">
                <a:latin typeface="Times New Roman" pitchFamily="18" charset="0"/>
                <a:ea typeface="Calibri" pitchFamily="34" charset="0"/>
                <a:cs typeface="Times New Roman" pitchFamily="18" charset="0"/>
              </a:rPr>
              <a:t>ε</a:t>
            </a:r>
            <a:r>
              <a:rPr lang="en-US" sz="2400" baseline="-30000" dirty="0" err="1" smtClean="0">
                <a:latin typeface="Times New Roman" pitchFamily="18" charset="0"/>
                <a:ea typeface="Calibri" pitchFamily="34" charset="0"/>
                <a:cs typeface="Times New Roman" pitchFamily="18" charset="0"/>
              </a:rPr>
              <a:t>r</a:t>
            </a:r>
            <a:r>
              <a:rPr lang="en-US" sz="2400" baseline="-30000" dirty="0" smtClean="0">
                <a:latin typeface="Times New Roman" pitchFamily="18" charset="0"/>
                <a:ea typeface="Calibri" pitchFamily="34" charset="0"/>
                <a:cs typeface="Times New Roman" pitchFamily="18" charset="0"/>
              </a:rPr>
              <a:t> =</a:t>
            </a:r>
            <a:r>
              <a:rPr lang="en-US" sz="2400" dirty="0" smtClean="0">
                <a:latin typeface="Times New Roman" pitchFamily="18" charset="0"/>
                <a:ea typeface="Calibri" pitchFamily="34" charset="0"/>
                <a:cs typeface="Times New Roman" pitchFamily="18" charset="0"/>
              </a:rPr>
              <a:t>dielectric constant</a:t>
            </a:r>
            <a:endParaRPr lang="en-US" sz="2400" dirty="0" smtClean="0">
              <a:latin typeface="Times New Roman" pitchFamily="18" charset="0"/>
              <a:cs typeface="Times New Roman" pitchFamily="18" charset="0"/>
            </a:endParaRPr>
          </a:p>
        </p:txBody>
      </p:sp>
      <p:sp>
        <p:nvSpPr>
          <p:cNvPr id="3" name="Slide Number Placeholder 2"/>
          <p:cNvSpPr>
            <a:spLocks noGrp="1"/>
          </p:cNvSpPr>
          <p:nvPr>
            <p:ph type="sldNum" sz="quarter" idx="12"/>
          </p:nvPr>
        </p:nvSpPr>
        <p:spPr/>
        <p:txBody>
          <a:bodyPr/>
          <a:lstStyle/>
          <a:p>
            <a:fld id="{C2C1A6A0-3F2F-4BAF-B319-837518E4456F}" type="slidenum">
              <a:rPr lang="en-US" smtClean="0"/>
              <a:pPr/>
              <a:t>39</a:t>
            </a:fld>
            <a:endParaRPr lang="en-US"/>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0100" y="0"/>
            <a:ext cx="7786742" cy="2071702"/>
          </a:xfrm>
        </p:spPr>
        <p:txBody>
          <a:bodyPr>
            <a:noAutofit/>
          </a:bodyPr>
          <a:lstStyle/>
          <a:p>
            <a:r>
              <a:rPr lang="en-US" sz="5400" b="1" dirty="0" smtClean="0">
                <a:solidFill>
                  <a:schemeClr val="accent1">
                    <a:lumMod val="75000"/>
                  </a:schemeClr>
                </a:solidFill>
                <a:effectLst>
                  <a:outerShdw blurRad="38100" dist="38100" dir="2700000" algn="tl">
                    <a:srgbClr val="000000">
                      <a:alpha val="43137"/>
                    </a:srgbClr>
                  </a:outerShdw>
                </a:effectLst>
              </a:rPr>
              <a:t>Graphs of Cereals for 3 States </a:t>
            </a:r>
            <a:endParaRPr lang="en-US" sz="5400" b="1" dirty="0">
              <a:solidFill>
                <a:schemeClr val="accent1">
                  <a:lumMod val="75000"/>
                </a:schemeClr>
              </a:solidFill>
              <a:effectLst>
                <a:outerShdw blurRad="38100" dist="38100" dir="2700000" algn="tl">
                  <a:srgbClr val="000000">
                    <a:alpha val="43137"/>
                  </a:srgbClr>
                </a:outerShdw>
              </a:effectLst>
            </a:endParaRPr>
          </a:p>
        </p:txBody>
      </p:sp>
      <p:sp>
        <p:nvSpPr>
          <p:cNvPr id="3" name="TextBox 2"/>
          <p:cNvSpPr txBox="1"/>
          <p:nvPr/>
        </p:nvSpPr>
        <p:spPr>
          <a:xfrm>
            <a:off x="928662" y="2571744"/>
            <a:ext cx="6286544" cy="2554545"/>
          </a:xfrm>
          <a:prstGeom prst="rect">
            <a:avLst/>
          </a:prstGeom>
          <a:noFill/>
        </p:spPr>
        <p:txBody>
          <a:bodyPr wrap="square" rtlCol="0">
            <a:spAutoFit/>
          </a:bodyPr>
          <a:lstStyle/>
          <a:p>
            <a:pPr>
              <a:buFont typeface="Wingdings" pitchFamily="2" charset="2"/>
              <a:buChar char="q"/>
            </a:pPr>
            <a:r>
              <a:rPr lang="en-US" sz="2400" dirty="0" smtClean="0"/>
              <a:t> </a:t>
            </a:r>
            <a:r>
              <a:rPr lang="en-US" sz="3200" dirty="0" smtClean="0">
                <a:latin typeface="Times New Roman" pitchFamily="18" charset="0"/>
                <a:cs typeface="Times New Roman" pitchFamily="18" charset="0"/>
              </a:rPr>
              <a:t>Preliminary state</a:t>
            </a:r>
          </a:p>
          <a:p>
            <a:pPr>
              <a:buFont typeface="Wingdings" pitchFamily="2" charset="2"/>
              <a:buChar char="q"/>
            </a:pPr>
            <a:endParaRPr lang="en-US" sz="3200" dirty="0" smtClean="0">
              <a:latin typeface="Times New Roman" pitchFamily="18" charset="0"/>
              <a:cs typeface="Times New Roman" pitchFamily="18" charset="0"/>
            </a:endParaRPr>
          </a:p>
          <a:p>
            <a:pPr>
              <a:buFont typeface="Wingdings" pitchFamily="2" charset="2"/>
              <a:buChar char="q"/>
            </a:pPr>
            <a:r>
              <a:rPr lang="en-US" sz="3200" dirty="0" smtClean="0">
                <a:latin typeface="Times New Roman" pitchFamily="18" charset="0"/>
                <a:cs typeface="Times New Roman" pitchFamily="18" charset="0"/>
              </a:rPr>
              <a:t> Oven Dried state</a:t>
            </a:r>
          </a:p>
          <a:p>
            <a:pPr>
              <a:buFont typeface="Wingdings" pitchFamily="2" charset="2"/>
              <a:buChar char="q"/>
            </a:pPr>
            <a:endParaRPr lang="en-US" sz="3200" dirty="0" smtClean="0">
              <a:latin typeface="Times New Roman" pitchFamily="18" charset="0"/>
              <a:cs typeface="Times New Roman" pitchFamily="18" charset="0"/>
            </a:endParaRPr>
          </a:p>
          <a:p>
            <a:pPr>
              <a:buFont typeface="Wingdings" pitchFamily="2" charset="2"/>
              <a:buChar char="q"/>
            </a:pPr>
            <a:r>
              <a:rPr lang="en-US" sz="3200" dirty="0" smtClean="0">
                <a:latin typeface="Times New Roman" pitchFamily="18" charset="0"/>
                <a:cs typeface="Times New Roman" pitchFamily="18" charset="0"/>
              </a:rPr>
              <a:t> Saturated state</a:t>
            </a:r>
            <a:endParaRPr lang="en-IN" sz="3200" dirty="0">
              <a:latin typeface="Times New Roman" pitchFamily="18" charset="0"/>
              <a:cs typeface="Times New Roman" pitchFamily="18" charset="0"/>
            </a:endParaRPr>
          </a:p>
        </p:txBody>
      </p:sp>
      <p:sp>
        <p:nvSpPr>
          <p:cNvPr id="4" name="Slide Number Placeholder 3"/>
          <p:cNvSpPr>
            <a:spLocks noGrp="1"/>
          </p:cNvSpPr>
          <p:nvPr>
            <p:ph type="sldNum" sz="quarter" idx="11"/>
          </p:nvPr>
        </p:nvSpPr>
        <p:spPr/>
        <p:txBody>
          <a:bodyPr/>
          <a:lstStyle/>
          <a:p>
            <a:fld id="{C2C1A6A0-3F2F-4BAF-B319-837518E4456F}" type="slidenum">
              <a:rPr lang="en-US" smtClean="0"/>
              <a:pPr/>
              <a:t>40</a:t>
            </a:fld>
            <a:endParaRPr lang="en-US"/>
          </a:p>
        </p:txBody>
      </p:sp>
    </p:spTree>
    <p:extLst>
      <p:ext uri="{BB962C8B-B14F-4D97-AF65-F5344CB8AC3E}">
        <p14:creationId xmlns:p14="http://schemas.microsoft.com/office/powerpoint/2010/main" xmlns="" val="964738911"/>
      </p:ext>
    </p:extLst>
  </p:cSld>
  <p:clrMapOvr>
    <a:masterClrMapping/>
  </p:clrMapOvr>
  <p:transition>
    <p:blinds/>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28596" y="785794"/>
            <a:ext cx="8143932" cy="3570208"/>
          </a:xfrm>
          <a:prstGeom prst="rect">
            <a:avLst/>
          </a:prstGeom>
        </p:spPr>
        <p:txBody>
          <a:bodyPr wrap="square">
            <a:spAutoFit/>
          </a:bodyPr>
          <a:lstStyle/>
          <a:p>
            <a:pPr algn="ctr"/>
            <a:r>
              <a:rPr lang="en-US" sz="3600" b="1" dirty="0" smtClean="0">
                <a:effectLst>
                  <a:outerShdw blurRad="38100" dist="38100" dir="2700000" algn="tl">
                    <a:srgbClr val="000000">
                      <a:alpha val="43137"/>
                    </a:srgbClr>
                  </a:outerShdw>
                </a:effectLst>
                <a:latin typeface="Times New Roman" pitchFamily="18" charset="0"/>
                <a:cs typeface="Times New Roman" pitchFamily="18" charset="0"/>
              </a:rPr>
              <a:t>OVERVIEW</a:t>
            </a:r>
          </a:p>
          <a:p>
            <a:r>
              <a:rPr lang="en-US" dirty="0" smtClean="0">
                <a:latin typeface="Times New Roman" pitchFamily="18" charset="0"/>
                <a:cs typeface="Times New Roman" pitchFamily="18" charset="0"/>
              </a:rPr>
              <a:t/>
            </a:r>
            <a:br>
              <a:rPr lang="en-US" dirty="0" smtClean="0">
                <a:latin typeface="Times New Roman" pitchFamily="18" charset="0"/>
                <a:cs typeface="Times New Roman" pitchFamily="18" charset="0"/>
              </a:rPr>
            </a:br>
            <a:r>
              <a:rPr lang="en-US" sz="2800" b="1" dirty="0" smtClean="0">
                <a:latin typeface="Times New Roman" pitchFamily="18" charset="0"/>
                <a:cs typeface="Times New Roman" pitchFamily="18" charset="0"/>
              </a:rPr>
              <a:t>Combinational study of </a:t>
            </a:r>
            <a:r>
              <a:rPr lang="en-US" sz="2800" b="1" dirty="0" smtClean="0">
                <a:latin typeface="Times New Roman" pitchFamily="18" charset="0"/>
                <a:cs typeface="Times New Roman" pitchFamily="18" charset="0"/>
              </a:rPr>
              <a:t>Cereals</a:t>
            </a:r>
            <a:r>
              <a:rPr lang="en-US" sz="2400" b="1" dirty="0" smtClean="0">
                <a:latin typeface="Times New Roman" pitchFamily="18" charset="0"/>
                <a:cs typeface="Times New Roman" pitchFamily="18" charset="0"/>
              </a:rPr>
              <a:t>:</a:t>
            </a:r>
          </a:p>
          <a:p>
            <a:r>
              <a:rPr lang="en-US" sz="2400" b="1" dirty="0" smtClean="0">
                <a:latin typeface="Times New Roman" pitchFamily="18" charset="0"/>
                <a:cs typeface="Times New Roman" pitchFamily="18" charset="0"/>
              </a:rPr>
              <a:t>	</a:t>
            </a:r>
            <a:r>
              <a:rPr lang="en-US" sz="2400" dirty="0" smtClean="0">
                <a:latin typeface="Times New Roman" pitchFamily="18" charset="0"/>
                <a:cs typeface="Times New Roman" pitchFamily="18" charset="0"/>
              </a:rPr>
              <a:t/>
            </a:r>
            <a:br>
              <a:rPr lang="en-US" sz="2400" dirty="0" smtClean="0">
                <a:latin typeface="Times New Roman" pitchFamily="18" charset="0"/>
                <a:cs typeface="Times New Roman" pitchFamily="18" charset="0"/>
              </a:rPr>
            </a:br>
            <a:r>
              <a:rPr lang="en-US" sz="2400" dirty="0" smtClean="0">
                <a:latin typeface="Times New Roman" pitchFamily="18" charset="0"/>
                <a:cs typeface="Times New Roman" pitchFamily="18" charset="0"/>
              </a:rPr>
              <a:t>    In order to determine the variability of dielectric constant with frequency, the measurements were made at different frequencies. The measurements have been made at four frequencies in the range 5 to 13 </a:t>
            </a:r>
            <a:r>
              <a:rPr lang="en-US" sz="2400" dirty="0" smtClean="0">
                <a:latin typeface="Times New Roman" pitchFamily="18" charset="0"/>
                <a:cs typeface="Times New Roman" pitchFamily="18" charset="0"/>
              </a:rPr>
              <a:t>GHz i.e. at 5.3 GHz(CJ-Band), 10.60 GHz(X-Band), 13.0 GHz(Ku-Band). </a:t>
            </a:r>
            <a:endParaRPr lang="en-US" sz="2400" dirty="0">
              <a:latin typeface="Times New Roman" pitchFamily="18" charset="0"/>
              <a:cs typeface="Times New Roman" pitchFamily="18" charset="0"/>
            </a:endParaRPr>
          </a:p>
        </p:txBody>
      </p:sp>
      <p:sp>
        <p:nvSpPr>
          <p:cNvPr id="5" name="Slide Number Placeholder 4"/>
          <p:cNvSpPr>
            <a:spLocks noGrp="1"/>
          </p:cNvSpPr>
          <p:nvPr>
            <p:ph type="sldNum" sz="quarter" idx="11"/>
          </p:nvPr>
        </p:nvSpPr>
        <p:spPr/>
        <p:txBody>
          <a:bodyPr/>
          <a:lstStyle/>
          <a:p>
            <a:fld id="{C2C1A6A0-3F2F-4BAF-B319-837518E4456F}" type="slidenum">
              <a:rPr lang="en-US" smtClean="0"/>
              <a:pPr/>
              <a:t>41</a:t>
            </a:fld>
            <a:endParaRPr lang="en-US"/>
          </a:p>
        </p:txBody>
      </p:sp>
    </p:spTree>
  </p:cSld>
  <p:clrMapOvr>
    <a:masterClrMapping/>
  </p:clrMapOvr>
  <p:transition>
    <p:dissolve/>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nvGraphicFramePr>
        <p:xfrm>
          <a:off x="0" y="357166"/>
          <a:ext cx="9144000" cy="6949440"/>
        </p:xfrm>
        <a:graphic>
          <a:graphicData uri="http://schemas.openxmlformats.org/drawingml/2006/table">
            <a:tbl>
              <a:tblPr firstRow="1" bandRow="1">
                <a:tableStyleId>{5C22544A-7EE6-4342-B048-85BDC9FD1C3A}</a:tableStyleId>
              </a:tblPr>
              <a:tblGrid>
                <a:gridCol w="3048000"/>
                <a:gridCol w="3048000"/>
                <a:gridCol w="3048000"/>
              </a:tblGrid>
              <a:tr h="311538">
                <a:tc>
                  <a:txBody>
                    <a:bodyPr/>
                    <a:lstStyle/>
                    <a:p>
                      <a:pPr marL="0" marR="0" algn="ctr">
                        <a:lnSpc>
                          <a:spcPct val="150000"/>
                        </a:lnSpc>
                        <a:spcBef>
                          <a:spcPts val="0"/>
                        </a:spcBef>
                        <a:spcAft>
                          <a:spcPts val="0"/>
                        </a:spcAft>
                      </a:pPr>
                      <a:r>
                        <a:rPr lang="en-US" sz="1600" b="1" dirty="0">
                          <a:latin typeface="Times New Roman"/>
                          <a:ea typeface="Calibri"/>
                          <a:cs typeface="Times New Roman"/>
                        </a:rPr>
                        <a:t>SAMPLES</a:t>
                      </a:r>
                      <a:endParaRPr lang="en-US" sz="1600" dirty="0">
                        <a:latin typeface="Calibri"/>
                        <a:ea typeface="Calibri"/>
                        <a:cs typeface="Times New Roman"/>
                      </a:endParaRPr>
                    </a:p>
                  </a:txBody>
                  <a:tcPr marL="68580" marR="68580" marT="0" marB="0"/>
                </a:tc>
                <a:tc>
                  <a:txBody>
                    <a:bodyPr/>
                    <a:lstStyle/>
                    <a:p>
                      <a:pPr marL="0" marR="0" algn="ctr">
                        <a:lnSpc>
                          <a:spcPct val="150000"/>
                        </a:lnSpc>
                        <a:spcBef>
                          <a:spcPts val="0"/>
                        </a:spcBef>
                        <a:spcAft>
                          <a:spcPts val="0"/>
                        </a:spcAft>
                      </a:pPr>
                      <a:r>
                        <a:rPr lang="en-US" sz="1600" b="1">
                          <a:latin typeface="Times New Roman"/>
                          <a:ea typeface="Calibri"/>
                          <a:cs typeface="Times New Roman"/>
                        </a:rPr>
                        <a:t>DIELECTRIC CONSTANT</a:t>
                      </a:r>
                      <a:endParaRPr lang="en-US" sz="1600">
                        <a:latin typeface="Calibri"/>
                        <a:ea typeface="Calibri"/>
                        <a:cs typeface="Times New Roman"/>
                      </a:endParaRPr>
                    </a:p>
                  </a:txBody>
                  <a:tcPr marL="68580" marR="68580" marT="0" marB="0"/>
                </a:tc>
                <a:tc>
                  <a:txBody>
                    <a:bodyPr/>
                    <a:lstStyle/>
                    <a:p>
                      <a:pPr marL="0" marR="0" algn="ctr">
                        <a:lnSpc>
                          <a:spcPct val="150000"/>
                        </a:lnSpc>
                        <a:spcBef>
                          <a:spcPts val="0"/>
                        </a:spcBef>
                        <a:spcAft>
                          <a:spcPts val="0"/>
                        </a:spcAft>
                      </a:pPr>
                      <a:r>
                        <a:rPr lang="en-US" sz="1600" b="1" dirty="0">
                          <a:latin typeface="Times New Roman"/>
                          <a:ea typeface="Calibri"/>
                          <a:cs typeface="Times New Roman"/>
                        </a:rPr>
                        <a:t>LOSS FACTOR</a:t>
                      </a:r>
                      <a:endParaRPr lang="en-US" sz="1600" dirty="0">
                        <a:latin typeface="Calibri"/>
                        <a:ea typeface="Calibri"/>
                        <a:cs typeface="Times New Roman"/>
                      </a:endParaRPr>
                    </a:p>
                  </a:txBody>
                  <a:tcPr marL="68580" marR="68580" marT="0" marB="0"/>
                </a:tc>
              </a:tr>
              <a:tr h="311538">
                <a:tc>
                  <a:txBody>
                    <a:bodyPr/>
                    <a:lstStyle/>
                    <a:p>
                      <a:pPr marL="0" marR="0" algn="ctr">
                        <a:lnSpc>
                          <a:spcPct val="150000"/>
                        </a:lnSpc>
                        <a:spcBef>
                          <a:spcPts val="0"/>
                        </a:spcBef>
                        <a:spcAft>
                          <a:spcPts val="0"/>
                        </a:spcAft>
                      </a:pPr>
                      <a:r>
                        <a:rPr lang="en-US" sz="1600" b="1" dirty="0">
                          <a:latin typeface="Times New Roman"/>
                          <a:ea typeface="Calibri"/>
                          <a:cs typeface="Times New Roman"/>
                        </a:rPr>
                        <a:t>PRELIMANARY</a:t>
                      </a:r>
                      <a:endParaRPr lang="en-US" sz="1600" dirty="0">
                        <a:latin typeface="Calibri"/>
                        <a:ea typeface="Calibri"/>
                        <a:cs typeface="Times New Roman"/>
                      </a:endParaRPr>
                    </a:p>
                  </a:txBody>
                  <a:tcPr marL="68580" marR="68580" marT="0" marB="0"/>
                </a:tc>
                <a:tc gridSpan="2">
                  <a:txBody>
                    <a:bodyPr/>
                    <a:lstStyle/>
                    <a:p>
                      <a:pPr marL="0" marR="0" algn="ctr">
                        <a:lnSpc>
                          <a:spcPct val="150000"/>
                        </a:lnSpc>
                        <a:spcBef>
                          <a:spcPts val="0"/>
                        </a:spcBef>
                        <a:spcAft>
                          <a:spcPts val="0"/>
                        </a:spcAft>
                      </a:pPr>
                      <a:endParaRPr lang="en-US" sz="1600" dirty="0">
                        <a:latin typeface="Times New Roman"/>
                        <a:ea typeface="Calibri"/>
                        <a:cs typeface="Times New Roman"/>
                      </a:endParaRPr>
                    </a:p>
                  </a:txBody>
                  <a:tcPr marL="68580" marR="68580" marT="0" marB="0"/>
                </a:tc>
                <a:tc hMerge="1">
                  <a:txBody>
                    <a:bodyPr/>
                    <a:lstStyle/>
                    <a:p>
                      <a:endParaRPr lang="en-US"/>
                    </a:p>
                  </a:txBody>
                  <a:tcPr/>
                </a:tc>
              </a:tr>
              <a:tr h="311538">
                <a:tc>
                  <a:txBody>
                    <a:bodyPr/>
                    <a:lstStyle/>
                    <a:p>
                      <a:pPr marL="0" marR="0" algn="ctr">
                        <a:lnSpc>
                          <a:spcPct val="150000"/>
                        </a:lnSpc>
                        <a:spcBef>
                          <a:spcPts val="0"/>
                        </a:spcBef>
                        <a:spcAft>
                          <a:spcPts val="0"/>
                        </a:spcAft>
                      </a:pPr>
                      <a:r>
                        <a:rPr lang="en-US" sz="1600">
                          <a:latin typeface="Times New Roman"/>
                          <a:ea typeface="Calibri"/>
                          <a:cs typeface="Times New Roman"/>
                        </a:rPr>
                        <a:t>Wheat</a:t>
                      </a:r>
                      <a:endParaRPr lang="en-US" sz="1600">
                        <a:latin typeface="Calibri"/>
                        <a:ea typeface="Calibri"/>
                        <a:cs typeface="Times New Roman"/>
                      </a:endParaRPr>
                    </a:p>
                  </a:txBody>
                  <a:tcPr marL="68580" marR="68580" marT="0" marB="0"/>
                </a:tc>
                <a:tc>
                  <a:txBody>
                    <a:bodyPr/>
                    <a:lstStyle/>
                    <a:p>
                      <a:pPr marL="0" marR="0" algn="ctr">
                        <a:lnSpc>
                          <a:spcPct val="150000"/>
                        </a:lnSpc>
                        <a:spcBef>
                          <a:spcPts val="0"/>
                        </a:spcBef>
                        <a:spcAft>
                          <a:spcPts val="0"/>
                        </a:spcAft>
                      </a:pPr>
                      <a:r>
                        <a:rPr lang="en-US" sz="1600">
                          <a:latin typeface="Times New Roman"/>
                          <a:ea typeface="Calibri"/>
                          <a:cs typeface="Times New Roman"/>
                        </a:rPr>
                        <a:t>9.0370</a:t>
                      </a:r>
                      <a:endParaRPr lang="en-US" sz="1600">
                        <a:latin typeface="Calibri"/>
                        <a:ea typeface="Calibri"/>
                        <a:cs typeface="Times New Roman"/>
                      </a:endParaRPr>
                    </a:p>
                  </a:txBody>
                  <a:tcPr marL="68580" marR="68580" marT="0" marB="0"/>
                </a:tc>
                <a:tc>
                  <a:txBody>
                    <a:bodyPr/>
                    <a:lstStyle/>
                    <a:p>
                      <a:pPr marL="0" marR="0" algn="ctr">
                        <a:lnSpc>
                          <a:spcPct val="150000"/>
                        </a:lnSpc>
                        <a:spcBef>
                          <a:spcPts val="0"/>
                        </a:spcBef>
                        <a:spcAft>
                          <a:spcPts val="0"/>
                        </a:spcAft>
                      </a:pPr>
                      <a:r>
                        <a:rPr lang="en-US" sz="1600" dirty="0">
                          <a:latin typeface="Times New Roman"/>
                          <a:ea typeface="Calibri"/>
                          <a:cs typeface="Times New Roman"/>
                        </a:rPr>
                        <a:t>0.5077</a:t>
                      </a:r>
                      <a:endParaRPr lang="en-US" sz="1600" dirty="0">
                        <a:latin typeface="Calibri"/>
                        <a:ea typeface="Calibri"/>
                        <a:cs typeface="Times New Roman"/>
                      </a:endParaRPr>
                    </a:p>
                  </a:txBody>
                  <a:tcPr marL="68580" marR="68580" marT="0" marB="0"/>
                </a:tc>
              </a:tr>
              <a:tr h="311538">
                <a:tc>
                  <a:txBody>
                    <a:bodyPr/>
                    <a:lstStyle/>
                    <a:p>
                      <a:pPr marL="0" marR="0" algn="ctr">
                        <a:lnSpc>
                          <a:spcPct val="150000"/>
                        </a:lnSpc>
                        <a:spcBef>
                          <a:spcPts val="0"/>
                        </a:spcBef>
                        <a:spcAft>
                          <a:spcPts val="0"/>
                        </a:spcAft>
                      </a:pPr>
                      <a:r>
                        <a:rPr lang="en-US" sz="1600">
                          <a:latin typeface="Times New Roman"/>
                          <a:ea typeface="Calibri"/>
                          <a:cs typeface="Times New Roman"/>
                        </a:rPr>
                        <a:t>Rice</a:t>
                      </a:r>
                      <a:endParaRPr lang="en-US" sz="1600">
                        <a:latin typeface="Calibri"/>
                        <a:ea typeface="Calibri"/>
                        <a:cs typeface="Times New Roman"/>
                      </a:endParaRPr>
                    </a:p>
                  </a:txBody>
                  <a:tcPr marL="68580" marR="68580" marT="0" marB="0"/>
                </a:tc>
                <a:tc>
                  <a:txBody>
                    <a:bodyPr/>
                    <a:lstStyle/>
                    <a:p>
                      <a:pPr marL="0" marR="0" algn="ctr">
                        <a:lnSpc>
                          <a:spcPct val="150000"/>
                        </a:lnSpc>
                        <a:spcBef>
                          <a:spcPts val="0"/>
                        </a:spcBef>
                        <a:spcAft>
                          <a:spcPts val="0"/>
                        </a:spcAft>
                      </a:pPr>
                      <a:r>
                        <a:rPr lang="en-US" sz="1600">
                          <a:latin typeface="Times New Roman"/>
                          <a:ea typeface="Calibri"/>
                          <a:cs typeface="Times New Roman"/>
                        </a:rPr>
                        <a:t>8.7754</a:t>
                      </a:r>
                      <a:endParaRPr lang="en-US" sz="1600">
                        <a:latin typeface="Calibri"/>
                        <a:ea typeface="Calibri"/>
                        <a:cs typeface="Times New Roman"/>
                      </a:endParaRPr>
                    </a:p>
                  </a:txBody>
                  <a:tcPr marL="68580" marR="68580" marT="0" marB="0"/>
                </a:tc>
                <a:tc>
                  <a:txBody>
                    <a:bodyPr/>
                    <a:lstStyle/>
                    <a:p>
                      <a:pPr marL="0" marR="0" algn="ctr">
                        <a:lnSpc>
                          <a:spcPct val="150000"/>
                        </a:lnSpc>
                        <a:spcBef>
                          <a:spcPts val="0"/>
                        </a:spcBef>
                        <a:spcAft>
                          <a:spcPts val="0"/>
                        </a:spcAft>
                      </a:pPr>
                      <a:r>
                        <a:rPr lang="en-US" sz="1600" dirty="0">
                          <a:latin typeface="Times New Roman"/>
                          <a:ea typeface="Calibri"/>
                          <a:cs typeface="Times New Roman"/>
                        </a:rPr>
                        <a:t>1.0614</a:t>
                      </a:r>
                      <a:endParaRPr lang="en-US" sz="1600" dirty="0">
                        <a:latin typeface="Calibri"/>
                        <a:ea typeface="Calibri"/>
                        <a:cs typeface="Times New Roman"/>
                      </a:endParaRPr>
                    </a:p>
                  </a:txBody>
                  <a:tcPr marL="68580" marR="68580" marT="0" marB="0"/>
                </a:tc>
              </a:tr>
              <a:tr h="311538">
                <a:tc>
                  <a:txBody>
                    <a:bodyPr/>
                    <a:lstStyle/>
                    <a:p>
                      <a:pPr marL="0" marR="0" algn="ctr">
                        <a:lnSpc>
                          <a:spcPct val="150000"/>
                        </a:lnSpc>
                        <a:spcBef>
                          <a:spcPts val="0"/>
                        </a:spcBef>
                        <a:spcAft>
                          <a:spcPts val="0"/>
                        </a:spcAft>
                      </a:pPr>
                      <a:r>
                        <a:rPr lang="en-US" sz="1600">
                          <a:latin typeface="Times New Roman"/>
                          <a:ea typeface="Calibri"/>
                          <a:cs typeface="Times New Roman"/>
                        </a:rPr>
                        <a:t>Arhar</a:t>
                      </a:r>
                      <a:endParaRPr lang="en-US" sz="1600">
                        <a:latin typeface="Calibri"/>
                        <a:ea typeface="Calibri"/>
                        <a:cs typeface="Times New Roman"/>
                      </a:endParaRPr>
                    </a:p>
                  </a:txBody>
                  <a:tcPr marL="68580" marR="68580" marT="0" marB="0"/>
                </a:tc>
                <a:tc>
                  <a:txBody>
                    <a:bodyPr/>
                    <a:lstStyle/>
                    <a:p>
                      <a:pPr marL="0" marR="0" algn="ctr">
                        <a:lnSpc>
                          <a:spcPct val="150000"/>
                        </a:lnSpc>
                        <a:spcBef>
                          <a:spcPts val="0"/>
                        </a:spcBef>
                        <a:spcAft>
                          <a:spcPts val="0"/>
                        </a:spcAft>
                      </a:pPr>
                      <a:r>
                        <a:rPr lang="en-US" sz="1600">
                          <a:latin typeface="Times New Roman"/>
                          <a:ea typeface="Calibri"/>
                          <a:cs typeface="Times New Roman"/>
                        </a:rPr>
                        <a:t>8.6727</a:t>
                      </a:r>
                      <a:endParaRPr lang="en-US" sz="1600">
                        <a:latin typeface="Calibri"/>
                        <a:ea typeface="Calibri"/>
                        <a:cs typeface="Times New Roman"/>
                      </a:endParaRPr>
                    </a:p>
                  </a:txBody>
                  <a:tcPr marL="68580" marR="68580" marT="0" marB="0"/>
                </a:tc>
                <a:tc>
                  <a:txBody>
                    <a:bodyPr/>
                    <a:lstStyle/>
                    <a:p>
                      <a:pPr marL="0" marR="0" algn="ctr">
                        <a:lnSpc>
                          <a:spcPct val="150000"/>
                        </a:lnSpc>
                        <a:spcBef>
                          <a:spcPts val="0"/>
                        </a:spcBef>
                        <a:spcAft>
                          <a:spcPts val="0"/>
                        </a:spcAft>
                      </a:pPr>
                      <a:r>
                        <a:rPr lang="en-US" sz="1600" dirty="0">
                          <a:latin typeface="Times New Roman"/>
                          <a:ea typeface="Calibri"/>
                          <a:cs typeface="Times New Roman"/>
                        </a:rPr>
                        <a:t>0.0591</a:t>
                      </a:r>
                      <a:endParaRPr lang="en-US" sz="1600" dirty="0">
                        <a:latin typeface="Calibri"/>
                        <a:ea typeface="Calibri"/>
                        <a:cs typeface="Times New Roman"/>
                      </a:endParaRPr>
                    </a:p>
                  </a:txBody>
                  <a:tcPr marL="68580" marR="68580" marT="0" marB="0"/>
                </a:tc>
              </a:tr>
              <a:tr h="311538">
                <a:tc>
                  <a:txBody>
                    <a:bodyPr/>
                    <a:lstStyle/>
                    <a:p>
                      <a:pPr marL="0" marR="0" algn="ctr">
                        <a:lnSpc>
                          <a:spcPct val="150000"/>
                        </a:lnSpc>
                        <a:spcBef>
                          <a:spcPts val="0"/>
                        </a:spcBef>
                        <a:spcAft>
                          <a:spcPts val="0"/>
                        </a:spcAft>
                      </a:pPr>
                      <a:r>
                        <a:rPr lang="en-US" sz="1600">
                          <a:latin typeface="Times New Roman"/>
                          <a:ea typeface="Calibri"/>
                          <a:cs typeface="Times New Roman"/>
                        </a:rPr>
                        <a:t>Chana</a:t>
                      </a:r>
                      <a:endParaRPr lang="en-US" sz="1600">
                        <a:latin typeface="Calibri"/>
                        <a:ea typeface="Calibri"/>
                        <a:cs typeface="Times New Roman"/>
                      </a:endParaRPr>
                    </a:p>
                  </a:txBody>
                  <a:tcPr marL="68580" marR="68580" marT="0" marB="0"/>
                </a:tc>
                <a:tc>
                  <a:txBody>
                    <a:bodyPr/>
                    <a:lstStyle/>
                    <a:p>
                      <a:pPr marL="0" marR="0" algn="ctr">
                        <a:lnSpc>
                          <a:spcPct val="150000"/>
                        </a:lnSpc>
                        <a:spcBef>
                          <a:spcPts val="0"/>
                        </a:spcBef>
                        <a:spcAft>
                          <a:spcPts val="0"/>
                        </a:spcAft>
                      </a:pPr>
                      <a:r>
                        <a:rPr lang="en-US" sz="1600">
                          <a:latin typeface="Times New Roman"/>
                          <a:ea typeface="Calibri"/>
                          <a:cs typeface="Times New Roman"/>
                        </a:rPr>
                        <a:t>8.4098</a:t>
                      </a:r>
                      <a:endParaRPr lang="en-US" sz="1600">
                        <a:latin typeface="Calibri"/>
                        <a:ea typeface="Calibri"/>
                        <a:cs typeface="Times New Roman"/>
                      </a:endParaRPr>
                    </a:p>
                  </a:txBody>
                  <a:tcPr marL="68580" marR="68580" marT="0" marB="0"/>
                </a:tc>
                <a:tc>
                  <a:txBody>
                    <a:bodyPr/>
                    <a:lstStyle/>
                    <a:p>
                      <a:pPr marL="0" marR="0" algn="ctr">
                        <a:lnSpc>
                          <a:spcPct val="150000"/>
                        </a:lnSpc>
                        <a:spcBef>
                          <a:spcPts val="0"/>
                        </a:spcBef>
                        <a:spcAft>
                          <a:spcPts val="0"/>
                        </a:spcAft>
                      </a:pPr>
                      <a:r>
                        <a:rPr lang="en-US" sz="1600" dirty="0">
                          <a:latin typeface="Times New Roman"/>
                          <a:ea typeface="Calibri"/>
                          <a:cs typeface="Times New Roman"/>
                        </a:rPr>
                        <a:t>0.846</a:t>
                      </a:r>
                      <a:endParaRPr lang="en-US" sz="1600" dirty="0">
                        <a:latin typeface="Calibri"/>
                        <a:ea typeface="Calibri"/>
                        <a:cs typeface="Times New Roman"/>
                      </a:endParaRPr>
                    </a:p>
                  </a:txBody>
                  <a:tcPr marL="68580" marR="68580" marT="0" marB="0"/>
                </a:tc>
              </a:tr>
              <a:tr h="311538">
                <a:tc>
                  <a:txBody>
                    <a:bodyPr/>
                    <a:lstStyle/>
                    <a:p>
                      <a:pPr marL="0" marR="0" algn="ctr">
                        <a:lnSpc>
                          <a:spcPct val="150000"/>
                        </a:lnSpc>
                        <a:spcBef>
                          <a:spcPts val="0"/>
                        </a:spcBef>
                        <a:spcAft>
                          <a:spcPts val="0"/>
                        </a:spcAft>
                      </a:pPr>
                      <a:r>
                        <a:rPr lang="en-US" sz="1600" dirty="0">
                          <a:latin typeface="Times New Roman"/>
                          <a:ea typeface="Calibri"/>
                          <a:cs typeface="Times New Roman"/>
                        </a:rPr>
                        <a:t>Moong</a:t>
                      </a:r>
                      <a:endParaRPr lang="en-US" sz="1600" dirty="0">
                        <a:latin typeface="Calibri"/>
                        <a:ea typeface="Calibri"/>
                        <a:cs typeface="Times New Roman"/>
                      </a:endParaRPr>
                    </a:p>
                  </a:txBody>
                  <a:tcPr marL="68580" marR="68580" marT="0" marB="0"/>
                </a:tc>
                <a:tc>
                  <a:txBody>
                    <a:bodyPr/>
                    <a:lstStyle/>
                    <a:p>
                      <a:pPr marL="0" marR="0" algn="ctr">
                        <a:lnSpc>
                          <a:spcPct val="150000"/>
                        </a:lnSpc>
                        <a:spcBef>
                          <a:spcPts val="0"/>
                        </a:spcBef>
                        <a:spcAft>
                          <a:spcPts val="0"/>
                        </a:spcAft>
                      </a:pPr>
                      <a:r>
                        <a:rPr lang="en-US" sz="1600" dirty="0">
                          <a:latin typeface="Times New Roman"/>
                          <a:ea typeface="Calibri"/>
                          <a:cs typeface="Times New Roman"/>
                        </a:rPr>
                        <a:t>8.8048</a:t>
                      </a:r>
                      <a:endParaRPr lang="en-US" sz="1600" dirty="0">
                        <a:latin typeface="Calibri"/>
                        <a:ea typeface="Calibri"/>
                        <a:cs typeface="Times New Roman"/>
                      </a:endParaRPr>
                    </a:p>
                  </a:txBody>
                  <a:tcPr marL="68580" marR="68580" marT="0" marB="0"/>
                </a:tc>
                <a:tc>
                  <a:txBody>
                    <a:bodyPr/>
                    <a:lstStyle/>
                    <a:p>
                      <a:pPr marL="0" marR="0" algn="ctr">
                        <a:lnSpc>
                          <a:spcPct val="150000"/>
                        </a:lnSpc>
                        <a:spcBef>
                          <a:spcPts val="0"/>
                        </a:spcBef>
                        <a:spcAft>
                          <a:spcPts val="0"/>
                        </a:spcAft>
                      </a:pPr>
                      <a:r>
                        <a:rPr lang="en-US" sz="1600" dirty="0">
                          <a:latin typeface="Times New Roman"/>
                          <a:ea typeface="Calibri"/>
                          <a:cs typeface="Times New Roman"/>
                        </a:rPr>
                        <a:t>1.2907</a:t>
                      </a:r>
                      <a:endParaRPr lang="en-US" sz="1600" dirty="0">
                        <a:latin typeface="Calibri"/>
                        <a:ea typeface="Calibri"/>
                        <a:cs typeface="Times New Roman"/>
                      </a:endParaRPr>
                    </a:p>
                  </a:txBody>
                  <a:tcPr marL="68580" marR="68580" marT="0" marB="0"/>
                </a:tc>
              </a:tr>
              <a:tr h="311538">
                <a:tc>
                  <a:txBody>
                    <a:bodyPr/>
                    <a:lstStyle/>
                    <a:p>
                      <a:pPr marL="0" marR="0" algn="ctr">
                        <a:lnSpc>
                          <a:spcPct val="150000"/>
                        </a:lnSpc>
                        <a:spcBef>
                          <a:spcPts val="0"/>
                        </a:spcBef>
                        <a:spcAft>
                          <a:spcPts val="0"/>
                        </a:spcAft>
                      </a:pPr>
                      <a:r>
                        <a:rPr lang="en-US" sz="1600" b="1" dirty="0">
                          <a:latin typeface="Times New Roman"/>
                          <a:ea typeface="Calibri"/>
                          <a:cs typeface="Times New Roman"/>
                        </a:rPr>
                        <a:t>OVEN DRIED</a:t>
                      </a:r>
                      <a:endParaRPr lang="en-US" sz="1600" dirty="0">
                        <a:latin typeface="Calibri"/>
                        <a:ea typeface="Calibri"/>
                        <a:cs typeface="Times New Roman"/>
                      </a:endParaRPr>
                    </a:p>
                  </a:txBody>
                  <a:tcPr marL="68580" marR="68580" marT="0" marB="0"/>
                </a:tc>
                <a:tc gridSpan="2">
                  <a:txBody>
                    <a:bodyPr/>
                    <a:lstStyle/>
                    <a:p>
                      <a:pPr marL="0" marR="0" algn="ctr">
                        <a:lnSpc>
                          <a:spcPct val="150000"/>
                        </a:lnSpc>
                        <a:spcBef>
                          <a:spcPts val="0"/>
                        </a:spcBef>
                        <a:spcAft>
                          <a:spcPts val="0"/>
                        </a:spcAft>
                      </a:pPr>
                      <a:endParaRPr lang="en-US" sz="1600" dirty="0">
                        <a:latin typeface="Times New Roman"/>
                        <a:ea typeface="Calibri"/>
                        <a:cs typeface="Times New Roman"/>
                      </a:endParaRPr>
                    </a:p>
                  </a:txBody>
                  <a:tcPr marL="68580" marR="68580" marT="0" marB="0"/>
                </a:tc>
                <a:tc hMerge="1">
                  <a:txBody>
                    <a:bodyPr/>
                    <a:lstStyle/>
                    <a:p>
                      <a:endParaRPr lang="en-US"/>
                    </a:p>
                  </a:txBody>
                  <a:tcPr/>
                </a:tc>
              </a:tr>
              <a:tr h="311538">
                <a:tc>
                  <a:txBody>
                    <a:bodyPr/>
                    <a:lstStyle/>
                    <a:p>
                      <a:pPr marL="0" marR="0" algn="ctr">
                        <a:lnSpc>
                          <a:spcPct val="150000"/>
                        </a:lnSpc>
                        <a:spcBef>
                          <a:spcPts val="0"/>
                        </a:spcBef>
                        <a:spcAft>
                          <a:spcPts val="0"/>
                        </a:spcAft>
                      </a:pPr>
                      <a:r>
                        <a:rPr lang="en-US" sz="1600">
                          <a:latin typeface="Times New Roman"/>
                          <a:ea typeface="Calibri"/>
                          <a:cs typeface="Times New Roman"/>
                        </a:rPr>
                        <a:t>Wheat</a:t>
                      </a:r>
                      <a:endParaRPr lang="en-US" sz="1600">
                        <a:latin typeface="Calibri"/>
                        <a:ea typeface="Calibri"/>
                        <a:cs typeface="Times New Roman"/>
                      </a:endParaRPr>
                    </a:p>
                  </a:txBody>
                  <a:tcPr marL="68580" marR="68580" marT="0" marB="0"/>
                </a:tc>
                <a:tc>
                  <a:txBody>
                    <a:bodyPr/>
                    <a:lstStyle/>
                    <a:p>
                      <a:pPr marL="0" marR="0" algn="ctr">
                        <a:lnSpc>
                          <a:spcPct val="150000"/>
                        </a:lnSpc>
                        <a:spcBef>
                          <a:spcPts val="0"/>
                        </a:spcBef>
                        <a:spcAft>
                          <a:spcPts val="0"/>
                        </a:spcAft>
                      </a:pPr>
                      <a:r>
                        <a:rPr lang="en-US" sz="1600" dirty="0">
                          <a:latin typeface="Times New Roman"/>
                          <a:ea typeface="Calibri"/>
                          <a:cs typeface="Times New Roman"/>
                        </a:rPr>
                        <a:t>8.8458</a:t>
                      </a:r>
                      <a:endParaRPr lang="en-US" sz="1600" dirty="0">
                        <a:latin typeface="Calibri"/>
                        <a:ea typeface="Calibri"/>
                        <a:cs typeface="Times New Roman"/>
                      </a:endParaRPr>
                    </a:p>
                  </a:txBody>
                  <a:tcPr marL="68580" marR="68580" marT="0" marB="0"/>
                </a:tc>
                <a:tc>
                  <a:txBody>
                    <a:bodyPr/>
                    <a:lstStyle/>
                    <a:p>
                      <a:pPr marL="0" marR="0" algn="ctr">
                        <a:lnSpc>
                          <a:spcPct val="150000"/>
                        </a:lnSpc>
                        <a:spcBef>
                          <a:spcPts val="0"/>
                        </a:spcBef>
                        <a:spcAft>
                          <a:spcPts val="0"/>
                        </a:spcAft>
                      </a:pPr>
                      <a:r>
                        <a:rPr lang="en-US" sz="1600" dirty="0">
                          <a:latin typeface="Times New Roman"/>
                          <a:ea typeface="Calibri"/>
                          <a:cs typeface="Times New Roman"/>
                        </a:rPr>
                        <a:t>0.8423</a:t>
                      </a:r>
                      <a:endParaRPr lang="en-US" sz="1600" dirty="0">
                        <a:latin typeface="Calibri"/>
                        <a:ea typeface="Calibri"/>
                        <a:cs typeface="Times New Roman"/>
                      </a:endParaRPr>
                    </a:p>
                  </a:txBody>
                  <a:tcPr marL="68580" marR="68580" marT="0" marB="0"/>
                </a:tc>
              </a:tr>
              <a:tr h="311538">
                <a:tc>
                  <a:txBody>
                    <a:bodyPr/>
                    <a:lstStyle/>
                    <a:p>
                      <a:pPr marL="0" marR="0" algn="ctr">
                        <a:lnSpc>
                          <a:spcPct val="150000"/>
                        </a:lnSpc>
                        <a:spcBef>
                          <a:spcPts val="0"/>
                        </a:spcBef>
                        <a:spcAft>
                          <a:spcPts val="0"/>
                        </a:spcAft>
                      </a:pPr>
                      <a:r>
                        <a:rPr lang="en-US" sz="1600" dirty="0">
                          <a:latin typeface="Times New Roman"/>
                          <a:ea typeface="Calibri"/>
                          <a:cs typeface="Times New Roman"/>
                        </a:rPr>
                        <a:t>Rice</a:t>
                      </a:r>
                      <a:endParaRPr lang="en-US" sz="1600" dirty="0">
                        <a:latin typeface="Calibri"/>
                        <a:ea typeface="Calibri"/>
                        <a:cs typeface="Times New Roman"/>
                      </a:endParaRPr>
                    </a:p>
                  </a:txBody>
                  <a:tcPr marL="68580" marR="68580" marT="0" marB="0"/>
                </a:tc>
                <a:tc>
                  <a:txBody>
                    <a:bodyPr/>
                    <a:lstStyle/>
                    <a:p>
                      <a:pPr marL="0" marR="0" algn="ctr">
                        <a:lnSpc>
                          <a:spcPct val="150000"/>
                        </a:lnSpc>
                        <a:spcBef>
                          <a:spcPts val="0"/>
                        </a:spcBef>
                        <a:spcAft>
                          <a:spcPts val="0"/>
                        </a:spcAft>
                      </a:pPr>
                      <a:r>
                        <a:rPr lang="en-US" sz="1600">
                          <a:latin typeface="Times New Roman"/>
                          <a:ea typeface="Calibri"/>
                          <a:cs typeface="Times New Roman"/>
                        </a:rPr>
                        <a:t>8.2015</a:t>
                      </a:r>
                      <a:endParaRPr lang="en-US" sz="1600">
                        <a:latin typeface="Calibri"/>
                        <a:ea typeface="Calibri"/>
                        <a:cs typeface="Times New Roman"/>
                      </a:endParaRPr>
                    </a:p>
                  </a:txBody>
                  <a:tcPr marL="68580" marR="68580" marT="0" marB="0"/>
                </a:tc>
                <a:tc>
                  <a:txBody>
                    <a:bodyPr/>
                    <a:lstStyle/>
                    <a:p>
                      <a:pPr marL="0" marR="0" algn="ctr">
                        <a:lnSpc>
                          <a:spcPct val="150000"/>
                        </a:lnSpc>
                        <a:spcBef>
                          <a:spcPts val="0"/>
                        </a:spcBef>
                        <a:spcAft>
                          <a:spcPts val="0"/>
                        </a:spcAft>
                      </a:pPr>
                      <a:r>
                        <a:rPr lang="en-US" sz="1600" dirty="0">
                          <a:latin typeface="Times New Roman"/>
                          <a:ea typeface="Calibri"/>
                          <a:cs typeface="Times New Roman"/>
                        </a:rPr>
                        <a:t>0.2351</a:t>
                      </a:r>
                      <a:endParaRPr lang="en-US" sz="1600" dirty="0">
                        <a:latin typeface="Calibri"/>
                        <a:ea typeface="Calibri"/>
                        <a:cs typeface="Times New Roman"/>
                      </a:endParaRPr>
                    </a:p>
                  </a:txBody>
                  <a:tcPr marL="68580" marR="68580" marT="0" marB="0"/>
                </a:tc>
              </a:tr>
              <a:tr h="311538">
                <a:tc>
                  <a:txBody>
                    <a:bodyPr/>
                    <a:lstStyle/>
                    <a:p>
                      <a:pPr marL="0" marR="0" algn="ctr">
                        <a:lnSpc>
                          <a:spcPct val="150000"/>
                        </a:lnSpc>
                        <a:spcBef>
                          <a:spcPts val="0"/>
                        </a:spcBef>
                        <a:spcAft>
                          <a:spcPts val="0"/>
                        </a:spcAft>
                      </a:pPr>
                      <a:r>
                        <a:rPr lang="en-US" sz="1600">
                          <a:latin typeface="Times New Roman"/>
                          <a:ea typeface="Calibri"/>
                          <a:cs typeface="Times New Roman"/>
                        </a:rPr>
                        <a:t>Arhar</a:t>
                      </a:r>
                      <a:endParaRPr lang="en-US" sz="1600">
                        <a:latin typeface="Calibri"/>
                        <a:ea typeface="Calibri"/>
                        <a:cs typeface="Times New Roman"/>
                      </a:endParaRPr>
                    </a:p>
                  </a:txBody>
                  <a:tcPr marL="68580" marR="68580" marT="0" marB="0"/>
                </a:tc>
                <a:tc>
                  <a:txBody>
                    <a:bodyPr/>
                    <a:lstStyle/>
                    <a:p>
                      <a:pPr marL="0" marR="0" algn="ctr">
                        <a:lnSpc>
                          <a:spcPct val="150000"/>
                        </a:lnSpc>
                        <a:spcBef>
                          <a:spcPts val="0"/>
                        </a:spcBef>
                        <a:spcAft>
                          <a:spcPts val="0"/>
                        </a:spcAft>
                      </a:pPr>
                      <a:r>
                        <a:rPr lang="en-US" sz="1600">
                          <a:latin typeface="Times New Roman"/>
                          <a:ea typeface="Calibri"/>
                          <a:cs typeface="Times New Roman"/>
                        </a:rPr>
                        <a:t>8.1903</a:t>
                      </a:r>
                      <a:endParaRPr lang="en-US" sz="1600">
                        <a:latin typeface="Calibri"/>
                        <a:ea typeface="Calibri"/>
                        <a:cs typeface="Times New Roman"/>
                      </a:endParaRPr>
                    </a:p>
                  </a:txBody>
                  <a:tcPr marL="68580" marR="68580" marT="0" marB="0"/>
                </a:tc>
                <a:tc>
                  <a:txBody>
                    <a:bodyPr/>
                    <a:lstStyle/>
                    <a:p>
                      <a:pPr marL="0" marR="0" algn="ctr">
                        <a:lnSpc>
                          <a:spcPct val="150000"/>
                        </a:lnSpc>
                        <a:spcBef>
                          <a:spcPts val="0"/>
                        </a:spcBef>
                        <a:spcAft>
                          <a:spcPts val="0"/>
                        </a:spcAft>
                      </a:pPr>
                      <a:r>
                        <a:rPr lang="en-US" sz="1600" dirty="0">
                          <a:latin typeface="Times New Roman"/>
                          <a:ea typeface="Calibri"/>
                          <a:cs typeface="Times New Roman"/>
                        </a:rPr>
                        <a:t>1.5508</a:t>
                      </a:r>
                      <a:endParaRPr lang="en-US" sz="1600" dirty="0">
                        <a:latin typeface="Calibri"/>
                        <a:ea typeface="Calibri"/>
                        <a:cs typeface="Times New Roman"/>
                      </a:endParaRPr>
                    </a:p>
                  </a:txBody>
                  <a:tcPr marL="68580" marR="68580" marT="0" marB="0"/>
                </a:tc>
              </a:tr>
              <a:tr h="311538">
                <a:tc>
                  <a:txBody>
                    <a:bodyPr/>
                    <a:lstStyle/>
                    <a:p>
                      <a:pPr marL="0" marR="0" algn="ctr">
                        <a:lnSpc>
                          <a:spcPct val="150000"/>
                        </a:lnSpc>
                        <a:spcBef>
                          <a:spcPts val="0"/>
                        </a:spcBef>
                        <a:spcAft>
                          <a:spcPts val="0"/>
                        </a:spcAft>
                      </a:pPr>
                      <a:r>
                        <a:rPr lang="en-US" sz="1600">
                          <a:latin typeface="Times New Roman"/>
                          <a:ea typeface="Calibri"/>
                          <a:cs typeface="Times New Roman"/>
                        </a:rPr>
                        <a:t>Chana</a:t>
                      </a:r>
                      <a:endParaRPr lang="en-US" sz="1600">
                        <a:latin typeface="Calibri"/>
                        <a:ea typeface="Calibri"/>
                        <a:cs typeface="Times New Roman"/>
                      </a:endParaRPr>
                    </a:p>
                  </a:txBody>
                  <a:tcPr marL="68580" marR="68580" marT="0" marB="0"/>
                </a:tc>
                <a:tc>
                  <a:txBody>
                    <a:bodyPr/>
                    <a:lstStyle/>
                    <a:p>
                      <a:pPr marL="0" marR="0" algn="ctr">
                        <a:lnSpc>
                          <a:spcPct val="150000"/>
                        </a:lnSpc>
                        <a:spcBef>
                          <a:spcPts val="0"/>
                        </a:spcBef>
                        <a:spcAft>
                          <a:spcPts val="0"/>
                        </a:spcAft>
                      </a:pPr>
                      <a:r>
                        <a:rPr lang="en-US" sz="1600">
                          <a:latin typeface="Times New Roman"/>
                          <a:ea typeface="Calibri"/>
                          <a:cs typeface="Times New Roman"/>
                        </a:rPr>
                        <a:t>8.0805</a:t>
                      </a:r>
                      <a:endParaRPr lang="en-US" sz="1600">
                        <a:latin typeface="Calibri"/>
                        <a:ea typeface="Calibri"/>
                        <a:cs typeface="Times New Roman"/>
                      </a:endParaRPr>
                    </a:p>
                  </a:txBody>
                  <a:tcPr marL="68580" marR="68580" marT="0" marB="0"/>
                </a:tc>
                <a:tc>
                  <a:txBody>
                    <a:bodyPr/>
                    <a:lstStyle/>
                    <a:p>
                      <a:pPr marL="0" marR="0" algn="ctr">
                        <a:lnSpc>
                          <a:spcPct val="150000"/>
                        </a:lnSpc>
                        <a:spcBef>
                          <a:spcPts val="0"/>
                        </a:spcBef>
                        <a:spcAft>
                          <a:spcPts val="0"/>
                        </a:spcAft>
                      </a:pPr>
                      <a:r>
                        <a:rPr lang="en-US" sz="1600" dirty="0">
                          <a:latin typeface="Times New Roman"/>
                          <a:ea typeface="Calibri"/>
                          <a:cs typeface="Times New Roman"/>
                        </a:rPr>
                        <a:t>1.6259</a:t>
                      </a:r>
                      <a:endParaRPr lang="en-US" sz="1600" dirty="0">
                        <a:latin typeface="Calibri"/>
                        <a:ea typeface="Calibri"/>
                        <a:cs typeface="Times New Roman"/>
                      </a:endParaRPr>
                    </a:p>
                  </a:txBody>
                  <a:tcPr marL="68580" marR="68580" marT="0" marB="0"/>
                </a:tc>
              </a:tr>
              <a:tr h="311538">
                <a:tc>
                  <a:txBody>
                    <a:bodyPr/>
                    <a:lstStyle/>
                    <a:p>
                      <a:pPr marL="0" marR="0" algn="ctr">
                        <a:lnSpc>
                          <a:spcPct val="150000"/>
                        </a:lnSpc>
                        <a:spcBef>
                          <a:spcPts val="0"/>
                        </a:spcBef>
                        <a:spcAft>
                          <a:spcPts val="0"/>
                        </a:spcAft>
                      </a:pPr>
                      <a:r>
                        <a:rPr lang="en-US" sz="1600" dirty="0">
                          <a:latin typeface="Times New Roman"/>
                          <a:ea typeface="Calibri"/>
                          <a:cs typeface="Times New Roman"/>
                        </a:rPr>
                        <a:t>Moong</a:t>
                      </a:r>
                      <a:endParaRPr lang="en-US" sz="1600" dirty="0">
                        <a:latin typeface="Calibri"/>
                        <a:ea typeface="Calibri"/>
                        <a:cs typeface="Times New Roman"/>
                      </a:endParaRPr>
                    </a:p>
                  </a:txBody>
                  <a:tcPr marL="68580" marR="68580" marT="0" marB="0"/>
                </a:tc>
                <a:tc>
                  <a:txBody>
                    <a:bodyPr/>
                    <a:lstStyle/>
                    <a:p>
                      <a:pPr marL="0" marR="0" algn="ctr">
                        <a:lnSpc>
                          <a:spcPct val="150000"/>
                        </a:lnSpc>
                        <a:spcBef>
                          <a:spcPts val="0"/>
                        </a:spcBef>
                        <a:spcAft>
                          <a:spcPts val="0"/>
                        </a:spcAft>
                      </a:pPr>
                      <a:r>
                        <a:rPr lang="en-US" sz="1600">
                          <a:latin typeface="Times New Roman"/>
                          <a:ea typeface="Calibri"/>
                          <a:cs typeface="Times New Roman"/>
                        </a:rPr>
                        <a:t>8.4429</a:t>
                      </a:r>
                      <a:endParaRPr lang="en-US" sz="1600">
                        <a:latin typeface="Calibri"/>
                        <a:ea typeface="Calibri"/>
                        <a:cs typeface="Times New Roman"/>
                      </a:endParaRPr>
                    </a:p>
                  </a:txBody>
                  <a:tcPr marL="68580" marR="68580" marT="0" marB="0"/>
                </a:tc>
                <a:tc>
                  <a:txBody>
                    <a:bodyPr/>
                    <a:lstStyle/>
                    <a:p>
                      <a:pPr marL="0" marR="0" algn="ctr">
                        <a:lnSpc>
                          <a:spcPct val="150000"/>
                        </a:lnSpc>
                        <a:spcBef>
                          <a:spcPts val="0"/>
                        </a:spcBef>
                        <a:spcAft>
                          <a:spcPts val="0"/>
                        </a:spcAft>
                      </a:pPr>
                      <a:r>
                        <a:rPr lang="en-US" sz="1600" dirty="0">
                          <a:latin typeface="Times New Roman"/>
                          <a:ea typeface="Calibri"/>
                          <a:cs typeface="Times New Roman"/>
                        </a:rPr>
                        <a:t>0.5021</a:t>
                      </a:r>
                      <a:endParaRPr lang="en-US" sz="1600" dirty="0">
                        <a:latin typeface="Calibri"/>
                        <a:ea typeface="Calibri"/>
                        <a:cs typeface="Times New Roman"/>
                      </a:endParaRPr>
                    </a:p>
                  </a:txBody>
                  <a:tcPr marL="68580" marR="68580" marT="0" marB="0"/>
                </a:tc>
              </a:tr>
              <a:tr h="311538">
                <a:tc>
                  <a:txBody>
                    <a:bodyPr/>
                    <a:lstStyle/>
                    <a:p>
                      <a:pPr marL="0" marR="0" algn="ctr">
                        <a:lnSpc>
                          <a:spcPct val="150000"/>
                        </a:lnSpc>
                        <a:spcBef>
                          <a:spcPts val="0"/>
                        </a:spcBef>
                        <a:spcAft>
                          <a:spcPts val="0"/>
                        </a:spcAft>
                      </a:pPr>
                      <a:r>
                        <a:rPr lang="en-US" sz="1600" b="1">
                          <a:latin typeface="Times New Roman"/>
                          <a:ea typeface="Calibri"/>
                          <a:cs typeface="Times New Roman"/>
                        </a:rPr>
                        <a:t>SATURATED</a:t>
                      </a:r>
                      <a:endParaRPr lang="en-US" sz="1600">
                        <a:latin typeface="Calibri"/>
                        <a:ea typeface="Calibri"/>
                        <a:cs typeface="Times New Roman"/>
                      </a:endParaRPr>
                    </a:p>
                  </a:txBody>
                  <a:tcPr marL="68580" marR="68580" marT="0" marB="0"/>
                </a:tc>
                <a:tc gridSpan="2">
                  <a:txBody>
                    <a:bodyPr/>
                    <a:lstStyle/>
                    <a:p>
                      <a:pPr marL="0" marR="0" algn="ctr">
                        <a:lnSpc>
                          <a:spcPct val="150000"/>
                        </a:lnSpc>
                        <a:spcBef>
                          <a:spcPts val="0"/>
                        </a:spcBef>
                        <a:spcAft>
                          <a:spcPts val="0"/>
                        </a:spcAft>
                      </a:pPr>
                      <a:endParaRPr lang="en-US" sz="1600" dirty="0">
                        <a:latin typeface="Times New Roman"/>
                        <a:ea typeface="Calibri"/>
                        <a:cs typeface="Times New Roman"/>
                      </a:endParaRPr>
                    </a:p>
                  </a:txBody>
                  <a:tcPr marL="68580" marR="68580" marT="0" marB="0"/>
                </a:tc>
                <a:tc hMerge="1">
                  <a:txBody>
                    <a:bodyPr/>
                    <a:lstStyle/>
                    <a:p>
                      <a:endParaRPr lang="en-US"/>
                    </a:p>
                  </a:txBody>
                  <a:tcPr/>
                </a:tc>
              </a:tr>
              <a:tr h="311538">
                <a:tc>
                  <a:txBody>
                    <a:bodyPr/>
                    <a:lstStyle/>
                    <a:p>
                      <a:pPr marL="0" marR="0" algn="ctr">
                        <a:lnSpc>
                          <a:spcPct val="150000"/>
                        </a:lnSpc>
                        <a:spcBef>
                          <a:spcPts val="0"/>
                        </a:spcBef>
                        <a:spcAft>
                          <a:spcPts val="0"/>
                        </a:spcAft>
                      </a:pPr>
                      <a:r>
                        <a:rPr lang="en-US" sz="1600">
                          <a:latin typeface="Times New Roman"/>
                          <a:ea typeface="Calibri"/>
                          <a:cs typeface="Times New Roman"/>
                        </a:rPr>
                        <a:t>Wheat</a:t>
                      </a:r>
                      <a:endParaRPr lang="en-US" sz="1600">
                        <a:latin typeface="Calibri"/>
                        <a:ea typeface="Calibri"/>
                        <a:cs typeface="Times New Roman"/>
                      </a:endParaRPr>
                    </a:p>
                  </a:txBody>
                  <a:tcPr marL="68580" marR="68580" marT="0" marB="0"/>
                </a:tc>
                <a:tc>
                  <a:txBody>
                    <a:bodyPr/>
                    <a:lstStyle/>
                    <a:p>
                      <a:pPr marL="0" marR="0" algn="ctr">
                        <a:lnSpc>
                          <a:spcPct val="150000"/>
                        </a:lnSpc>
                        <a:spcBef>
                          <a:spcPts val="0"/>
                        </a:spcBef>
                        <a:spcAft>
                          <a:spcPts val="0"/>
                        </a:spcAft>
                      </a:pPr>
                      <a:r>
                        <a:rPr lang="en-US" sz="1600">
                          <a:latin typeface="Times New Roman"/>
                          <a:ea typeface="Calibri"/>
                          <a:cs typeface="Times New Roman"/>
                        </a:rPr>
                        <a:t>11.0423</a:t>
                      </a:r>
                      <a:endParaRPr lang="en-US" sz="1600">
                        <a:latin typeface="Calibri"/>
                        <a:ea typeface="Calibri"/>
                        <a:cs typeface="Times New Roman"/>
                      </a:endParaRPr>
                    </a:p>
                  </a:txBody>
                  <a:tcPr marL="68580" marR="68580" marT="0" marB="0"/>
                </a:tc>
                <a:tc>
                  <a:txBody>
                    <a:bodyPr/>
                    <a:lstStyle/>
                    <a:p>
                      <a:pPr marL="0" marR="0" algn="ctr">
                        <a:lnSpc>
                          <a:spcPct val="150000"/>
                        </a:lnSpc>
                        <a:spcBef>
                          <a:spcPts val="0"/>
                        </a:spcBef>
                        <a:spcAft>
                          <a:spcPts val="0"/>
                        </a:spcAft>
                      </a:pPr>
                      <a:r>
                        <a:rPr lang="en-US" sz="1600" dirty="0">
                          <a:latin typeface="Times New Roman"/>
                          <a:ea typeface="Calibri"/>
                          <a:cs typeface="Times New Roman"/>
                        </a:rPr>
                        <a:t>3.9736</a:t>
                      </a:r>
                      <a:endParaRPr lang="en-US" sz="1600" dirty="0">
                        <a:latin typeface="Calibri"/>
                        <a:ea typeface="Calibri"/>
                        <a:cs typeface="Times New Roman"/>
                      </a:endParaRPr>
                    </a:p>
                  </a:txBody>
                  <a:tcPr marL="68580" marR="68580" marT="0" marB="0"/>
                </a:tc>
              </a:tr>
              <a:tr h="311538">
                <a:tc>
                  <a:txBody>
                    <a:bodyPr/>
                    <a:lstStyle/>
                    <a:p>
                      <a:pPr marL="0" marR="0" algn="ctr">
                        <a:lnSpc>
                          <a:spcPct val="150000"/>
                        </a:lnSpc>
                        <a:spcBef>
                          <a:spcPts val="0"/>
                        </a:spcBef>
                        <a:spcAft>
                          <a:spcPts val="0"/>
                        </a:spcAft>
                      </a:pPr>
                      <a:r>
                        <a:rPr lang="en-US" sz="1600">
                          <a:latin typeface="Times New Roman"/>
                          <a:ea typeface="Calibri"/>
                          <a:cs typeface="Times New Roman"/>
                        </a:rPr>
                        <a:t>Rice</a:t>
                      </a:r>
                      <a:endParaRPr lang="en-US" sz="1600">
                        <a:latin typeface="Calibri"/>
                        <a:ea typeface="Calibri"/>
                        <a:cs typeface="Times New Roman"/>
                      </a:endParaRPr>
                    </a:p>
                  </a:txBody>
                  <a:tcPr marL="68580" marR="68580" marT="0" marB="0"/>
                </a:tc>
                <a:tc>
                  <a:txBody>
                    <a:bodyPr/>
                    <a:lstStyle/>
                    <a:p>
                      <a:pPr marL="0" marR="0" algn="ctr">
                        <a:lnSpc>
                          <a:spcPct val="150000"/>
                        </a:lnSpc>
                        <a:spcBef>
                          <a:spcPts val="0"/>
                        </a:spcBef>
                        <a:spcAft>
                          <a:spcPts val="0"/>
                        </a:spcAft>
                      </a:pPr>
                      <a:r>
                        <a:rPr lang="en-US" sz="1600">
                          <a:latin typeface="Times New Roman"/>
                          <a:ea typeface="Calibri"/>
                          <a:cs typeface="Times New Roman"/>
                        </a:rPr>
                        <a:t>11.0012</a:t>
                      </a:r>
                      <a:endParaRPr lang="en-US" sz="1600">
                        <a:latin typeface="Calibri"/>
                        <a:ea typeface="Calibri"/>
                        <a:cs typeface="Times New Roman"/>
                      </a:endParaRPr>
                    </a:p>
                  </a:txBody>
                  <a:tcPr marL="68580" marR="68580" marT="0" marB="0"/>
                </a:tc>
                <a:tc>
                  <a:txBody>
                    <a:bodyPr/>
                    <a:lstStyle/>
                    <a:p>
                      <a:pPr marL="0" marR="0" algn="ctr">
                        <a:lnSpc>
                          <a:spcPct val="150000"/>
                        </a:lnSpc>
                        <a:spcBef>
                          <a:spcPts val="0"/>
                        </a:spcBef>
                        <a:spcAft>
                          <a:spcPts val="0"/>
                        </a:spcAft>
                      </a:pPr>
                      <a:r>
                        <a:rPr lang="en-US" sz="1600" dirty="0">
                          <a:latin typeface="Times New Roman"/>
                          <a:ea typeface="Calibri"/>
                          <a:cs typeface="Times New Roman"/>
                        </a:rPr>
                        <a:t>3.2430</a:t>
                      </a:r>
                      <a:endParaRPr lang="en-US" sz="1600" dirty="0">
                        <a:latin typeface="Calibri"/>
                        <a:ea typeface="Calibri"/>
                        <a:cs typeface="Times New Roman"/>
                      </a:endParaRPr>
                    </a:p>
                  </a:txBody>
                  <a:tcPr marL="68580" marR="68580" marT="0" marB="0"/>
                </a:tc>
              </a:tr>
              <a:tr h="311538">
                <a:tc>
                  <a:txBody>
                    <a:bodyPr/>
                    <a:lstStyle/>
                    <a:p>
                      <a:pPr marL="0" marR="0" algn="ctr">
                        <a:lnSpc>
                          <a:spcPct val="150000"/>
                        </a:lnSpc>
                        <a:spcBef>
                          <a:spcPts val="0"/>
                        </a:spcBef>
                        <a:spcAft>
                          <a:spcPts val="0"/>
                        </a:spcAft>
                      </a:pPr>
                      <a:r>
                        <a:rPr lang="en-US" sz="1600">
                          <a:latin typeface="Times New Roman"/>
                          <a:ea typeface="Calibri"/>
                          <a:cs typeface="Times New Roman"/>
                        </a:rPr>
                        <a:t>Arhar</a:t>
                      </a:r>
                      <a:endParaRPr lang="en-US" sz="1600">
                        <a:latin typeface="Calibri"/>
                        <a:ea typeface="Calibri"/>
                        <a:cs typeface="Times New Roman"/>
                      </a:endParaRPr>
                    </a:p>
                  </a:txBody>
                  <a:tcPr marL="68580" marR="68580" marT="0" marB="0"/>
                </a:tc>
                <a:tc>
                  <a:txBody>
                    <a:bodyPr/>
                    <a:lstStyle/>
                    <a:p>
                      <a:pPr marL="0" marR="0" algn="ctr">
                        <a:lnSpc>
                          <a:spcPct val="150000"/>
                        </a:lnSpc>
                        <a:spcBef>
                          <a:spcPts val="0"/>
                        </a:spcBef>
                        <a:spcAft>
                          <a:spcPts val="0"/>
                        </a:spcAft>
                      </a:pPr>
                      <a:r>
                        <a:rPr lang="en-US" sz="1600">
                          <a:latin typeface="Times New Roman"/>
                          <a:ea typeface="Calibri"/>
                          <a:cs typeface="Times New Roman"/>
                        </a:rPr>
                        <a:t>10.8084</a:t>
                      </a:r>
                      <a:endParaRPr lang="en-US" sz="1600">
                        <a:latin typeface="Calibri"/>
                        <a:ea typeface="Calibri"/>
                        <a:cs typeface="Times New Roman"/>
                      </a:endParaRPr>
                    </a:p>
                  </a:txBody>
                  <a:tcPr marL="68580" marR="68580" marT="0" marB="0"/>
                </a:tc>
                <a:tc>
                  <a:txBody>
                    <a:bodyPr/>
                    <a:lstStyle/>
                    <a:p>
                      <a:pPr marL="0" marR="0" algn="ctr">
                        <a:lnSpc>
                          <a:spcPct val="150000"/>
                        </a:lnSpc>
                        <a:spcBef>
                          <a:spcPts val="0"/>
                        </a:spcBef>
                        <a:spcAft>
                          <a:spcPts val="0"/>
                        </a:spcAft>
                      </a:pPr>
                      <a:r>
                        <a:rPr lang="en-US" sz="1600" dirty="0">
                          <a:latin typeface="Times New Roman"/>
                          <a:ea typeface="Calibri"/>
                          <a:cs typeface="Times New Roman"/>
                        </a:rPr>
                        <a:t>2.3152</a:t>
                      </a:r>
                      <a:endParaRPr lang="en-US" sz="1600" dirty="0">
                        <a:latin typeface="Calibri"/>
                        <a:ea typeface="Calibri"/>
                        <a:cs typeface="Times New Roman"/>
                      </a:endParaRPr>
                    </a:p>
                  </a:txBody>
                  <a:tcPr marL="68580" marR="68580" marT="0" marB="0"/>
                </a:tc>
              </a:tr>
              <a:tr h="311538">
                <a:tc>
                  <a:txBody>
                    <a:bodyPr/>
                    <a:lstStyle/>
                    <a:p>
                      <a:pPr marL="0" marR="0" algn="ctr">
                        <a:lnSpc>
                          <a:spcPct val="150000"/>
                        </a:lnSpc>
                        <a:spcBef>
                          <a:spcPts val="0"/>
                        </a:spcBef>
                        <a:spcAft>
                          <a:spcPts val="0"/>
                        </a:spcAft>
                      </a:pPr>
                      <a:r>
                        <a:rPr lang="en-US" sz="1600">
                          <a:latin typeface="Times New Roman"/>
                          <a:ea typeface="Calibri"/>
                          <a:cs typeface="Times New Roman"/>
                        </a:rPr>
                        <a:t>Chana</a:t>
                      </a:r>
                      <a:endParaRPr lang="en-US" sz="1600">
                        <a:latin typeface="Calibri"/>
                        <a:ea typeface="Calibri"/>
                        <a:cs typeface="Times New Roman"/>
                      </a:endParaRPr>
                    </a:p>
                  </a:txBody>
                  <a:tcPr marL="68580" marR="68580" marT="0" marB="0"/>
                </a:tc>
                <a:tc>
                  <a:txBody>
                    <a:bodyPr/>
                    <a:lstStyle/>
                    <a:p>
                      <a:pPr marL="0" marR="0" algn="ctr">
                        <a:lnSpc>
                          <a:spcPct val="150000"/>
                        </a:lnSpc>
                        <a:spcBef>
                          <a:spcPts val="0"/>
                        </a:spcBef>
                        <a:spcAft>
                          <a:spcPts val="0"/>
                        </a:spcAft>
                      </a:pPr>
                      <a:r>
                        <a:rPr lang="en-US" sz="1600">
                          <a:latin typeface="Times New Roman"/>
                          <a:ea typeface="Calibri"/>
                          <a:cs typeface="Times New Roman"/>
                        </a:rPr>
                        <a:t>11.2015</a:t>
                      </a:r>
                      <a:endParaRPr lang="en-US" sz="1600">
                        <a:latin typeface="Calibri"/>
                        <a:ea typeface="Calibri"/>
                        <a:cs typeface="Times New Roman"/>
                      </a:endParaRPr>
                    </a:p>
                  </a:txBody>
                  <a:tcPr marL="68580" marR="68580" marT="0" marB="0"/>
                </a:tc>
                <a:tc>
                  <a:txBody>
                    <a:bodyPr/>
                    <a:lstStyle/>
                    <a:p>
                      <a:pPr marL="0" marR="0" algn="ctr">
                        <a:lnSpc>
                          <a:spcPct val="150000"/>
                        </a:lnSpc>
                        <a:spcBef>
                          <a:spcPts val="0"/>
                        </a:spcBef>
                        <a:spcAft>
                          <a:spcPts val="0"/>
                        </a:spcAft>
                      </a:pPr>
                      <a:r>
                        <a:rPr lang="en-US" sz="1600" dirty="0">
                          <a:latin typeface="Times New Roman"/>
                          <a:ea typeface="Calibri"/>
                          <a:cs typeface="Times New Roman"/>
                        </a:rPr>
                        <a:t>3.5625</a:t>
                      </a:r>
                      <a:endParaRPr lang="en-US" sz="1600" dirty="0">
                        <a:latin typeface="Calibri"/>
                        <a:ea typeface="Calibri"/>
                        <a:cs typeface="Times New Roman"/>
                      </a:endParaRPr>
                    </a:p>
                  </a:txBody>
                  <a:tcPr marL="68580" marR="68580" marT="0" marB="0"/>
                </a:tc>
              </a:tr>
              <a:tr h="202930">
                <a:tc>
                  <a:txBody>
                    <a:bodyPr/>
                    <a:lstStyle/>
                    <a:p>
                      <a:pPr marL="0" marR="0" algn="ctr">
                        <a:lnSpc>
                          <a:spcPct val="150000"/>
                        </a:lnSpc>
                        <a:spcBef>
                          <a:spcPts val="0"/>
                        </a:spcBef>
                        <a:spcAft>
                          <a:spcPts val="0"/>
                        </a:spcAft>
                      </a:pPr>
                      <a:r>
                        <a:rPr lang="en-US" sz="1600" dirty="0">
                          <a:latin typeface="Times New Roman"/>
                          <a:ea typeface="Calibri"/>
                          <a:cs typeface="Times New Roman"/>
                        </a:rPr>
                        <a:t>Moong</a:t>
                      </a:r>
                      <a:endParaRPr lang="en-US" sz="1600" dirty="0">
                        <a:latin typeface="Calibri"/>
                        <a:ea typeface="Calibri"/>
                        <a:cs typeface="Times New Roman"/>
                      </a:endParaRPr>
                    </a:p>
                  </a:txBody>
                  <a:tcPr marL="68580" marR="68580" marT="0" marB="0"/>
                </a:tc>
                <a:tc>
                  <a:txBody>
                    <a:bodyPr/>
                    <a:lstStyle/>
                    <a:p>
                      <a:pPr marL="0" marR="0" algn="ctr">
                        <a:lnSpc>
                          <a:spcPct val="150000"/>
                        </a:lnSpc>
                        <a:spcBef>
                          <a:spcPts val="0"/>
                        </a:spcBef>
                        <a:spcAft>
                          <a:spcPts val="0"/>
                        </a:spcAft>
                      </a:pPr>
                      <a:r>
                        <a:rPr lang="en-US" sz="1600">
                          <a:latin typeface="Times New Roman"/>
                          <a:ea typeface="Calibri"/>
                          <a:cs typeface="Times New Roman"/>
                        </a:rPr>
                        <a:t>10.7458</a:t>
                      </a:r>
                      <a:endParaRPr lang="en-US" sz="1600">
                        <a:latin typeface="Calibri"/>
                        <a:ea typeface="Calibri"/>
                        <a:cs typeface="Times New Roman"/>
                      </a:endParaRPr>
                    </a:p>
                  </a:txBody>
                  <a:tcPr marL="68580" marR="68580" marT="0" marB="0"/>
                </a:tc>
                <a:tc>
                  <a:txBody>
                    <a:bodyPr/>
                    <a:lstStyle/>
                    <a:p>
                      <a:pPr marL="0" marR="0" algn="ctr">
                        <a:lnSpc>
                          <a:spcPct val="150000"/>
                        </a:lnSpc>
                        <a:spcBef>
                          <a:spcPts val="0"/>
                        </a:spcBef>
                        <a:spcAft>
                          <a:spcPts val="0"/>
                        </a:spcAft>
                      </a:pPr>
                      <a:r>
                        <a:rPr lang="en-US" sz="1600" dirty="0">
                          <a:latin typeface="Times New Roman"/>
                          <a:ea typeface="Calibri"/>
                          <a:cs typeface="Times New Roman"/>
                        </a:rPr>
                        <a:t>2.6927</a:t>
                      </a:r>
                      <a:endParaRPr lang="en-US" sz="1600" dirty="0">
                        <a:latin typeface="Calibri"/>
                        <a:ea typeface="Calibri"/>
                        <a:cs typeface="Times New Roman"/>
                      </a:endParaRPr>
                    </a:p>
                  </a:txBody>
                  <a:tcPr marL="68580" marR="68580" marT="0" marB="0"/>
                </a:tc>
              </a:tr>
            </a:tbl>
          </a:graphicData>
        </a:graphic>
      </p:graphicFrame>
      <p:sp>
        <p:nvSpPr>
          <p:cNvPr id="4" name="Rectangle 3"/>
          <p:cNvSpPr/>
          <p:nvPr/>
        </p:nvSpPr>
        <p:spPr>
          <a:xfrm>
            <a:off x="0" y="0"/>
            <a:ext cx="9144000" cy="400110"/>
          </a:xfrm>
          <a:prstGeom prst="rect">
            <a:avLst/>
          </a:prstGeom>
          <a:solidFill>
            <a:schemeClr val="bg1">
              <a:lumMod val="50000"/>
            </a:schemeClr>
          </a:solidFill>
        </p:spPr>
        <p:txBody>
          <a:bodyPr wrap="square">
            <a:spAutoFit/>
          </a:bodyPr>
          <a:lstStyle/>
          <a:p>
            <a:pPr algn="ctr"/>
            <a:r>
              <a:rPr lang="en-US" sz="2000" b="1" dirty="0" smtClean="0">
                <a:solidFill>
                  <a:schemeClr val="bg1"/>
                </a:solidFill>
                <a:effectLst>
                  <a:outerShdw blurRad="38100" dist="38100" dir="2700000" algn="tl">
                    <a:srgbClr val="000000">
                      <a:alpha val="43137"/>
                    </a:srgbClr>
                  </a:outerShdw>
                </a:effectLst>
              </a:rPr>
              <a:t>Tabulated form of Dielectric constants of cereals for CJ band</a:t>
            </a:r>
            <a:endParaRPr lang="en-US" sz="2000" b="1" dirty="0">
              <a:solidFill>
                <a:schemeClr val="bg1"/>
              </a:solidFill>
              <a:effectLst>
                <a:outerShdw blurRad="38100" dist="38100" dir="2700000" algn="tl">
                  <a:srgbClr val="000000">
                    <a:alpha val="43137"/>
                  </a:srgbClr>
                </a:outerShdw>
              </a:effectLst>
            </a:endParaRPr>
          </a:p>
        </p:txBody>
      </p:sp>
      <p:sp>
        <p:nvSpPr>
          <p:cNvPr id="5" name="Slide Number Placeholder 4"/>
          <p:cNvSpPr>
            <a:spLocks noGrp="1"/>
          </p:cNvSpPr>
          <p:nvPr>
            <p:ph type="sldNum" sz="quarter" idx="11"/>
          </p:nvPr>
        </p:nvSpPr>
        <p:spPr/>
        <p:txBody>
          <a:bodyPr/>
          <a:lstStyle/>
          <a:p>
            <a:fld id="{C2C1A6A0-3F2F-4BAF-B319-837518E4456F}" type="slidenum">
              <a:rPr lang="en-US" smtClean="0"/>
              <a:pPr/>
              <a:t>42</a:t>
            </a:fld>
            <a:endParaRPr lang="en-US"/>
          </a:p>
        </p:txBody>
      </p:sp>
    </p:spTree>
  </p:cSld>
  <p:clrMapOvr>
    <a:masterClrMapping/>
  </p:clrMapOvr>
  <p:transition>
    <p:pull dir="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215074" y="3500438"/>
            <a:ext cx="2928926" cy="2143140"/>
          </a:xfrm>
        </p:spPr>
        <p:txBody>
          <a:bodyPr>
            <a:noAutofit/>
          </a:bodyPr>
          <a:lstStyle/>
          <a:p>
            <a:r>
              <a:rPr lang="en-US" sz="3200" b="1" dirty="0" smtClean="0">
                <a:ln w="10541" cmpd="sng">
                  <a:solidFill>
                    <a:srgbClr val="7D7D7D">
                      <a:tint val="100000"/>
                      <a:shade val="100000"/>
                      <a:satMod val="110000"/>
                    </a:srgbClr>
                  </a:solidFill>
                  <a:prstDash val="solid"/>
                </a:ln>
                <a:solidFill>
                  <a:schemeClr val="tx1"/>
                </a:solidFill>
                <a:latin typeface="Times New Roman" pitchFamily="18" charset="0"/>
                <a:cs typeface="Times New Roman" pitchFamily="18" charset="0"/>
              </a:rPr>
              <a:t>Dielectric Constant for Preliminary samples </a:t>
            </a:r>
            <a:endParaRPr lang="en-US" sz="3200" b="1" dirty="0">
              <a:ln w="10541" cmpd="sng">
                <a:solidFill>
                  <a:srgbClr val="7D7D7D">
                    <a:tint val="100000"/>
                    <a:shade val="100000"/>
                    <a:satMod val="110000"/>
                  </a:srgbClr>
                </a:solidFill>
                <a:prstDash val="solid"/>
              </a:ln>
              <a:solidFill>
                <a:schemeClr val="tx1"/>
              </a:solidFill>
              <a:latin typeface="Times New Roman" pitchFamily="18" charset="0"/>
              <a:cs typeface="Times New Roman" pitchFamily="18" charset="0"/>
            </a:endParaRPr>
          </a:p>
        </p:txBody>
      </p:sp>
      <p:graphicFrame>
        <p:nvGraphicFramePr>
          <p:cNvPr id="5" name="Content Placeholder 4"/>
          <p:cNvGraphicFramePr>
            <a:graphicFrameLocks noGrp="1"/>
          </p:cNvGraphicFramePr>
          <p:nvPr>
            <p:ph sz="quarter" idx="1"/>
            <p:extLst>
              <p:ext uri="{D42A27DB-BD31-4B8C-83A1-F6EECF244321}">
                <p14:modId xmlns:p14="http://schemas.microsoft.com/office/powerpoint/2010/main" xmlns="" val="2220895268"/>
              </p:ext>
            </p:extLst>
          </p:nvPr>
        </p:nvGraphicFramePr>
        <p:xfrm>
          <a:off x="1" y="-1"/>
          <a:ext cx="6143635" cy="3144156"/>
        </p:xfrm>
        <a:graphic>
          <a:graphicData uri="http://schemas.openxmlformats.org/drawingml/2006/table">
            <a:tbl>
              <a:tblPr>
                <a:tableStyleId>{5C22544A-7EE6-4342-B048-85BDC9FD1C3A}</a:tableStyleId>
              </a:tblPr>
              <a:tblGrid>
                <a:gridCol w="1174518"/>
                <a:gridCol w="1171760"/>
                <a:gridCol w="803857"/>
                <a:gridCol w="696674"/>
                <a:gridCol w="696674"/>
                <a:gridCol w="1600152"/>
              </a:tblGrid>
              <a:tr h="679177">
                <a:tc>
                  <a:txBody>
                    <a:bodyPr/>
                    <a:lstStyle/>
                    <a:p>
                      <a:pPr marL="0" marR="0" algn="ctr">
                        <a:lnSpc>
                          <a:spcPct val="150000"/>
                        </a:lnSpc>
                        <a:spcBef>
                          <a:spcPts val="0"/>
                        </a:spcBef>
                        <a:spcAft>
                          <a:spcPts val="0"/>
                        </a:spcAft>
                      </a:pPr>
                      <a:r>
                        <a:rPr lang="en-US" sz="1800" dirty="0">
                          <a:solidFill>
                            <a:schemeClr val="bg1"/>
                          </a:solidFill>
                          <a:effectLst/>
                          <a:latin typeface="Times New Roman" pitchFamily="18" charset="0"/>
                          <a:cs typeface="Times New Roman" pitchFamily="18" charset="0"/>
                        </a:rPr>
                        <a:t>Frequencies/samples</a:t>
                      </a:r>
                      <a:endParaRPr lang="en-US" sz="1800" dirty="0">
                        <a:solidFill>
                          <a:schemeClr val="bg1"/>
                        </a:solidFill>
                        <a:effectLst/>
                        <a:latin typeface="Times New Roman" pitchFamily="18" charset="0"/>
                        <a:ea typeface="Calibri"/>
                        <a:cs typeface="Times New Roman" pitchFamily="18" charset="0"/>
                      </a:endParaRPr>
                    </a:p>
                  </a:txBody>
                  <a:tcPr marL="10807" marR="10807" marT="0" marB="0">
                    <a:solidFill>
                      <a:schemeClr val="accent1"/>
                    </a:solidFill>
                  </a:tcPr>
                </a:tc>
                <a:tc>
                  <a:txBody>
                    <a:bodyPr/>
                    <a:lstStyle/>
                    <a:p>
                      <a:pPr marL="0" marR="0" algn="ctr">
                        <a:lnSpc>
                          <a:spcPct val="150000"/>
                        </a:lnSpc>
                        <a:spcBef>
                          <a:spcPts val="0"/>
                        </a:spcBef>
                        <a:spcAft>
                          <a:spcPts val="0"/>
                        </a:spcAft>
                      </a:pPr>
                      <a:r>
                        <a:rPr lang="en-US" sz="1800" dirty="0">
                          <a:solidFill>
                            <a:schemeClr val="bg1"/>
                          </a:solidFill>
                          <a:effectLst/>
                          <a:latin typeface="Times New Roman" pitchFamily="18" charset="0"/>
                          <a:cs typeface="Times New Roman" pitchFamily="18" charset="0"/>
                        </a:rPr>
                        <a:t>Wheat</a:t>
                      </a:r>
                      <a:endParaRPr lang="en-US" sz="1800" dirty="0">
                        <a:solidFill>
                          <a:schemeClr val="bg1"/>
                        </a:solidFill>
                        <a:effectLst/>
                        <a:latin typeface="Times New Roman" pitchFamily="18" charset="0"/>
                        <a:ea typeface="Calibri"/>
                        <a:cs typeface="Times New Roman" pitchFamily="18" charset="0"/>
                      </a:endParaRPr>
                    </a:p>
                  </a:txBody>
                  <a:tcPr marL="10807" marR="10807" marT="0" marB="0">
                    <a:solidFill>
                      <a:schemeClr val="accent1"/>
                    </a:solidFill>
                  </a:tcPr>
                </a:tc>
                <a:tc>
                  <a:txBody>
                    <a:bodyPr/>
                    <a:lstStyle/>
                    <a:p>
                      <a:pPr marL="0" marR="0" algn="ctr">
                        <a:lnSpc>
                          <a:spcPct val="150000"/>
                        </a:lnSpc>
                        <a:spcBef>
                          <a:spcPts val="0"/>
                        </a:spcBef>
                        <a:spcAft>
                          <a:spcPts val="0"/>
                        </a:spcAft>
                      </a:pPr>
                      <a:r>
                        <a:rPr lang="en-US" sz="1800" dirty="0">
                          <a:solidFill>
                            <a:schemeClr val="bg1"/>
                          </a:solidFill>
                          <a:effectLst/>
                          <a:latin typeface="Times New Roman" pitchFamily="18" charset="0"/>
                          <a:cs typeface="Times New Roman" pitchFamily="18" charset="0"/>
                        </a:rPr>
                        <a:t>Rice</a:t>
                      </a:r>
                      <a:endParaRPr lang="en-US" sz="1800" dirty="0">
                        <a:solidFill>
                          <a:schemeClr val="bg1"/>
                        </a:solidFill>
                        <a:effectLst/>
                        <a:latin typeface="Times New Roman" pitchFamily="18" charset="0"/>
                        <a:ea typeface="Calibri"/>
                        <a:cs typeface="Times New Roman" pitchFamily="18" charset="0"/>
                      </a:endParaRPr>
                    </a:p>
                  </a:txBody>
                  <a:tcPr marL="10807" marR="10807" marT="0" marB="0">
                    <a:solidFill>
                      <a:schemeClr val="accent1"/>
                    </a:solidFill>
                  </a:tcPr>
                </a:tc>
                <a:tc>
                  <a:txBody>
                    <a:bodyPr/>
                    <a:lstStyle/>
                    <a:p>
                      <a:pPr marL="0" marR="0" algn="ctr">
                        <a:lnSpc>
                          <a:spcPct val="150000"/>
                        </a:lnSpc>
                        <a:spcBef>
                          <a:spcPts val="0"/>
                        </a:spcBef>
                        <a:spcAft>
                          <a:spcPts val="0"/>
                        </a:spcAft>
                      </a:pPr>
                      <a:r>
                        <a:rPr lang="en-US" sz="1800" dirty="0">
                          <a:solidFill>
                            <a:schemeClr val="bg1"/>
                          </a:solidFill>
                          <a:effectLst/>
                          <a:latin typeface="Times New Roman" pitchFamily="18" charset="0"/>
                          <a:cs typeface="Times New Roman" pitchFamily="18" charset="0"/>
                        </a:rPr>
                        <a:t>Arhar</a:t>
                      </a:r>
                      <a:endParaRPr lang="en-US" sz="1800" dirty="0">
                        <a:solidFill>
                          <a:schemeClr val="bg1"/>
                        </a:solidFill>
                        <a:effectLst/>
                        <a:latin typeface="Times New Roman" pitchFamily="18" charset="0"/>
                        <a:ea typeface="Calibri"/>
                        <a:cs typeface="Times New Roman" pitchFamily="18" charset="0"/>
                      </a:endParaRPr>
                    </a:p>
                  </a:txBody>
                  <a:tcPr marL="10807" marR="10807" marT="0" marB="0">
                    <a:solidFill>
                      <a:schemeClr val="accent1"/>
                    </a:solidFill>
                  </a:tcPr>
                </a:tc>
                <a:tc>
                  <a:txBody>
                    <a:bodyPr/>
                    <a:lstStyle/>
                    <a:p>
                      <a:pPr marL="0" marR="0" algn="ctr">
                        <a:lnSpc>
                          <a:spcPct val="150000"/>
                        </a:lnSpc>
                        <a:spcBef>
                          <a:spcPts val="0"/>
                        </a:spcBef>
                        <a:spcAft>
                          <a:spcPts val="0"/>
                        </a:spcAft>
                      </a:pPr>
                      <a:r>
                        <a:rPr lang="en-US" sz="1800" dirty="0">
                          <a:solidFill>
                            <a:schemeClr val="bg1"/>
                          </a:solidFill>
                          <a:effectLst/>
                          <a:latin typeface="Times New Roman" pitchFamily="18" charset="0"/>
                          <a:cs typeface="Times New Roman" pitchFamily="18" charset="0"/>
                        </a:rPr>
                        <a:t>Chana</a:t>
                      </a:r>
                      <a:endParaRPr lang="en-US" sz="1800" dirty="0">
                        <a:solidFill>
                          <a:schemeClr val="bg1"/>
                        </a:solidFill>
                        <a:effectLst/>
                        <a:latin typeface="Times New Roman" pitchFamily="18" charset="0"/>
                        <a:ea typeface="Calibri"/>
                        <a:cs typeface="Times New Roman" pitchFamily="18" charset="0"/>
                      </a:endParaRPr>
                    </a:p>
                  </a:txBody>
                  <a:tcPr marL="10807" marR="10807" marT="0" marB="0">
                    <a:solidFill>
                      <a:schemeClr val="accent1"/>
                    </a:solidFill>
                  </a:tcPr>
                </a:tc>
                <a:tc>
                  <a:txBody>
                    <a:bodyPr/>
                    <a:lstStyle/>
                    <a:p>
                      <a:pPr marL="0" marR="0" algn="ctr">
                        <a:lnSpc>
                          <a:spcPct val="150000"/>
                        </a:lnSpc>
                        <a:spcBef>
                          <a:spcPts val="0"/>
                        </a:spcBef>
                        <a:spcAft>
                          <a:spcPts val="0"/>
                        </a:spcAft>
                      </a:pPr>
                      <a:r>
                        <a:rPr lang="en-US" sz="1800" dirty="0">
                          <a:solidFill>
                            <a:schemeClr val="bg1"/>
                          </a:solidFill>
                          <a:effectLst/>
                          <a:latin typeface="Times New Roman" pitchFamily="18" charset="0"/>
                          <a:cs typeface="Times New Roman" pitchFamily="18" charset="0"/>
                        </a:rPr>
                        <a:t>Moong</a:t>
                      </a:r>
                      <a:endParaRPr lang="en-US" sz="1800" dirty="0">
                        <a:solidFill>
                          <a:schemeClr val="bg1"/>
                        </a:solidFill>
                        <a:effectLst/>
                        <a:latin typeface="Times New Roman" pitchFamily="18" charset="0"/>
                        <a:ea typeface="Calibri"/>
                        <a:cs typeface="Times New Roman" pitchFamily="18" charset="0"/>
                      </a:endParaRPr>
                    </a:p>
                  </a:txBody>
                  <a:tcPr marL="10807" marR="10807" marT="0" marB="0">
                    <a:solidFill>
                      <a:schemeClr val="accent1"/>
                    </a:solidFill>
                  </a:tcPr>
                </a:tc>
              </a:tr>
              <a:tr h="643177">
                <a:tc>
                  <a:txBody>
                    <a:bodyPr/>
                    <a:lstStyle/>
                    <a:p>
                      <a:pPr marL="0" marR="0" algn="ctr">
                        <a:lnSpc>
                          <a:spcPct val="150000"/>
                        </a:lnSpc>
                        <a:spcBef>
                          <a:spcPts val="0"/>
                        </a:spcBef>
                        <a:spcAft>
                          <a:spcPts val="0"/>
                        </a:spcAft>
                      </a:pPr>
                      <a:r>
                        <a:rPr lang="en-US" sz="1800" dirty="0">
                          <a:solidFill>
                            <a:schemeClr val="bg1"/>
                          </a:solidFill>
                          <a:effectLst/>
                          <a:latin typeface="Times New Roman" pitchFamily="18" charset="0"/>
                          <a:cs typeface="Times New Roman" pitchFamily="18" charset="0"/>
                        </a:rPr>
                        <a:t>5.30 GHz</a:t>
                      </a:r>
                      <a:endParaRPr lang="en-US" sz="1800" dirty="0">
                        <a:solidFill>
                          <a:schemeClr val="bg1"/>
                        </a:solidFill>
                        <a:effectLst/>
                        <a:latin typeface="Times New Roman" pitchFamily="18" charset="0"/>
                        <a:ea typeface="Calibri"/>
                        <a:cs typeface="Times New Roman" pitchFamily="18" charset="0"/>
                      </a:endParaRPr>
                    </a:p>
                  </a:txBody>
                  <a:tcPr marL="10807" marR="10807" marT="0" marB="0">
                    <a:solidFill>
                      <a:schemeClr val="accent1"/>
                    </a:solidFill>
                  </a:tcPr>
                </a:tc>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9.037</a:t>
                      </a:r>
                      <a:endParaRPr lang="en-US" sz="1800" dirty="0">
                        <a:effectLst/>
                        <a:latin typeface="Times New Roman" pitchFamily="18" charset="0"/>
                        <a:ea typeface="Calibri"/>
                        <a:cs typeface="Times New Roman" pitchFamily="18" charset="0"/>
                      </a:endParaRPr>
                    </a:p>
                  </a:txBody>
                  <a:tcPr marL="10807" marR="10807" marT="0" marB="0"/>
                </a:tc>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8.7754</a:t>
                      </a:r>
                      <a:endParaRPr lang="en-US" sz="1800" dirty="0">
                        <a:effectLst/>
                        <a:latin typeface="Times New Roman" pitchFamily="18" charset="0"/>
                        <a:ea typeface="Calibri"/>
                        <a:cs typeface="Times New Roman" pitchFamily="18" charset="0"/>
                      </a:endParaRPr>
                    </a:p>
                  </a:txBody>
                  <a:tcPr marL="10807" marR="10807"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8.6727</a:t>
                      </a:r>
                      <a:endParaRPr lang="en-US" sz="1800">
                        <a:effectLst/>
                        <a:latin typeface="Times New Roman" pitchFamily="18" charset="0"/>
                        <a:ea typeface="Calibri"/>
                        <a:cs typeface="Times New Roman" pitchFamily="18" charset="0"/>
                      </a:endParaRPr>
                    </a:p>
                  </a:txBody>
                  <a:tcPr marL="10807" marR="10807"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8.4098</a:t>
                      </a:r>
                      <a:endParaRPr lang="en-US" sz="1800">
                        <a:effectLst/>
                        <a:latin typeface="Times New Roman" pitchFamily="18" charset="0"/>
                        <a:ea typeface="Calibri"/>
                        <a:cs typeface="Times New Roman" pitchFamily="18" charset="0"/>
                      </a:endParaRPr>
                    </a:p>
                  </a:txBody>
                  <a:tcPr marL="10807" marR="10807" marT="0" marB="0"/>
                </a:tc>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8.8048</a:t>
                      </a:r>
                      <a:endParaRPr lang="en-US" sz="1800" dirty="0">
                        <a:effectLst/>
                        <a:latin typeface="Times New Roman" pitchFamily="18" charset="0"/>
                        <a:ea typeface="Calibri"/>
                        <a:cs typeface="Times New Roman" pitchFamily="18" charset="0"/>
                      </a:endParaRPr>
                    </a:p>
                  </a:txBody>
                  <a:tcPr marL="10807" marR="10807" marT="0" marB="0"/>
                </a:tc>
              </a:tr>
              <a:tr h="572376">
                <a:tc>
                  <a:txBody>
                    <a:bodyPr/>
                    <a:lstStyle/>
                    <a:p>
                      <a:pPr marL="0" marR="0" algn="ctr">
                        <a:lnSpc>
                          <a:spcPct val="150000"/>
                        </a:lnSpc>
                        <a:spcBef>
                          <a:spcPts val="0"/>
                        </a:spcBef>
                        <a:spcAft>
                          <a:spcPts val="0"/>
                        </a:spcAft>
                      </a:pPr>
                      <a:r>
                        <a:rPr lang="en-US" sz="1800" dirty="0">
                          <a:solidFill>
                            <a:schemeClr val="bg1"/>
                          </a:solidFill>
                          <a:effectLst/>
                          <a:latin typeface="Times New Roman" pitchFamily="18" charset="0"/>
                          <a:cs typeface="Times New Roman" pitchFamily="18" charset="0"/>
                        </a:rPr>
                        <a:t>6.60 GHz</a:t>
                      </a:r>
                      <a:endParaRPr lang="en-US" sz="1800" dirty="0">
                        <a:solidFill>
                          <a:schemeClr val="bg1"/>
                        </a:solidFill>
                        <a:effectLst/>
                        <a:latin typeface="Times New Roman" pitchFamily="18" charset="0"/>
                        <a:ea typeface="Calibri"/>
                        <a:cs typeface="Times New Roman" pitchFamily="18" charset="0"/>
                      </a:endParaRPr>
                    </a:p>
                  </a:txBody>
                  <a:tcPr marL="10807" marR="10807" marT="0" marB="0">
                    <a:solidFill>
                      <a:schemeClr val="accent1"/>
                    </a:solidFill>
                  </a:tcPr>
                </a:tc>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8.8451</a:t>
                      </a:r>
                      <a:endParaRPr lang="en-US" sz="1800" dirty="0">
                        <a:effectLst/>
                        <a:latin typeface="Times New Roman" pitchFamily="18" charset="0"/>
                        <a:ea typeface="Calibri"/>
                        <a:cs typeface="Times New Roman" pitchFamily="18" charset="0"/>
                      </a:endParaRPr>
                    </a:p>
                  </a:txBody>
                  <a:tcPr marL="10807" marR="10807" marT="0" marB="0"/>
                </a:tc>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8.5023</a:t>
                      </a:r>
                      <a:endParaRPr lang="en-US" sz="1800" dirty="0">
                        <a:effectLst/>
                        <a:latin typeface="Times New Roman" pitchFamily="18" charset="0"/>
                        <a:ea typeface="Calibri"/>
                        <a:cs typeface="Times New Roman" pitchFamily="18" charset="0"/>
                      </a:endParaRPr>
                    </a:p>
                  </a:txBody>
                  <a:tcPr marL="10807" marR="10807"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8.4805</a:t>
                      </a:r>
                      <a:endParaRPr lang="en-US" sz="1800">
                        <a:effectLst/>
                        <a:latin typeface="Times New Roman" pitchFamily="18" charset="0"/>
                        <a:ea typeface="Calibri"/>
                        <a:cs typeface="Times New Roman" pitchFamily="18" charset="0"/>
                      </a:endParaRPr>
                    </a:p>
                  </a:txBody>
                  <a:tcPr marL="10807" marR="10807" marT="0" marB="0"/>
                </a:tc>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8.2315</a:t>
                      </a:r>
                      <a:endParaRPr lang="en-US" sz="1800" dirty="0">
                        <a:effectLst/>
                        <a:latin typeface="Times New Roman" pitchFamily="18" charset="0"/>
                        <a:ea typeface="Calibri"/>
                        <a:cs typeface="Times New Roman" pitchFamily="18" charset="0"/>
                      </a:endParaRPr>
                    </a:p>
                  </a:txBody>
                  <a:tcPr marL="10807" marR="10807" marT="0" marB="0"/>
                </a:tc>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8.5509</a:t>
                      </a:r>
                      <a:endParaRPr lang="en-US" sz="1800" dirty="0">
                        <a:effectLst/>
                        <a:latin typeface="Times New Roman" pitchFamily="18" charset="0"/>
                        <a:ea typeface="Calibri"/>
                        <a:cs typeface="Times New Roman" pitchFamily="18" charset="0"/>
                      </a:endParaRPr>
                    </a:p>
                  </a:txBody>
                  <a:tcPr marL="10807" marR="10807" marT="0" marB="0"/>
                </a:tc>
              </a:tr>
              <a:tr h="572376">
                <a:tc>
                  <a:txBody>
                    <a:bodyPr/>
                    <a:lstStyle/>
                    <a:p>
                      <a:pPr marL="0" marR="0" algn="ctr">
                        <a:lnSpc>
                          <a:spcPct val="150000"/>
                        </a:lnSpc>
                        <a:spcBef>
                          <a:spcPts val="0"/>
                        </a:spcBef>
                        <a:spcAft>
                          <a:spcPts val="0"/>
                        </a:spcAft>
                      </a:pPr>
                      <a:r>
                        <a:rPr lang="en-US" sz="1800" dirty="0">
                          <a:solidFill>
                            <a:schemeClr val="bg1"/>
                          </a:solidFill>
                          <a:effectLst/>
                          <a:latin typeface="Times New Roman" pitchFamily="18" charset="0"/>
                          <a:cs typeface="Times New Roman" pitchFamily="18" charset="0"/>
                        </a:rPr>
                        <a:t>10.65 GHz</a:t>
                      </a:r>
                      <a:endParaRPr lang="en-US" sz="1800" dirty="0">
                        <a:solidFill>
                          <a:schemeClr val="bg1"/>
                        </a:solidFill>
                        <a:effectLst/>
                        <a:latin typeface="Times New Roman" pitchFamily="18" charset="0"/>
                        <a:ea typeface="Calibri"/>
                        <a:cs typeface="Times New Roman" pitchFamily="18" charset="0"/>
                      </a:endParaRPr>
                    </a:p>
                  </a:txBody>
                  <a:tcPr marL="10807" marR="10807" marT="0" marB="0">
                    <a:solidFill>
                      <a:schemeClr val="accent1"/>
                    </a:solidFill>
                  </a:tcPr>
                </a:tc>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6.6643</a:t>
                      </a:r>
                      <a:endParaRPr lang="en-US" sz="1800" dirty="0">
                        <a:effectLst/>
                        <a:latin typeface="Times New Roman" pitchFamily="18" charset="0"/>
                        <a:ea typeface="Calibri"/>
                        <a:cs typeface="Times New Roman" pitchFamily="18" charset="0"/>
                      </a:endParaRPr>
                    </a:p>
                  </a:txBody>
                  <a:tcPr marL="10807" marR="10807" marT="0" marB="0"/>
                </a:tc>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6.6402</a:t>
                      </a:r>
                      <a:endParaRPr lang="en-US" sz="1800" dirty="0">
                        <a:effectLst/>
                        <a:latin typeface="Times New Roman" pitchFamily="18" charset="0"/>
                        <a:ea typeface="Calibri"/>
                        <a:cs typeface="Times New Roman" pitchFamily="18" charset="0"/>
                      </a:endParaRPr>
                    </a:p>
                  </a:txBody>
                  <a:tcPr marL="10807" marR="10807" marT="0" marB="0"/>
                </a:tc>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6.8166</a:t>
                      </a:r>
                      <a:endParaRPr lang="en-US" sz="1800" dirty="0">
                        <a:effectLst/>
                        <a:latin typeface="Times New Roman" pitchFamily="18" charset="0"/>
                        <a:ea typeface="Calibri"/>
                        <a:cs typeface="Times New Roman" pitchFamily="18" charset="0"/>
                      </a:endParaRPr>
                    </a:p>
                  </a:txBody>
                  <a:tcPr marL="10807" marR="10807" marT="0" marB="0"/>
                </a:tc>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6.4729</a:t>
                      </a:r>
                      <a:endParaRPr lang="en-US" sz="1800" dirty="0">
                        <a:effectLst/>
                        <a:latin typeface="Times New Roman" pitchFamily="18" charset="0"/>
                        <a:ea typeface="Calibri"/>
                        <a:cs typeface="Times New Roman" pitchFamily="18" charset="0"/>
                      </a:endParaRPr>
                    </a:p>
                  </a:txBody>
                  <a:tcPr marL="10807" marR="10807" marT="0" marB="0"/>
                </a:tc>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6.3555</a:t>
                      </a:r>
                      <a:endParaRPr lang="en-US" sz="1800" dirty="0">
                        <a:effectLst/>
                        <a:latin typeface="Times New Roman" pitchFamily="18" charset="0"/>
                        <a:ea typeface="Calibri"/>
                        <a:cs typeface="Times New Roman" pitchFamily="18" charset="0"/>
                      </a:endParaRPr>
                    </a:p>
                  </a:txBody>
                  <a:tcPr marL="10807" marR="10807" marT="0" marB="0"/>
                </a:tc>
              </a:tr>
              <a:tr h="533267">
                <a:tc>
                  <a:txBody>
                    <a:bodyPr/>
                    <a:lstStyle/>
                    <a:p>
                      <a:pPr marL="0" marR="0" algn="ctr">
                        <a:lnSpc>
                          <a:spcPct val="150000"/>
                        </a:lnSpc>
                        <a:spcBef>
                          <a:spcPts val="0"/>
                        </a:spcBef>
                        <a:spcAft>
                          <a:spcPts val="0"/>
                        </a:spcAft>
                      </a:pPr>
                      <a:r>
                        <a:rPr lang="en-US" sz="1800" dirty="0">
                          <a:solidFill>
                            <a:schemeClr val="bg1"/>
                          </a:solidFill>
                          <a:effectLst/>
                          <a:latin typeface="Times New Roman" pitchFamily="18" charset="0"/>
                          <a:cs typeface="Times New Roman" pitchFamily="18" charset="0"/>
                        </a:rPr>
                        <a:t>13.00 GHz</a:t>
                      </a:r>
                      <a:endParaRPr lang="en-US" sz="1800" dirty="0">
                        <a:solidFill>
                          <a:schemeClr val="bg1"/>
                        </a:solidFill>
                        <a:effectLst/>
                        <a:latin typeface="Times New Roman" pitchFamily="18" charset="0"/>
                        <a:ea typeface="Calibri"/>
                        <a:cs typeface="Times New Roman" pitchFamily="18" charset="0"/>
                      </a:endParaRPr>
                    </a:p>
                  </a:txBody>
                  <a:tcPr marL="10807" marR="10807" marT="0" marB="0">
                    <a:solidFill>
                      <a:schemeClr val="accent1"/>
                    </a:solidFill>
                  </a:tcPr>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3.4142</a:t>
                      </a:r>
                      <a:endParaRPr lang="en-US" sz="1800">
                        <a:effectLst/>
                        <a:latin typeface="Times New Roman" pitchFamily="18" charset="0"/>
                        <a:ea typeface="Calibri"/>
                        <a:cs typeface="Times New Roman" pitchFamily="18" charset="0"/>
                      </a:endParaRPr>
                    </a:p>
                  </a:txBody>
                  <a:tcPr marL="10807" marR="10807"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3.4947</a:t>
                      </a:r>
                      <a:endParaRPr lang="en-US" sz="1800">
                        <a:effectLst/>
                        <a:latin typeface="Times New Roman" pitchFamily="18" charset="0"/>
                        <a:ea typeface="Calibri"/>
                        <a:cs typeface="Times New Roman" pitchFamily="18" charset="0"/>
                      </a:endParaRPr>
                    </a:p>
                  </a:txBody>
                  <a:tcPr marL="10807" marR="10807" marT="0" marB="0"/>
                </a:tc>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3.4331</a:t>
                      </a:r>
                      <a:endParaRPr lang="en-US" sz="1800" dirty="0">
                        <a:effectLst/>
                        <a:latin typeface="Times New Roman" pitchFamily="18" charset="0"/>
                        <a:ea typeface="Calibri"/>
                        <a:cs typeface="Times New Roman" pitchFamily="18" charset="0"/>
                      </a:endParaRPr>
                    </a:p>
                  </a:txBody>
                  <a:tcPr marL="10807" marR="10807" marT="0" marB="0"/>
                </a:tc>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3.4903</a:t>
                      </a:r>
                      <a:endParaRPr lang="en-US" sz="1800" dirty="0">
                        <a:effectLst/>
                        <a:latin typeface="Times New Roman" pitchFamily="18" charset="0"/>
                        <a:ea typeface="Calibri"/>
                        <a:cs typeface="Times New Roman" pitchFamily="18" charset="0"/>
                      </a:endParaRPr>
                    </a:p>
                  </a:txBody>
                  <a:tcPr marL="10807" marR="10807" marT="0" marB="0"/>
                </a:tc>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3.3279</a:t>
                      </a:r>
                      <a:endParaRPr lang="en-US" sz="1800" dirty="0">
                        <a:effectLst/>
                        <a:latin typeface="Times New Roman" pitchFamily="18" charset="0"/>
                        <a:ea typeface="Calibri"/>
                        <a:cs typeface="Times New Roman" pitchFamily="18" charset="0"/>
                      </a:endParaRPr>
                    </a:p>
                  </a:txBody>
                  <a:tcPr marL="10807" marR="10807" marT="0" marB="0"/>
                </a:tc>
              </a:tr>
            </a:tbl>
          </a:graphicData>
        </a:graphic>
      </p:graphicFrame>
      <p:pic>
        <p:nvPicPr>
          <p:cNvPr id="6145" name="Picture 1"/>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0" y="3071810"/>
            <a:ext cx="6215074" cy="378619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7" name="Rectangle 6"/>
          <p:cNvSpPr/>
          <p:nvPr/>
        </p:nvSpPr>
        <p:spPr>
          <a:xfrm>
            <a:off x="5857884" y="928670"/>
            <a:ext cx="2857488" cy="1569660"/>
          </a:xfrm>
          <a:prstGeom prst="rect">
            <a:avLst/>
          </a:prstGeom>
          <a:noFill/>
        </p:spPr>
        <p:txBody>
          <a:bodyPr wrap="square" lIns="91440" tIns="45720" rIns="91440" bIns="45720">
            <a:spAutoFit/>
          </a:bodyPr>
          <a:lstStyle/>
          <a:p>
            <a:pPr algn="ctr"/>
            <a:r>
              <a:rPr lang="en-US" sz="3200" b="1" cap="none" spc="0" dirty="0" smtClean="0">
                <a:ln w="10541" cmpd="sng">
                  <a:solidFill>
                    <a:srgbClr val="7D7D7D">
                      <a:tint val="100000"/>
                      <a:shade val="100000"/>
                      <a:satMod val="110000"/>
                    </a:srgbClr>
                  </a:solidFill>
                  <a:prstDash val="solid"/>
                </a:ln>
                <a:effectLst>
                  <a:outerShdw blurRad="38100" dist="38100" dir="2700000" algn="tl">
                    <a:srgbClr val="000000">
                      <a:alpha val="43137"/>
                    </a:srgbClr>
                  </a:outerShdw>
                </a:effectLst>
                <a:latin typeface="Times New Roman" pitchFamily="18" charset="0"/>
                <a:cs typeface="Times New Roman" pitchFamily="18" charset="0"/>
              </a:rPr>
              <a:t>[A]   For </a:t>
            </a:r>
          </a:p>
          <a:p>
            <a:pPr algn="ctr"/>
            <a:r>
              <a:rPr lang="en-US" sz="3200" b="1" cap="none" spc="0" dirty="0" smtClean="0">
                <a:ln w="10541" cmpd="sng">
                  <a:solidFill>
                    <a:srgbClr val="7D7D7D">
                      <a:tint val="100000"/>
                      <a:shade val="100000"/>
                      <a:satMod val="110000"/>
                    </a:srgbClr>
                  </a:solidFill>
                  <a:prstDash val="solid"/>
                </a:ln>
                <a:effectLst>
                  <a:outerShdw blurRad="38100" dist="38100" dir="2700000" algn="tl">
                    <a:srgbClr val="000000">
                      <a:alpha val="43137"/>
                    </a:srgbClr>
                  </a:outerShdw>
                </a:effectLst>
                <a:latin typeface="Times New Roman" pitchFamily="18" charset="0"/>
                <a:cs typeface="Times New Roman" pitchFamily="18" charset="0"/>
              </a:rPr>
              <a:t>Dielectric          constant</a:t>
            </a:r>
            <a:endParaRPr lang="en-US" sz="3200" b="1" cap="none" spc="0" dirty="0">
              <a:ln w="10541" cmpd="sng">
                <a:solidFill>
                  <a:srgbClr val="7D7D7D">
                    <a:tint val="100000"/>
                    <a:shade val="100000"/>
                    <a:satMod val="110000"/>
                  </a:srgbClr>
                </a:solidFill>
                <a:prstDash val="solid"/>
              </a:ln>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6" name="Slide Number Placeholder 5"/>
          <p:cNvSpPr>
            <a:spLocks noGrp="1"/>
          </p:cNvSpPr>
          <p:nvPr>
            <p:ph type="sldNum" sz="quarter" idx="15"/>
          </p:nvPr>
        </p:nvSpPr>
        <p:spPr/>
        <p:txBody>
          <a:bodyPr/>
          <a:lstStyle/>
          <a:p>
            <a:fld id="{C2C1A6A0-3F2F-4BAF-B319-837518E4456F}" type="slidenum">
              <a:rPr lang="en-US" smtClean="0"/>
              <a:pPr/>
              <a:t>43</a:t>
            </a:fld>
            <a:endParaRPr lang="en-US"/>
          </a:p>
        </p:txBody>
      </p:sp>
    </p:spTree>
    <p:extLst>
      <p:ext uri="{BB962C8B-B14F-4D97-AF65-F5344CB8AC3E}">
        <p14:creationId xmlns:p14="http://schemas.microsoft.com/office/powerpoint/2010/main" xmlns="" val="662721400"/>
      </p:ext>
    </p:extLst>
  </p:cSld>
  <p:clrMapOvr>
    <a:masterClrMapping/>
  </p:clrMapOvr>
  <p:transition>
    <p:comb/>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357950" y="214290"/>
            <a:ext cx="2357454" cy="6392351"/>
          </a:xfrm>
        </p:spPr>
        <p:txBody>
          <a:bodyPr>
            <a:normAutofit fontScale="90000"/>
          </a:bodyPr>
          <a:lstStyle/>
          <a:p>
            <a:r>
              <a:rPr lang="en-US" sz="3200" dirty="0" smtClean="0">
                <a:solidFill>
                  <a:schemeClr val="tx1"/>
                </a:solidFill>
                <a:latin typeface="Times New Roman" pitchFamily="18" charset="0"/>
                <a:cs typeface="Times New Roman" pitchFamily="18" charset="0"/>
              </a:rPr>
              <a:t>[B] For</a:t>
            </a:r>
            <a:br>
              <a:rPr lang="en-US" sz="3200" dirty="0" smtClean="0">
                <a:solidFill>
                  <a:schemeClr val="tx1"/>
                </a:solidFill>
                <a:latin typeface="Times New Roman" pitchFamily="18" charset="0"/>
                <a:cs typeface="Times New Roman" pitchFamily="18" charset="0"/>
              </a:rPr>
            </a:br>
            <a:r>
              <a:rPr lang="en-US" sz="3200" dirty="0" smtClean="0">
                <a:solidFill>
                  <a:schemeClr val="tx1"/>
                </a:solidFill>
                <a:latin typeface="Times New Roman" pitchFamily="18" charset="0"/>
                <a:cs typeface="Times New Roman" pitchFamily="18" charset="0"/>
              </a:rPr>
              <a:t>Dielectric</a:t>
            </a:r>
            <a:br>
              <a:rPr lang="en-US" sz="3200" dirty="0" smtClean="0">
                <a:solidFill>
                  <a:schemeClr val="tx1"/>
                </a:solidFill>
                <a:latin typeface="Times New Roman" pitchFamily="18" charset="0"/>
                <a:cs typeface="Times New Roman" pitchFamily="18" charset="0"/>
              </a:rPr>
            </a:br>
            <a:r>
              <a:rPr lang="en-US" sz="3200" dirty="0" smtClean="0">
                <a:solidFill>
                  <a:schemeClr val="tx1"/>
                </a:solidFill>
                <a:latin typeface="Times New Roman" pitchFamily="18" charset="0"/>
                <a:cs typeface="Times New Roman" pitchFamily="18" charset="0"/>
              </a:rPr>
              <a:t>  constant</a:t>
            </a:r>
            <a:r>
              <a:rPr lang="en-US" sz="2700" dirty="0" smtClean="0">
                <a:solidFill>
                  <a:schemeClr val="tx1"/>
                </a:solidFill>
              </a:rPr>
              <a:t/>
            </a:r>
            <a:br>
              <a:rPr lang="en-US" sz="2700" dirty="0" smtClean="0">
                <a:solidFill>
                  <a:schemeClr val="tx1"/>
                </a:solidFill>
              </a:rPr>
            </a:br>
            <a:r>
              <a:rPr lang="en-US" dirty="0" smtClean="0"/>
              <a:t/>
            </a:r>
            <a:br>
              <a:rPr lang="en-US" dirty="0" smtClean="0"/>
            </a:br>
            <a:r>
              <a:rPr lang="en-US" b="1" dirty="0" smtClean="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rPr>
              <a:t/>
            </a:r>
            <a:br>
              <a:rPr lang="en-US" b="1" dirty="0" smtClean="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rPr>
            </a:br>
            <a:r>
              <a:rPr lang="en-US" b="1" dirty="0" smtClean="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rPr>
              <a:t/>
            </a:r>
            <a:br>
              <a:rPr lang="en-US" b="1" dirty="0" smtClean="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rPr>
            </a:br>
            <a:r>
              <a:rPr lang="en-US" b="1" dirty="0" smtClean="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rPr>
              <a:t/>
            </a:r>
            <a:br>
              <a:rPr lang="en-US" b="1" dirty="0" smtClean="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rPr>
            </a:br>
            <a:r>
              <a:rPr lang="en-US" b="1" dirty="0" smtClean="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rPr>
              <a:t/>
            </a:r>
            <a:br>
              <a:rPr lang="en-US" b="1" dirty="0" smtClean="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rPr>
            </a:br>
            <a:r>
              <a:rPr lang="en-US" b="1" dirty="0" smtClean="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rPr>
              <a:t/>
            </a:r>
            <a:br>
              <a:rPr lang="en-US" b="1" dirty="0" smtClean="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rPr>
            </a:br>
            <a:r>
              <a:rPr lang="en-US" sz="3200" b="1" dirty="0" smtClean="0">
                <a:ln w="10541" cmpd="sng">
                  <a:solidFill>
                    <a:srgbClr val="7D7D7D">
                      <a:tint val="100000"/>
                      <a:shade val="100000"/>
                      <a:satMod val="110000"/>
                    </a:srgbClr>
                  </a:solidFill>
                  <a:prstDash val="solid"/>
                </a:ln>
                <a:solidFill>
                  <a:schemeClr val="tx1"/>
                </a:solidFill>
                <a:effectLst>
                  <a:outerShdw blurRad="38100" dist="38100" dir="2700000" algn="tl">
                    <a:srgbClr val="000000">
                      <a:alpha val="43137"/>
                    </a:srgbClr>
                  </a:outerShdw>
                </a:effectLst>
                <a:latin typeface="Times New Roman" pitchFamily="18" charset="0"/>
                <a:cs typeface="Times New Roman" pitchFamily="18" charset="0"/>
              </a:rPr>
              <a:t>Dielectric Constant for Oven dried samples</a:t>
            </a:r>
            <a:r>
              <a:rPr lang="en-US" sz="2400" b="1" dirty="0" smtClean="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rPr>
              <a:t/>
            </a:r>
            <a:br>
              <a:rPr lang="en-US" sz="2400" b="1" dirty="0" smtClean="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rPr>
            </a:br>
            <a:r>
              <a:rPr lang="en-US" sz="2400" dirty="0" smtClean="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rPr>
              <a:t/>
            </a:r>
            <a:br>
              <a:rPr lang="en-US" sz="2400" dirty="0" smtClean="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rPr>
            </a:br>
            <a:r>
              <a:rPr lang="en-US" sz="2400" dirty="0" smtClean="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rPr>
              <a:t/>
            </a:r>
            <a:br>
              <a:rPr lang="en-US" sz="2400" dirty="0" smtClean="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rPr>
            </a:br>
            <a:r>
              <a:rPr lang="en-US" b="1" dirty="0" smtClean="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rPr>
              <a:t/>
            </a:r>
            <a:br>
              <a:rPr lang="en-US" b="1" dirty="0" smtClean="0">
                <a:ln w="24500" cmpd="dbl">
                  <a:solidFill>
                    <a:schemeClr val="accent2">
                      <a:shade val="85000"/>
                      <a:satMod val="155000"/>
                    </a:schemeClr>
                  </a:solidFill>
                  <a:prstDash val="solid"/>
                  <a:miter lim="800000"/>
                </a:ln>
                <a:gradFill>
                  <a:gsLst>
                    <a:gs pos="10000">
                      <a:schemeClr val="accent2">
                        <a:tint val="10000"/>
                        <a:satMod val="155000"/>
                      </a:schemeClr>
                    </a:gs>
                    <a:gs pos="60000">
                      <a:schemeClr val="accent2">
                        <a:tint val="30000"/>
                        <a:satMod val="155000"/>
                      </a:schemeClr>
                    </a:gs>
                    <a:gs pos="100000">
                      <a:schemeClr val="accent2">
                        <a:tint val="73000"/>
                        <a:satMod val="155000"/>
                      </a:schemeClr>
                    </a:gs>
                  </a:gsLst>
                  <a:lin ang="5400000"/>
                </a:gradFill>
                <a:effectLst>
                  <a:outerShdw blurRad="38100" dist="38100" dir="7020000" algn="tl">
                    <a:srgbClr val="000000">
                      <a:alpha val="35000"/>
                    </a:srgbClr>
                  </a:outerShdw>
                </a:effectLst>
              </a:rPr>
            </a:br>
            <a:endParaRPr lang="en-US" dirty="0"/>
          </a:p>
        </p:txBody>
      </p:sp>
      <p:graphicFrame>
        <p:nvGraphicFramePr>
          <p:cNvPr id="5" name="Content Placeholder 4"/>
          <p:cNvGraphicFramePr>
            <a:graphicFrameLocks noGrp="1"/>
          </p:cNvGraphicFramePr>
          <p:nvPr>
            <p:ph sz="quarter" idx="1"/>
            <p:extLst>
              <p:ext uri="{D42A27DB-BD31-4B8C-83A1-F6EECF244321}">
                <p14:modId xmlns:p14="http://schemas.microsoft.com/office/powerpoint/2010/main" xmlns="" val="1657827955"/>
              </p:ext>
            </p:extLst>
          </p:nvPr>
        </p:nvGraphicFramePr>
        <p:xfrm>
          <a:off x="-2" y="1"/>
          <a:ext cx="6143637" cy="3052989"/>
        </p:xfrm>
        <a:graphic>
          <a:graphicData uri="http://schemas.openxmlformats.org/drawingml/2006/table">
            <a:tbl>
              <a:tblPr firstRow="1" firstCol="1" bandRow="1">
                <a:tableStyleId>{5C22544A-7EE6-4342-B048-85BDC9FD1C3A}</a:tableStyleId>
              </a:tblPr>
              <a:tblGrid>
                <a:gridCol w="1649587"/>
                <a:gridCol w="1007385"/>
                <a:gridCol w="881459"/>
                <a:gridCol w="918537"/>
                <a:gridCol w="907346"/>
                <a:gridCol w="779323"/>
              </a:tblGrid>
              <a:tr h="770342">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Frequencies/samples</a:t>
                      </a:r>
                      <a:endParaRPr lang="en-US" sz="1800" dirty="0">
                        <a:effectLst/>
                        <a:latin typeface="Times New Roman" pitchFamily="18" charset="0"/>
                        <a:ea typeface="Calibri"/>
                        <a:cs typeface="Times New Roman" pitchFamily="18" charset="0"/>
                      </a:endParaRPr>
                    </a:p>
                  </a:txBody>
                  <a:tcPr marL="38011" marR="38011" marT="0" marB="0"/>
                </a:tc>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Wheat</a:t>
                      </a:r>
                      <a:endParaRPr lang="en-US" sz="1800" dirty="0">
                        <a:effectLst/>
                        <a:latin typeface="Times New Roman" pitchFamily="18" charset="0"/>
                        <a:ea typeface="Calibri"/>
                        <a:cs typeface="Times New Roman" pitchFamily="18" charset="0"/>
                      </a:endParaRPr>
                    </a:p>
                  </a:txBody>
                  <a:tcPr marL="38011" marR="38011" marT="0" marB="0"/>
                </a:tc>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Rice</a:t>
                      </a:r>
                      <a:endParaRPr lang="en-US" sz="1800" dirty="0">
                        <a:effectLst/>
                        <a:latin typeface="Times New Roman" pitchFamily="18" charset="0"/>
                        <a:ea typeface="Calibri"/>
                        <a:cs typeface="Times New Roman" pitchFamily="18" charset="0"/>
                      </a:endParaRPr>
                    </a:p>
                  </a:txBody>
                  <a:tcPr marL="38011" marR="38011" marT="0" marB="0"/>
                </a:tc>
                <a:tc>
                  <a:txBody>
                    <a:bodyPr/>
                    <a:lstStyle/>
                    <a:p>
                      <a:pPr marL="0" marR="0" algn="ctr">
                        <a:lnSpc>
                          <a:spcPct val="150000"/>
                        </a:lnSpc>
                        <a:spcBef>
                          <a:spcPts val="0"/>
                        </a:spcBef>
                        <a:spcAft>
                          <a:spcPts val="0"/>
                        </a:spcAft>
                      </a:pPr>
                      <a:r>
                        <a:rPr lang="en-US" sz="1800" dirty="0" err="1">
                          <a:effectLst/>
                          <a:latin typeface="Times New Roman" pitchFamily="18" charset="0"/>
                          <a:cs typeface="Times New Roman" pitchFamily="18" charset="0"/>
                        </a:rPr>
                        <a:t>Arhar</a:t>
                      </a:r>
                      <a:endParaRPr lang="en-US" sz="1800" dirty="0">
                        <a:effectLst/>
                        <a:latin typeface="Times New Roman" pitchFamily="18" charset="0"/>
                        <a:ea typeface="Calibri"/>
                        <a:cs typeface="Times New Roman" pitchFamily="18" charset="0"/>
                      </a:endParaRPr>
                    </a:p>
                  </a:txBody>
                  <a:tcPr marL="38011" marR="38011" marT="0" marB="0"/>
                </a:tc>
                <a:tc>
                  <a:txBody>
                    <a:bodyPr/>
                    <a:lstStyle/>
                    <a:p>
                      <a:pPr marL="0" marR="0" algn="ctr">
                        <a:lnSpc>
                          <a:spcPct val="150000"/>
                        </a:lnSpc>
                        <a:spcBef>
                          <a:spcPts val="0"/>
                        </a:spcBef>
                        <a:spcAft>
                          <a:spcPts val="0"/>
                        </a:spcAft>
                      </a:pPr>
                      <a:r>
                        <a:rPr lang="en-US" sz="1800" dirty="0" err="1">
                          <a:effectLst/>
                          <a:latin typeface="Times New Roman" pitchFamily="18" charset="0"/>
                          <a:cs typeface="Times New Roman" pitchFamily="18" charset="0"/>
                        </a:rPr>
                        <a:t>Chana</a:t>
                      </a:r>
                      <a:endParaRPr lang="en-US" sz="1800" dirty="0">
                        <a:effectLst/>
                        <a:latin typeface="Times New Roman" pitchFamily="18" charset="0"/>
                        <a:ea typeface="Calibri"/>
                        <a:cs typeface="Times New Roman" pitchFamily="18" charset="0"/>
                      </a:endParaRPr>
                    </a:p>
                  </a:txBody>
                  <a:tcPr marL="38011" marR="38011" marT="0" marB="0"/>
                </a:tc>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Moong</a:t>
                      </a:r>
                      <a:endParaRPr lang="en-US" sz="1800" dirty="0">
                        <a:effectLst/>
                        <a:latin typeface="Times New Roman" pitchFamily="18" charset="0"/>
                        <a:ea typeface="Calibri"/>
                        <a:cs typeface="Times New Roman" pitchFamily="18" charset="0"/>
                      </a:endParaRPr>
                    </a:p>
                  </a:txBody>
                  <a:tcPr marL="38011" marR="38011" marT="0" marB="0"/>
                </a:tc>
              </a:tr>
              <a:tr h="563644">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5.30 GHz</a:t>
                      </a:r>
                      <a:endParaRPr lang="en-US" sz="1800">
                        <a:effectLst/>
                        <a:latin typeface="Times New Roman" pitchFamily="18" charset="0"/>
                        <a:ea typeface="Calibri"/>
                        <a:cs typeface="Times New Roman" pitchFamily="18" charset="0"/>
                      </a:endParaRPr>
                    </a:p>
                  </a:txBody>
                  <a:tcPr marL="38011" marR="38011"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8.8458</a:t>
                      </a:r>
                      <a:endParaRPr lang="en-US" sz="1800">
                        <a:effectLst/>
                        <a:latin typeface="Times New Roman" pitchFamily="18" charset="0"/>
                        <a:ea typeface="Calibri"/>
                        <a:cs typeface="Times New Roman" pitchFamily="18" charset="0"/>
                      </a:endParaRPr>
                    </a:p>
                  </a:txBody>
                  <a:tcPr marL="38011" marR="38011"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8.2015</a:t>
                      </a:r>
                      <a:endParaRPr lang="en-US" sz="1800">
                        <a:effectLst/>
                        <a:latin typeface="Times New Roman" pitchFamily="18" charset="0"/>
                        <a:ea typeface="Calibri"/>
                        <a:cs typeface="Times New Roman" pitchFamily="18" charset="0"/>
                      </a:endParaRPr>
                    </a:p>
                  </a:txBody>
                  <a:tcPr marL="38011" marR="38011"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8.1903</a:t>
                      </a:r>
                      <a:endParaRPr lang="en-US" sz="1800">
                        <a:effectLst/>
                        <a:latin typeface="Times New Roman" pitchFamily="18" charset="0"/>
                        <a:ea typeface="Calibri"/>
                        <a:cs typeface="Times New Roman" pitchFamily="18" charset="0"/>
                      </a:endParaRPr>
                    </a:p>
                  </a:txBody>
                  <a:tcPr marL="38011" marR="38011"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8.0805</a:t>
                      </a:r>
                      <a:endParaRPr lang="en-US" sz="1800">
                        <a:effectLst/>
                        <a:latin typeface="Times New Roman" pitchFamily="18" charset="0"/>
                        <a:ea typeface="Calibri"/>
                        <a:cs typeface="Times New Roman" pitchFamily="18" charset="0"/>
                      </a:endParaRPr>
                    </a:p>
                  </a:txBody>
                  <a:tcPr marL="38011" marR="38011" marT="0" marB="0"/>
                </a:tc>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8.4429</a:t>
                      </a:r>
                      <a:endParaRPr lang="en-US" sz="1800" dirty="0">
                        <a:effectLst/>
                        <a:latin typeface="Times New Roman" pitchFamily="18" charset="0"/>
                        <a:ea typeface="Calibri"/>
                        <a:cs typeface="Times New Roman" pitchFamily="18" charset="0"/>
                      </a:endParaRPr>
                    </a:p>
                  </a:txBody>
                  <a:tcPr marL="38011" marR="38011" marT="0" marB="0"/>
                </a:tc>
              </a:tr>
              <a:tr h="563644">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6.60 GHz</a:t>
                      </a:r>
                      <a:endParaRPr lang="en-US" sz="1800">
                        <a:effectLst/>
                        <a:latin typeface="Times New Roman" pitchFamily="18" charset="0"/>
                        <a:ea typeface="Calibri"/>
                        <a:cs typeface="Times New Roman" pitchFamily="18" charset="0"/>
                      </a:endParaRPr>
                    </a:p>
                  </a:txBody>
                  <a:tcPr marL="38011" marR="38011"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8.6450</a:t>
                      </a:r>
                      <a:endParaRPr lang="en-US" sz="1800">
                        <a:effectLst/>
                        <a:latin typeface="Times New Roman" pitchFamily="18" charset="0"/>
                        <a:ea typeface="Calibri"/>
                        <a:cs typeface="Times New Roman" pitchFamily="18" charset="0"/>
                      </a:endParaRPr>
                    </a:p>
                  </a:txBody>
                  <a:tcPr marL="38011" marR="38011" marT="0" marB="0"/>
                </a:tc>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8.0509</a:t>
                      </a:r>
                      <a:endParaRPr lang="en-US" sz="1800" dirty="0">
                        <a:effectLst/>
                        <a:latin typeface="Times New Roman" pitchFamily="18" charset="0"/>
                        <a:ea typeface="Calibri"/>
                        <a:cs typeface="Times New Roman" pitchFamily="18" charset="0"/>
                      </a:endParaRPr>
                    </a:p>
                  </a:txBody>
                  <a:tcPr marL="38011" marR="38011"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8.0010</a:t>
                      </a:r>
                      <a:endParaRPr lang="en-US" sz="1800">
                        <a:effectLst/>
                        <a:latin typeface="Times New Roman" pitchFamily="18" charset="0"/>
                        <a:ea typeface="Calibri"/>
                        <a:cs typeface="Times New Roman" pitchFamily="18" charset="0"/>
                      </a:endParaRPr>
                    </a:p>
                  </a:txBody>
                  <a:tcPr marL="38011" marR="38011"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7.9998</a:t>
                      </a:r>
                      <a:endParaRPr lang="en-US" sz="1800">
                        <a:effectLst/>
                        <a:latin typeface="Times New Roman" pitchFamily="18" charset="0"/>
                        <a:ea typeface="Calibri"/>
                        <a:cs typeface="Times New Roman" pitchFamily="18" charset="0"/>
                      </a:endParaRPr>
                    </a:p>
                  </a:txBody>
                  <a:tcPr marL="38011" marR="38011" marT="0" marB="0"/>
                </a:tc>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8.0521</a:t>
                      </a:r>
                      <a:endParaRPr lang="en-US" sz="1800" dirty="0">
                        <a:effectLst/>
                        <a:latin typeface="Times New Roman" pitchFamily="18" charset="0"/>
                        <a:ea typeface="Calibri"/>
                        <a:cs typeface="Times New Roman" pitchFamily="18" charset="0"/>
                      </a:endParaRPr>
                    </a:p>
                  </a:txBody>
                  <a:tcPr marL="38011" marR="38011" marT="0" marB="0"/>
                </a:tc>
              </a:tr>
              <a:tr h="563644">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10.65 GHz</a:t>
                      </a:r>
                      <a:endParaRPr lang="en-US" sz="1800">
                        <a:effectLst/>
                        <a:latin typeface="Times New Roman" pitchFamily="18" charset="0"/>
                        <a:ea typeface="Calibri"/>
                        <a:cs typeface="Times New Roman" pitchFamily="18" charset="0"/>
                      </a:endParaRPr>
                    </a:p>
                  </a:txBody>
                  <a:tcPr marL="38011" marR="38011"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6.2392</a:t>
                      </a:r>
                      <a:endParaRPr lang="en-US" sz="1800">
                        <a:effectLst/>
                        <a:latin typeface="Times New Roman" pitchFamily="18" charset="0"/>
                        <a:ea typeface="Calibri"/>
                        <a:cs typeface="Times New Roman" pitchFamily="18" charset="0"/>
                      </a:endParaRPr>
                    </a:p>
                  </a:txBody>
                  <a:tcPr marL="38011" marR="38011" marT="0" marB="0"/>
                </a:tc>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6.0010</a:t>
                      </a:r>
                      <a:endParaRPr lang="en-US" sz="1800" dirty="0">
                        <a:effectLst/>
                        <a:latin typeface="Times New Roman" pitchFamily="18" charset="0"/>
                        <a:ea typeface="Calibri"/>
                        <a:cs typeface="Times New Roman" pitchFamily="18" charset="0"/>
                      </a:endParaRPr>
                    </a:p>
                  </a:txBody>
                  <a:tcPr marL="38011" marR="38011"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6.5158</a:t>
                      </a:r>
                      <a:endParaRPr lang="en-US" sz="1800">
                        <a:effectLst/>
                        <a:latin typeface="Times New Roman" pitchFamily="18" charset="0"/>
                        <a:ea typeface="Calibri"/>
                        <a:cs typeface="Times New Roman" pitchFamily="18" charset="0"/>
                      </a:endParaRPr>
                    </a:p>
                  </a:txBody>
                  <a:tcPr marL="38011" marR="38011" marT="0" marB="0"/>
                </a:tc>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6.0264</a:t>
                      </a:r>
                      <a:endParaRPr lang="en-US" sz="1800" dirty="0">
                        <a:effectLst/>
                        <a:latin typeface="Times New Roman" pitchFamily="18" charset="0"/>
                        <a:ea typeface="Calibri"/>
                        <a:cs typeface="Times New Roman" pitchFamily="18" charset="0"/>
                      </a:endParaRPr>
                    </a:p>
                  </a:txBody>
                  <a:tcPr marL="38011" marR="38011" marT="0" marB="0"/>
                </a:tc>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6.0853</a:t>
                      </a:r>
                      <a:endParaRPr lang="en-US" sz="1800" dirty="0">
                        <a:effectLst/>
                        <a:latin typeface="Times New Roman" pitchFamily="18" charset="0"/>
                        <a:ea typeface="Calibri"/>
                        <a:cs typeface="Times New Roman" pitchFamily="18" charset="0"/>
                      </a:endParaRPr>
                    </a:p>
                  </a:txBody>
                  <a:tcPr marL="38011" marR="38011" marT="0" marB="0"/>
                </a:tc>
              </a:tr>
              <a:tr h="539097">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13.00 GHz</a:t>
                      </a:r>
                      <a:endParaRPr lang="en-US" sz="1800">
                        <a:effectLst/>
                        <a:latin typeface="Times New Roman" pitchFamily="18" charset="0"/>
                        <a:ea typeface="Calibri"/>
                        <a:cs typeface="Times New Roman" pitchFamily="18" charset="0"/>
                      </a:endParaRPr>
                    </a:p>
                  </a:txBody>
                  <a:tcPr marL="38011" marR="38011"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3.1056</a:t>
                      </a:r>
                      <a:endParaRPr lang="en-US" sz="1800">
                        <a:effectLst/>
                        <a:latin typeface="Times New Roman" pitchFamily="18" charset="0"/>
                        <a:ea typeface="Calibri"/>
                        <a:cs typeface="Times New Roman" pitchFamily="18" charset="0"/>
                      </a:endParaRPr>
                    </a:p>
                  </a:txBody>
                  <a:tcPr marL="38011" marR="38011"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3.2350</a:t>
                      </a:r>
                      <a:endParaRPr lang="en-US" sz="1800">
                        <a:effectLst/>
                        <a:latin typeface="Times New Roman" pitchFamily="18" charset="0"/>
                        <a:ea typeface="Calibri"/>
                        <a:cs typeface="Times New Roman" pitchFamily="18" charset="0"/>
                      </a:endParaRPr>
                    </a:p>
                  </a:txBody>
                  <a:tcPr marL="38011" marR="38011"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3.0165</a:t>
                      </a:r>
                      <a:endParaRPr lang="en-US" sz="1800">
                        <a:effectLst/>
                        <a:latin typeface="Times New Roman" pitchFamily="18" charset="0"/>
                        <a:ea typeface="Calibri"/>
                        <a:cs typeface="Times New Roman" pitchFamily="18" charset="0"/>
                      </a:endParaRPr>
                    </a:p>
                  </a:txBody>
                  <a:tcPr marL="38011" marR="38011"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3.0768</a:t>
                      </a:r>
                      <a:endParaRPr lang="en-US" sz="1800">
                        <a:effectLst/>
                        <a:latin typeface="Times New Roman" pitchFamily="18" charset="0"/>
                        <a:ea typeface="Calibri"/>
                        <a:cs typeface="Times New Roman" pitchFamily="18" charset="0"/>
                      </a:endParaRPr>
                    </a:p>
                  </a:txBody>
                  <a:tcPr marL="38011" marR="38011" marT="0" marB="0"/>
                </a:tc>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3.0527</a:t>
                      </a:r>
                      <a:endParaRPr lang="en-US" sz="1800" dirty="0">
                        <a:effectLst/>
                        <a:latin typeface="Times New Roman" pitchFamily="18" charset="0"/>
                        <a:ea typeface="Calibri"/>
                        <a:cs typeface="Times New Roman" pitchFamily="18" charset="0"/>
                      </a:endParaRPr>
                    </a:p>
                  </a:txBody>
                  <a:tcPr marL="38011" marR="38011" marT="0" marB="0"/>
                </a:tc>
              </a:tr>
            </a:tbl>
          </a:graphicData>
        </a:graphic>
      </p:graphicFrame>
      <p:pic>
        <p:nvPicPr>
          <p:cNvPr id="5121" name="Picture 1"/>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0" y="3000372"/>
            <a:ext cx="6286512" cy="385762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6" name="Slide Number Placeholder 5"/>
          <p:cNvSpPr>
            <a:spLocks noGrp="1"/>
          </p:cNvSpPr>
          <p:nvPr>
            <p:ph type="sldNum" sz="quarter" idx="15"/>
          </p:nvPr>
        </p:nvSpPr>
        <p:spPr/>
        <p:txBody>
          <a:bodyPr/>
          <a:lstStyle/>
          <a:p>
            <a:fld id="{C2C1A6A0-3F2F-4BAF-B319-837518E4456F}" type="slidenum">
              <a:rPr lang="en-US" smtClean="0"/>
              <a:pPr/>
              <a:t>44</a:t>
            </a:fld>
            <a:endParaRPr lang="en-US"/>
          </a:p>
        </p:txBody>
      </p:sp>
    </p:spTree>
    <p:extLst>
      <p:ext uri="{BB962C8B-B14F-4D97-AF65-F5344CB8AC3E}">
        <p14:creationId xmlns:p14="http://schemas.microsoft.com/office/powerpoint/2010/main" xmlns="" val="1993283927"/>
      </p:ext>
    </p:extLst>
  </p:cSld>
  <p:clrMapOvr>
    <a:masterClrMapping/>
  </p:clrMapOvr>
  <p:transition>
    <p:comb/>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429388" y="428604"/>
            <a:ext cx="2428892" cy="1714512"/>
          </a:xfrm>
        </p:spPr>
        <p:txBody>
          <a:bodyPr>
            <a:normAutofit/>
          </a:bodyPr>
          <a:lstStyle/>
          <a:p>
            <a:r>
              <a:rPr lang="en-US" sz="3200" dirty="0" smtClean="0">
                <a:solidFill>
                  <a:schemeClr val="tx1"/>
                </a:solidFill>
                <a:effectLst>
                  <a:outerShdw blurRad="38100" dist="38100" dir="2700000" algn="tl">
                    <a:srgbClr val="000000">
                      <a:alpha val="43137"/>
                    </a:srgbClr>
                  </a:outerShdw>
                </a:effectLst>
                <a:latin typeface="Times New Roman" pitchFamily="18" charset="0"/>
                <a:cs typeface="Times New Roman" pitchFamily="18" charset="0"/>
              </a:rPr>
              <a:t>[C] For Dielectric          constant</a:t>
            </a:r>
            <a:endParaRPr lang="en-US" sz="3200" dirty="0">
              <a:solidFill>
                <a:schemeClr val="tx1"/>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4" name="Text Placeholder 3"/>
          <p:cNvSpPr>
            <a:spLocks noGrp="1"/>
          </p:cNvSpPr>
          <p:nvPr>
            <p:ph type="body" idx="2"/>
          </p:nvPr>
        </p:nvSpPr>
        <p:spPr>
          <a:xfrm>
            <a:off x="6357950" y="3071810"/>
            <a:ext cx="2143140" cy="2518036"/>
          </a:xfrm>
        </p:spPr>
        <p:txBody>
          <a:bodyPr>
            <a:normAutofit fontScale="92500" lnSpcReduction="20000"/>
          </a:bodyPr>
          <a:lstStyle/>
          <a:p>
            <a:r>
              <a:rPr lang="en-US" sz="3800" b="1" dirty="0" smtClean="0">
                <a:ln w="10541" cmpd="sng">
                  <a:solidFill>
                    <a:srgbClr val="7D7D7D">
                      <a:tint val="100000"/>
                      <a:shade val="100000"/>
                      <a:satMod val="110000"/>
                    </a:srgbClr>
                  </a:solidFill>
                  <a:prstDash val="solid"/>
                </a:ln>
                <a:effectLst>
                  <a:outerShdw blurRad="38100" dist="38100" dir="2700000" algn="tl">
                    <a:srgbClr val="000000">
                      <a:alpha val="43137"/>
                    </a:srgbClr>
                  </a:outerShdw>
                </a:effectLst>
                <a:latin typeface="Times New Roman" pitchFamily="18" charset="0"/>
                <a:cs typeface="Times New Roman" pitchFamily="18" charset="0"/>
              </a:rPr>
              <a:t>Dielectric Constant for Saturated samples</a:t>
            </a:r>
          </a:p>
          <a:p>
            <a:endParaRPr lang="en-US" dirty="0"/>
          </a:p>
        </p:txBody>
      </p:sp>
      <p:graphicFrame>
        <p:nvGraphicFramePr>
          <p:cNvPr id="5" name="Content Placeholder 4"/>
          <p:cNvGraphicFramePr>
            <a:graphicFrameLocks noGrp="1"/>
          </p:cNvGraphicFramePr>
          <p:nvPr>
            <p:ph sz="quarter" idx="1"/>
            <p:extLst>
              <p:ext uri="{D42A27DB-BD31-4B8C-83A1-F6EECF244321}">
                <p14:modId xmlns:p14="http://schemas.microsoft.com/office/powerpoint/2010/main" xmlns="" val="2060578147"/>
              </p:ext>
            </p:extLst>
          </p:nvPr>
        </p:nvGraphicFramePr>
        <p:xfrm>
          <a:off x="1" y="-1"/>
          <a:ext cx="6143634" cy="3264529"/>
        </p:xfrm>
        <a:graphic>
          <a:graphicData uri="http://schemas.openxmlformats.org/drawingml/2006/table">
            <a:tbl>
              <a:tblPr firstRow="1" firstCol="1" bandRow="1">
                <a:tableStyleId>{5C22544A-7EE6-4342-B048-85BDC9FD1C3A}</a:tableStyleId>
              </a:tblPr>
              <a:tblGrid>
                <a:gridCol w="2005474"/>
                <a:gridCol w="827632"/>
                <a:gridCol w="827632"/>
                <a:gridCol w="827632"/>
                <a:gridCol w="827632"/>
                <a:gridCol w="827632"/>
              </a:tblGrid>
              <a:tr h="615955">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Frequencies/samples</a:t>
                      </a:r>
                      <a:endParaRPr lang="en-US" sz="1800" dirty="0">
                        <a:effectLst/>
                        <a:latin typeface="Times New Roman" pitchFamily="18" charset="0"/>
                        <a:ea typeface="Calibri"/>
                        <a:cs typeface="Times New Roman" pitchFamily="18" charset="0"/>
                      </a:endParaRPr>
                    </a:p>
                  </a:txBody>
                  <a:tcPr marL="37981" marR="37981"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Wheat</a:t>
                      </a:r>
                      <a:endParaRPr lang="en-US" sz="1800">
                        <a:effectLst/>
                        <a:latin typeface="Times New Roman" pitchFamily="18" charset="0"/>
                        <a:ea typeface="Calibri"/>
                        <a:cs typeface="Times New Roman" pitchFamily="18" charset="0"/>
                      </a:endParaRPr>
                    </a:p>
                  </a:txBody>
                  <a:tcPr marL="37981" marR="37981"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Rice</a:t>
                      </a:r>
                      <a:endParaRPr lang="en-US" sz="1800">
                        <a:effectLst/>
                        <a:latin typeface="Times New Roman" pitchFamily="18" charset="0"/>
                        <a:ea typeface="Calibri"/>
                        <a:cs typeface="Times New Roman" pitchFamily="18" charset="0"/>
                      </a:endParaRPr>
                    </a:p>
                  </a:txBody>
                  <a:tcPr marL="37981" marR="37981"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Arhar</a:t>
                      </a:r>
                      <a:endParaRPr lang="en-US" sz="1800">
                        <a:effectLst/>
                        <a:latin typeface="Times New Roman" pitchFamily="18" charset="0"/>
                        <a:ea typeface="Calibri"/>
                        <a:cs typeface="Times New Roman" pitchFamily="18" charset="0"/>
                      </a:endParaRPr>
                    </a:p>
                  </a:txBody>
                  <a:tcPr marL="37981" marR="37981"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Chana</a:t>
                      </a:r>
                      <a:endParaRPr lang="en-US" sz="1800">
                        <a:effectLst/>
                        <a:latin typeface="Times New Roman" pitchFamily="18" charset="0"/>
                        <a:ea typeface="Calibri"/>
                        <a:cs typeface="Times New Roman" pitchFamily="18" charset="0"/>
                      </a:endParaRPr>
                    </a:p>
                  </a:txBody>
                  <a:tcPr marL="37981" marR="37981" marT="0" marB="0"/>
                </a:tc>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Moong</a:t>
                      </a:r>
                      <a:endParaRPr lang="en-US" sz="1800" dirty="0">
                        <a:effectLst/>
                        <a:latin typeface="Times New Roman" pitchFamily="18" charset="0"/>
                        <a:ea typeface="Calibri"/>
                        <a:cs typeface="Times New Roman" pitchFamily="18" charset="0"/>
                      </a:endParaRPr>
                    </a:p>
                  </a:txBody>
                  <a:tcPr marL="37981" marR="37981" marT="0" marB="0"/>
                </a:tc>
              </a:tr>
              <a:tr h="593704">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5.30 GHz</a:t>
                      </a:r>
                      <a:endParaRPr lang="en-US" sz="1800" dirty="0">
                        <a:effectLst/>
                        <a:latin typeface="Times New Roman" pitchFamily="18" charset="0"/>
                        <a:ea typeface="Calibri"/>
                        <a:cs typeface="Times New Roman" pitchFamily="18" charset="0"/>
                      </a:endParaRPr>
                    </a:p>
                  </a:txBody>
                  <a:tcPr marL="37981" marR="37981" marT="0" marB="0"/>
                </a:tc>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11.0423</a:t>
                      </a:r>
                      <a:endParaRPr lang="en-US" sz="1800" dirty="0">
                        <a:effectLst/>
                        <a:latin typeface="Times New Roman" pitchFamily="18" charset="0"/>
                        <a:ea typeface="Calibri"/>
                        <a:cs typeface="Times New Roman" pitchFamily="18" charset="0"/>
                      </a:endParaRPr>
                    </a:p>
                  </a:txBody>
                  <a:tcPr marL="37981" marR="37981"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11.0012</a:t>
                      </a:r>
                      <a:endParaRPr lang="en-US" sz="1800">
                        <a:effectLst/>
                        <a:latin typeface="Times New Roman" pitchFamily="18" charset="0"/>
                        <a:ea typeface="Calibri"/>
                        <a:cs typeface="Times New Roman" pitchFamily="18" charset="0"/>
                      </a:endParaRPr>
                    </a:p>
                  </a:txBody>
                  <a:tcPr marL="37981" marR="37981"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10.8084</a:t>
                      </a:r>
                      <a:endParaRPr lang="en-US" sz="1800">
                        <a:effectLst/>
                        <a:latin typeface="Times New Roman" pitchFamily="18" charset="0"/>
                        <a:ea typeface="Calibri"/>
                        <a:cs typeface="Times New Roman" pitchFamily="18" charset="0"/>
                      </a:endParaRPr>
                    </a:p>
                  </a:txBody>
                  <a:tcPr marL="37981" marR="37981"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11.2015</a:t>
                      </a:r>
                      <a:endParaRPr lang="en-US" sz="1800">
                        <a:effectLst/>
                        <a:latin typeface="Times New Roman" pitchFamily="18" charset="0"/>
                        <a:ea typeface="Calibri"/>
                        <a:cs typeface="Times New Roman" pitchFamily="18" charset="0"/>
                      </a:endParaRPr>
                    </a:p>
                  </a:txBody>
                  <a:tcPr marL="37981" marR="37981"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10.7458</a:t>
                      </a:r>
                      <a:endParaRPr lang="en-US" sz="1800">
                        <a:effectLst/>
                        <a:latin typeface="Times New Roman" pitchFamily="18" charset="0"/>
                        <a:ea typeface="Calibri"/>
                        <a:cs typeface="Times New Roman" pitchFamily="18" charset="0"/>
                      </a:endParaRPr>
                    </a:p>
                  </a:txBody>
                  <a:tcPr marL="37981" marR="37981" marT="0" marB="0"/>
                </a:tc>
              </a:tr>
              <a:tr h="615955">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6.60 GHz</a:t>
                      </a:r>
                      <a:endParaRPr lang="en-US" sz="1800">
                        <a:effectLst/>
                        <a:latin typeface="Times New Roman" pitchFamily="18" charset="0"/>
                        <a:ea typeface="Calibri"/>
                        <a:cs typeface="Times New Roman" pitchFamily="18" charset="0"/>
                      </a:endParaRPr>
                    </a:p>
                  </a:txBody>
                  <a:tcPr marL="37981" marR="37981" marT="0" marB="0"/>
                </a:tc>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10.8264</a:t>
                      </a:r>
                      <a:endParaRPr lang="en-US" sz="1800" dirty="0">
                        <a:effectLst/>
                        <a:latin typeface="Times New Roman" pitchFamily="18" charset="0"/>
                        <a:ea typeface="Calibri"/>
                        <a:cs typeface="Times New Roman" pitchFamily="18" charset="0"/>
                      </a:endParaRPr>
                    </a:p>
                  </a:txBody>
                  <a:tcPr marL="37981" marR="37981"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10.7765</a:t>
                      </a:r>
                      <a:endParaRPr lang="en-US" sz="1800">
                        <a:effectLst/>
                        <a:latin typeface="Times New Roman" pitchFamily="18" charset="0"/>
                        <a:ea typeface="Calibri"/>
                        <a:cs typeface="Times New Roman" pitchFamily="18" charset="0"/>
                      </a:endParaRPr>
                    </a:p>
                  </a:txBody>
                  <a:tcPr marL="37981" marR="37981"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10.2128</a:t>
                      </a:r>
                      <a:endParaRPr lang="en-US" sz="1800">
                        <a:effectLst/>
                        <a:latin typeface="Times New Roman" pitchFamily="18" charset="0"/>
                        <a:ea typeface="Calibri"/>
                        <a:cs typeface="Times New Roman" pitchFamily="18" charset="0"/>
                      </a:endParaRPr>
                    </a:p>
                  </a:txBody>
                  <a:tcPr marL="37981" marR="37981" marT="0" marB="0"/>
                </a:tc>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11.0519</a:t>
                      </a:r>
                      <a:endParaRPr lang="en-US" sz="1800" dirty="0">
                        <a:effectLst/>
                        <a:latin typeface="Times New Roman" pitchFamily="18" charset="0"/>
                        <a:ea typeface="Calibri"/>
                        <a:cs typeface="Times New Roman" pitchFamily="18" charset="0"/>
                      </a:endParaRPr>
                    </a:p>
                  </a:txBody>
                  <a:tcPr marL="37981" marR="37981"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10.5023</a:t>
                      </a:r>
                      <a:endParaRPr lang="en-US" sz="1800">
                        <a:effectLst/>
                        <a:latin typeface="Times New Roman" pitchFamily="18" charset="0"/>
                        <a:ea typeface="Calibri"/>
                        <a:cs typeface="Times New Roman" pitchFamily="18" charset="0"/>
                      </a:endParaRPr>
                    </a:p>
                  </a:txBody>
                  <a:tcPr marL="37981" marR="37981" marT="0" marB="0"/>
                </a:tc>
              </a:tr>
              <a:tr h="615955">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10.30 GHz</a:t>
                      </a:r>
                      <a:endParaRPr lang="en-US" sz="1800">
                        <a:effectLst/>
                        <a:latin typeface="Times New Roman" pitchFamily="18" charset="0"/>
                        <a:ea typeface="Calibri"/>
                        <a:cs typeface="Times New Roman" pitchFamily="18" charset="0"/>
                      </a:endParaRPr>
                    </a:p>
                  </a:txBody>
                  <a:tcPr marL="37981" marR="37981" marT="0" marB="0"/>
                </a:tc>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8.5065</a:t>
                      </a:r>
                      <a:endParaRPr lang="en-US" sz="1800" dirty="0">
                        <a:effectLst/>
                        <a:latin typeface="Times New Roman" pitchFamily="18" charset="0"/>
                        <a:ea typeface="Calibri"/>
                        <a:cs typeface="Times New Roman" pitchFamily="18" charset="0"/>
                      </a:endParaRPr>
                    </a:p>
                  </a:txBody>
                  <a:tcPr marL="37981" marR="37981" marT="0" marB="0"/>
                </a:tc>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8.2617</a:t>
                      </a:r>
                      <a:endParaRPr lang="en-US" sz="1800" dirty="0">
                        <a:effectLst/>
                        <a:latin typeface="Times New Roman" pitchFamily="18" charset="0"/>
                        <a:ea typeface="Calibri"/>
                        <a:cs typeface="Times New Roman" pitchFamily="18" charset="0"/>
                      </a:endParaRPr>
                    </a:p>
                  </a:txBody>
                  <a:tcPr marL="37981" marR="37981" marT="0" marB="0"/>
                </a:tc>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7.2047</a:t>
                      </a:r>
                      <a:endParaRPr lang="en-US" sz="1800" dirty="0">
                        <a:effectLst/>
                        <a:latin typeface="Times New Roman" pitchFamily="18" charset="0"/>
                        <a:ea typeface="Calibri"/>
                        <a:cs typeface="Times New Roman" pitchFamily="18" charset="0"/>
                      </a:endParaRPr>
                    </a:p>
                  </a:txBody>
                  <a:tcPr marL="37981" marR="37981"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7.8613</a:t>
                      </a:r>
                      <a:endParaRPr lang="en-US" sz="1800">
                        <a:effectLst/>
                        <a:latin typeface="Times New Roman" pitchFamily="18" charset="0"/>
                        <a:ea typeface="Calibri"/>
                        <a:cs typeface="Times New Roman" pitchFamily="18" charset="0"/>
                      </a:endParaRPr>
                    </a:p>
                  </a:txBody>
                  <a:tcPr marL="37981" marR="37981"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7.4480</a:t>
                      </a:r>
                      <a:endParaRPr lang="en-US" sz="1800">
                        <a:effectLst/>
                        <a:latin typeface="Times New Roman" pitchFamily="18" charset="0"/>
                        <a:ea typeface="Calibri"/>
                        <a:cs typeface="Times New Roman" pitchFamily="18" charset="0"/>
                      </a:endParaRPr>
                    </a:p>
                  </a:txBody>
                  <a:tcPr marL="37981" marR="37981" marT="0" marB="0"/>
                </a:tc>
              </a:tr>
              <a:tr h="615955">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13.00 GHz</a:t>
                      </a:r>
                      <a:endParaRPr lang="en-US" sz="1800">
                        <a:effectLst/>
                        <a:latin typeface="Times New Roman" pitchFamily="18" charset="0"/>
                        <a:ea typeface="Calibri"/>
                        <a:cs typeface="Times New Roman" pitchFamily="18" charset="0"/>
                      </a:endParaRPr>
                    </a:p>
                  </a:txBody>
                  <a:tcPr marL="37981" marR="37981"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7.2644</a:t>
                      </a:r>
                      <a:endParaRPr lang="en-US" sz="1800">
                        <a:effectLst/>
                        <a:latin typeface="Times New Roman" pitchFamily="18" charset="0"/>
                        <a:ea typeface="Calibri"/>
                        <a:cs typeface="Times New Roman" pitchFamily="18" charset="0"/>
                      </a:endParaRPr>
                    </a:p>
                  </a:txBody>
                  <a:tcPr marL="37981" marR="37981"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7.1625</a:t>
                      </a:r>
                      <a:endParaRPr lang="en-US" sz="1800">
                        <a:effectLst/>
                        <a:latin typeface="Times New Roman" pitchFamily="18" charset="0"/>
                        <a:ea typeface="Calibri"/>
                        <a:cs typeface="Times New Roman" pitchFamily="18" charset="0"/>
                      </a:endParaRPr>
                    </a:p>
                  </a:txBody>
                  <a:tcPr marL="37981" marR="37981" marT="0" marB="0"/>
                </a:tc>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6.5630</a:t>
                      </a:r>
                      <a:endParaRPr lang="en-US" sz="1800" dirty="0">
                        <a:effectLst/>
                        <a:latin typeface="Times New Roman" pitchFamily="18" charset="0"/>
                        <a:ea typeface="Calibri"/>
                        <a:cs typeface="Times New Roman" pitchFamily="18" charset="0"/>
                      </a:endParaRPr>
                    </a:p>
                  </a:txBody>
                  <a:tcPr marL="37981" marR="37981" marT="0" marB="0"/>
                </a:tc>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7.1360</a:t>
                      </a:r>
                      <a:endParaRPr lang="en-US" sz="1800" dirty="0">
                        <a:effectLst/>
                        <a:latin typeface="Times New Roman" pitchFamily="18" charset="0"/>
                        <a:ea typeface="Calibri"/>
                        <a:cs typeface="Times New Roman" pitchFamily="18" charset="0"/>
                      </a:endParaRPr>
                    </a:p>
                  </a:txBody>
                  <a:tcPr marL="37981" marR="37981" marT="0" marB="0"/>
                </a:tc>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6.6974</a:t>
                      </a:r>
                      <a:endParaRPr lang="en-US" sz="1800" dirty="0">
                        <a:effectLst/>
                        <a:latin typeface="Times New Roman" pitchFamily="18" charset="0"/>
                        <a:ea typeface="Calibri"/>
                        <a:cs typeface="Times New Roman" pitchFamily="18" charset="0"/>
                      </a:endParaRPr>
                    </a:p>
                  </a:txBody>
                  <a:tcPr marL="37981" marR="37981" marT="0" marB="0"/>
                </a:tc>
              </a:tr>
            </a:tbl>
          </a:graphicData>
        </a:graphic>
      </p:graphicFrame>
      <p:sp>
        <p:nvSpPr>
          <p:cNvPr id="6" name="Rectangle 1"/>
          <p:cNvSpPr>
            <a:spLocks noChangeArrowheads="1"/>
          </p:cNvSpPr>
          <p:nvPr/>
        </p:nvSpPr>
        <p:spPr bwMode="auto">
          <a:xfrm>
            <a:off x="1146175" y="2828925"/>
            <a:ext cx="91440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endParaRP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0" y="3214686"/>
            <a:ext cx="6143636" cy="364331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7" name="Slide Number Placeholder 6"/>
          <p:cNvSpPr>
            <a:spLocks noGrp="1"/>
          </p:cNvSpPr>
          <p:nvPr>
            <p:ph type="sldNum" sz="quarter" idx="15"/>
          </p:nvPr>
        </p:nvSpPr>
        <p:spPr/>
        <p:txBody>
          <a:bodyPr/>
          <a:lstStyle/>
          <a:p>
            <a:fld id="{C2C1A6A0-3F2F-4BAF-B319-837518E4456F}" type="slidenum">
              <a:rPr lang="en-US" smtClean="0"/>
              <a:pPr/>
              <a:t>45</a:t>
            </a:fld>
            <a:endParaRPr lang="en-US"/>
          </a:p>
        </p:txBody>
      </p:sp>
    </p:spTree>
    <p:extLst>
      <p:ext uri="{BB962C8B-B14F-4D97-AF65-F5344CB8AC3E}">
        <p14:creationId xmlns:p14="http://schemas.microsoft.com/office/powerpoint/2010/main" xmlns="" val="374341943"/>
      </p:ext>
    </p:extLst>
  </p:cSld>
  <p:clrMapOvr>
    <a:masterClrMapping/>
  </p:clrMapOvr>
  <p:transition>
    <p:comb/>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12" y="2928934"/>
            <a:ext cx="2857488" cy="2857520"/>
          </a:xfrm>
        </p:spPr>
        <p:txBody>
          <a:bodyPr>
            <a:noAutofit/>
          </a:bodyPr>
          <a:lstStyle/>
          <a:p>
            <a:r>
              <a:rPr lang="en-US" sz="3200" b="1" dirty="0" smtClean="0">
                <a:ln w="10541" cmpd="sng">
                  <a:solidFill>
                    <a:srgbClr val="7D7D7D">
                      <a:tint val="100000"/>
                      <a:shade val="100000"/>
                      <a:satMod val="110000"/>
                    </a:srgbClr>
                  </a:solidFill>
                  <a:prstDash val="solid"/>
                </a:ln>
                <a:solidFill>
                  <a:schemeClr val="tx1"/>
                </a:solidFill>
                <a:effectLst>
                  <a:outerShdw blurRad="38100" dist="38100" dir="2700000" algn="tl">
                    <a:srgbClr val="000000">
                      <a:alpha val="43137"/>
                    </a:srgbClr>
                  </a:outerShdw>
                </a:effectLst>
                <a:latin typeface="Times New Roman" pitchFamily="18" charset="0"/>
                <a:cs typeface="Times New Roman" pitchFamily="18" charset="0"/>
              </a:rPr>
              <a:t>Loss Factor for Preliminary samples</a:t>
            </a:r>
            <a:endParaRPr lang="en-US" sz="3200" b="1" dirty="0">
              <a:ln w="10541" cmpd="sng">
                <a:solidFill>
                  <a:srgbClr val="7D7D7D">
                    <a:tint val="100000"/>
                    <a:shade val="100000"/>
                    <a:satMod val="110000"/>
                  </a:srgbClr>
                </a:solidFill>
                <a:prstDash val="solid"/>
              </a:ln>
              <a:solidFill>
                <a:schemeClr val="tx1"/>
              </a:solidFill>
              <a:effectLst>
                <a:outerShdw blurRad="38100" dist="38100" dir="2700000" algn="tl">
                  <a:srgbClr val="000000">
                    <a:alpha val="43137"/>
                  </a:srgbClr>
                </a:outerShdw>
              </a:effectLst>
              <a:latin typeface="Times New Roman" pitchFamily="18" charset="0"/>
              <a:cs typeface="Times New Roman" pitchFamily="18" charset="0"/>
            </a:endParaRPr>
          </a:p>
        </p:txBody>
      </p:sp>
      <p:graphicFrame>
        <p:nvGraphicFramePr>
          <p:cNvPr id="5" name="Picture Placeholder 4"/>
          <p:cNvGraphicFramePr>
            <a:graphicFrameLocks noGrp="1"/>
          </p:cNvGraphicFramePr>
          <p:nvPr>
            <p:ph type="pic" idx="1"/>
            <p:extLst>
              <p:ext uri="{D42A27DB-BD31-4B8C-83A1-F6EECF244321}">
                <p14:modId xmlns:p14="http://schemas.microsoft.com/office/powerpoint/2010/main" xmlns="" val="2865474248"/>
              </p:ext>
            </p:extLst>
          </p:nvPr>
        </p:nvGraphicFramePr>
        <p:xfrm>
          <a:off x="1" y="1"/>
          <a:ext cx="6143637" cy="2931552"/>
        </p:xfrm>
        <a:graphic>
          <a:graphicData uri="http://schemas.openxmlformats.org/drawingml/2006/table">
            <a:tbl>
              <a:tblPr firstRow="1" firstCol="1" bandRow="1">
                <a:tableStyleId>{5C22544A-7EE6-4342-B048-85BDC9FD1C3A}</a:tableStyleId>
              </a:tblPr>
              <a:tblGrid>
                <a:gridCol w="1832971"/>
                <a:gridCol w="895374"/>
                <a:gridCol w="895374"/>
                <a:gridCol w="895374"/>
                <a:gridCol w="812272"/>
                <a:gridCol w="812272"/>
              </a:tblGrid>
              <a:tr h="594984">
                <a:tc>
                  <a:txBody>
                    <a:bodyPr/>
                    <a:lstStyle/>
                    <a:p>
                      <a:pPr marL="0" marR="0" algn="ctr">
                        <a:lnSpc>
                          <a:spcPct val="115000"/>
                        </a:lnSpc>
                        <a:spcBef>
                          <a:spcPts val="0"/>
                        </a:spcBef>
                        <a:spcAft>
                          <a:spcPts val="0"/>
                        </a:spcAft>
                      </a:pPr>
                      <a:r>
                        <a:rPr lang="en-IN" sz="1800" dirty="0">
                          <a:effectLst/>
                          <a:latin typeface="Times New Roman" pitchFamily="18" charset="0"/>
                          <a:cs typeface="Times New Roman" pitchFamily="18" charset="0"/>
                        </a:rPr>
                        <a:t>Frequencies/Samples</a:t>
                      </a:r>
                      <a:endParaRPr lang="en-US" sz="1800" dirty="0">
                        <a:effectLst/>
                        <a:latin typeface="Times New Roman" pitchFamily="18" charset="0"/>
                        <a:ea typeface="Calibri"/>
                        <a:cs typeface="Times New Roman" pitchFamily="18" charset="0"/>
                      </a:endParaRPr>
                    </a:p>
                  </a:txBody>
                  <a:tcPr marL="39575" marR="39575"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Wheat</a:t>
                      </a:r>
                      <a:endParaRPr lang="en-US" sz="1800">
                        <a:effectLst/>
                        <a:latin typeface="Times New Roman" pitchFamily="18" charset="0"/>
                        <a:ea typeface="Calibri"/>
                        <a:cs typeface="Times New Roman" pitchFamily="18" charset="0"/>
                      </a:endParaRPr>
                    </a:p>
                  </a:txBody>
                  <a:tcPr marL="39575" marR="39575"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Rice</a:t>
                      </a:r>
                      <a:endParaRPr lang="en-US" sz="1800">
                        <a:effectLst/>
                        <a:latin typeface="Times New Roman" pitchFamily="18" charset="0"/>
                        <a:ea typeface="Calibri"/>
                        <a:cs typeface="Times New Roman" pitchFamily="18" charset="0"/>
                      </a:endParaRPr>
                    </a:p>
                  </a:txBody>
                  <a:tcPr marL="39575" marR="39575"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Arhar</a:t>
                      </a:r>
                      <a:endParaRPr lang="en-US" sz="1800">
                        <a:effectLst/>
                        <a:latin typeface="Times New Roman" pitchFamily="18" charset="0"/>
                        <a:ea typeface="Calibri"/>
                        <a:cs typeface="Times New Roman" pitchFamily="18" charset="0"/>
                      </a:endParaRPr>
                    </a:p>
                  </a:txBody>
                  <a:tcPr marL="39575" marR="39575"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Chana</a:t>
                      </a:r>
                      <a:endParaRPr lang="en-US" sz="1800">
                        <a:effectLst/>
                        <a:latin typeface="Times New Roman" pitchFamily="18" charset="0"/>
                        <a:ea typeface="Calibri"/>
                        <a:cs typeface="Times New Roman" pitchFamily="18" charset="0"/>
                      </a:endParaRPr>
                    </a:p>
                  </a:txBody>
                  <a:tcPr marL="39575" marR="39575"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Moong</a:t>
                      </a:r>
                      <a:endParaRPr lang="en-US" sz="1800">
                        <a:effectLst/>
                        <a:latin typeface="Times New Roman" pitchFamily="18" charset="0"/>
                        <a:ea typeface="Calibri"/>
                        <a:cs typeface="Times New Roman" pitchFamily="18" charset="0"/>
                      </a:endParaRPr>
                    </a:p>
                  </a:txBody>
                  <a:tcPr marL="39575" marR="39575" marT="0" marB="0"/>
                </a:tc>
              </a:tr>
              <a:tr h="575154">
                <a:tc>
                  <a:txBody>
                    <a:bodyPr/>
                    <a:lstStyle/>
                    <a:p>
                      <a:pPr marL="0" marR="0" algn="ctr">
                        <a:lnSpc>
                          <a:spcPct val="115000"/>
                        </a:lnSpc>
                        <a:spcBef>
                          <a:spcPts val="0"/>
                        </a:spcBef>
                        <a:spcAft>
                          <a:spcPts val="0"/>
                        </a:spcAft>
                      </a:pPr>
                      <a:r>
                        <a:rPr lang="en-IN" sz="1800" dirty="0">
                          <a:effectLst/>
                          <a:latin typeface="Times New Roman" pitchFamily="18" charset="0"/>
                          <a:cs typeface="Times New Roman" pitchFamily="18" charset="0"/>
                        </a:rPr>
                        <a:t>5.30 GHz</a:t>
                      </a:r>
                      <a:endParaRPr lang="en-US" sz="1800" dirty="0">
                        <a:effectLst/>
                        <a:latin typeface="Times New Roman" pitchFamily="18" charset="0"/>
                        <a:ea typeface="Calibri"/>
                        <a:cs typeface="Times New Roman" pitchFamily="18" charset="0"/>
                      </a:endParaRPr>
                    </a:p>
                  </a:txBody>
                  <a:tcPr marL="39575" marR="39575" marT="0" marB="0"/>
                </a:tc>
                <a:tc>
                  <a:txBody>
                    <a:bodyPr/>
                    <a:lstStyle/>
                    <a:p>
                      <a:pPr marL="0" marR="0" algn="ctr">
                        <a:lnSpc>
                          <a:spcPct val="115000"/>
                        </a:lnSpc>
                        <a:spcBef>
                          <a:spcPts val="0"/>
                        </a:spcBef>
                        <a:spcAft>
                          <a:spcPts val="0"/>
                        </a:spcAft>
                      </a:pPr>
                      <a:r>
                        <a:rPr lang="en-IN" sz="1800" dirty="0">
                          <a:effectLst/>
                          <a:latin typeface="Times New Roman" pitchFamily="18" charset="0"/>
                          <a:cs typeface="Times New Roman" pitchFamily="18" charset="0"/>
                        </a:rPr>
                        <a:t>0.1591</a:t>
                      </a:r>
                      <a:endParaRPr lang="en-US" sz="1800" dirty="0">
                        <a:effectLst/>
                        <a:latin typeface="Times New Roman" pitchFamily="18" charset="0"/>
                        <a:ea typeface="Calibri"/>
                        <a:cs typeface="Times New Roman" pitchFamily="18" charset="0"/>
                      </a:endParaRPr>
                    </a:p>
                  </a:txBody>
                  <a:tcPr marL="39575" marR="39575"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0.1803</a:t>
                      </a:r>
                      <a:endParaRPr lang="en-US" sz="1800">
                        <a:effectLst/>
                        <a:latin typeface="Times New Roman" pitchFamily="18" charset="0"/>
                        <a:ea typeface="Calibri"/>
                        <a:cs typeface="Times New Roman" pitchFamily="18" charset="0"/>
                      </a:endParaRPr>
                    </a:p>
                  </a:txBody>
                  <a:tcPr marL="39575" marR="39575"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0.0591</a:t>
                      </a:r>
                      <a:endParaRPr lang="en-US" sz="1800">
                        <a:effectLst/>
                        <a:latin typeface="Times New Roman" pitchFamily="18" charset="0"/>
                        <a:ea typeface="Calibri"/>
                        <a:cs typeface="Times New Roman" pitchFamily="18" charset="0"/>
                      </a:endParaRPr>
                    </a:p>
                  </a:txBody>
                  <a:tcPr marL="39575" marR="39575"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0.1625</a:t>
                      </a:r>
                      <a:endParaRPr lang="en-US" sz="1800">
                        <a:effectLst/>
                        <a:latin typeface="Times New Roman" pitchFamily="18" charset="0"/>
                        <a:ea typeface="Calibri"/>
                        <a:cs typeface="Times New Roman" pitchFamily="18" charset="0"/>
                      </a:endParaRPr>
                    </a:p>
                  </a:txBody>
                  <a:tcPr marL="39575" marR="39575"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0.2601</a:t>
                      </a:r>
                      <a:endParaRPr lang="en-US" sz="1800">
                        <a:effectLst/>
                        <a:latin typeface="Times New Roman" pitchFamily="18" charset="0"/>
                        <a:ea typeface="Calibri"/>
                        <a:cs typeface="Times New Roman" pitchFamily="18" charset="0"/>
                      </a:endParaRPr>
                    </a:p>
                  </a:txBody>
                  <a:tcPr marL="39575" marR="39575" marT="0" marB="0"/>
                </a:tc>
              </a:tr>
              <a:tr h="575154">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6.60 GHz</a:t>
                      </a:r>
                      <a:endParaRPr lang="en-US" sz="1800">
                        <a:effectLst/>
                        <a:latin typeface="Times New Roman" pitchFamily="18" charset="0"/>
                        <a:ea typeface="Calibri"/>
                        <a:cs typeface="Times New Roman" pitchFamily="18" charset="0"/>
                      </a:endParaRPr>
                    </a:p>
                  </a:txBody>
                  <a:tcPr marL="39575" marR="39575" marT="0" marB="0"/>
                </a:tc>
                <a:tc>
                  <a:txBody>
                    <a:bodyPr/>
                    <a:lstStyle/>
                    <a:p>
                      <a:pPr marL="0" marR="0" algn="ctr">
                        <a:lnSpc>
                          <a:spcPct val="115000"/>
                        </a:lnSpc>
                        <a:spcBef>
                          <a:spcPts val="0"/>
                        </a:spcBef>
                        <a:spcAft>
                          <a:spcPts val="0"/>
                        </a:spcAft>
                      </a:pPr>
                      <a:r>
                        <a:rPr lang="en-IN" sz="1800" dirty="0">
                          <a:effectLst/>
                          <a:latin typeface="Times New Roman" pitchFamily="18" charset="0"/>
                          <a:cs typeface="Times New Roman" pitchFamily="18" charset="0"/>
                        </a:rPr>
                        <a:t>0.5056</a:t>
                      </a:r>
                      <a:endParaRPr lang="en-US" sz="1800" dirty="0">
                        <a:effectLst/>
                        <a:latin typeface="Times New Roman" pitchFamily="18" charset="0"/>
                        <a:ea typeface="Calibri"/>
                        <a:cs typeface="Times New Roman" pitchFamily="18" charset="0"/>
                      </a:endParaRPr>
                    </a:p>
                  </a:txBody>
                  <a:tcPr marL="39575" marR="39575"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1.2351</a:t>
                      </a:r>
                      <a:endParaRPr lang="en-US" sz="1800">
                        <a:effectLst/>
                        <a:latin typeface="Times New Roman" pitchFamily="18" charset="0"/>
                        <a:ea typeface="Calibri"/>
                        <a:cs typeface="Times New Roman" pitchFamily="18" charset="0"/>
                      </a:endParaRPr>
                    </a:p>
                  </a:txBody>
                  <a:tcPr marL="39575" marR="39575"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0.786</a:t>
                      </a:r>
                      <a:endParaRPr lang="en-US" sz="1800">
                        <a:effectLst/>
                        <a:latin typeface="Times New Roman" pitchFamily="18" charset="0"/>
                        <a:ea typeface="Calibri"/>
                        <a:cs typeface="Times New Roman" pitchFamily="18" charset="0"/>
                      </a:endParaRPr>
                    </a:p>
                  </a:txBody>
                  <a:tcPr marL="39575" marR="39575" marT="0" marB="0"/>
                </a:tc>
                <a:tc>
                  <a:txBody>
                    <a:bodyPr/>
                    <a:lstStyle/>
                    <a:p>
                      <a:pPr marL="0" marR="0" algn="ctr">
                        <a:lnSpc>
                          <a:spcPct val="115000"/>
                        </a:lnSpc>
                        <a:spcBef>
                          <a:spcPts val="0"/>
                        </a:spcBef>
                        <a:spcAft>
                          <a:spcPts val="0"/>
                        </a:spcAft>
                      </a:pPr>
                      <a:r>
                        <a:rPr lang="en-IN" sz="1800" dirty="0">
                          <a:effectLst/>
                          <a:latin typeface="Times New Roman" pitchFamily="18" charset="0"/>
                          <a:cs typeface="Times New Roman" pitchFamily="18" charset="0"/>
                        </a:rPr>
                        <a:t>0.7469</a:t>
                      </a:r>
                      <a:endParaRPr lang="en-US" sz="1800" dirty="0">
                        <a:effectLst/>
                        <a:latin typeface="Times New Roman" pitchFamily="18" charset="0"/>
                        <a:ea typeface="Calibri"/>
                        <a:cs typeface="Times New Roman" pitchFamily="18" charset="0"/>
                      </a:endParaRPr>
                    </a:p>
                  </a:txBody>
                  <a:tcPr marL="39575" marR="39575"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1.2365</a:t>
                      </a:r>
                      <a:endParaRPr lang="en-US" sz="1800">
                        <a:effectLst/>
                        <a:latin typeface="Times New Roman" pitchFamily="18" charset="0"/>
                        <a:ea typeface="Calibri"/>
                        <a:cs typeface="Times New Roman" pitchFamily="18" charset="0"/>
                      </a:endParaRPr>
                    </a:p>
                  </a:txBody>
                  <a:tcPr marL="39575" marR="39575" marT="0" marB="0"/>
                </a:tc>
              </a:tr>
              <a:tr h="575154">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10.65 GHz</a:t>
                      </a:r>
                      <a:endParaRPr lang="en-US" sz="1800">
                        <a:effectLst/>
                        <a:latin typeface="Times New Roman" pitchFamily="18" charset="0"/>
                        <a:ea typeface="Calibri"/>
                        <a:cs typeface="Times New Roman" pitchFamily="18" charset="0"/>
                      </a:endParaRPr>
                    </a:p>
                  </a:txBody>
                  <a:tcPr marL="39575" marR="39575" marT="0" marB="0"/>
                </a:tc>
                <a:tc>
                  <a:txBody>
                    <a:bodyPr/>
                    <a:lstStyle/>
                    <a:p>
                      <a:pPr marL="0" marR="0" algn="ctr">
                        <a:lnSpc>
                          <a:spcPct val="115000"/>
                        </a:lnSpc>
                        <a:spcBef>
                          <a:spcPts val="0"/>
                        </a:spcBef>
                        <a:spcAft>
                          <a:spcPts val="0"/>
                        </a:spcAft>
                      </a:pPr>
                      <a:r>
                        <a:rPr lang="en-IN" sz="1800" dirty="0">
                          <a:effectLst/>
                          <a:latin typeface="Times New Roman" pitchFamily="18" charset="0"/>
                          <a:cs typeface="Times New Roman" pitchFamily="18" charset="0"/>
                        </a:rPr>
                        <a:t>0.7156</a:t>
                      </a:r>
                      <a:endParaRPr lang="en-US" sz="1800" dirty="0">
                        <a:effectLst/>
                        <a:latin typeface="Times New Roman" pitchFamily="18" charset="0"/>
                        <a:ea typeface="Calibri"/>
                        <a:cs typeface="Times New Roman" pitchFamily="18" charset="0"/>
                      </a:endParaRPr>
                    </a:p>
                  </a:txBody>
                  <a:tcPr marL="39575" marR="39575" marT="0" marB="0"/>
                </a:tc>
                <a:tc>
                  <a:txBody>
                    <a:bodyPr/>
                    <a:lstStyle/>
                    <a:p>
                      <a:pPr marL="0" marR="0" algn="ctr">
                        <a:lnSpc>
                          <a:spcPct val="115000"/>
                        </a:lnSpc>
                        <a:spcBef>
                          <a:spcPts val="0"/>
                        </a:spcBef>
                        <a:spcAft>
                          <a:spcPts val="0"/>
                        </a:spcAft>
                      </a:pPr>
                      <a:r>
                        <a:rPr lang="en-IN" sz="1800" dirty="0">
                          <a:effectLst/>
                          <a:latin typeface="Times New Roman" pitchFamily="18" charset="0"/>
                          <a:cs typeface="Times New Roman" pitchFamily="18" charset="0"/>
                        </a:rPr>
                        <a:t>1.6594</a:t>
                      </a:r>
                      <a:endParaRPr lang="en-US" sz="1800" dirty="0">
                        <a:effectLst/>
                        <a:latin typeface="Times New Roman" pitchFamily="18" charset="0"/>
                        <a:ea typeface="Calibri"/>
                        <a:cs typeface="Times New Roman" pitchFamily="18" charset="0"/>
                      </a:endParaRPr>
                    </a:p>
                  </a:txBody>
                  <a:tcPr marL="39575" marR="39575"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1.2361</a:t>
                      </a:r>
                      <a:endParaRPr lang="en-US" sz="1800">
                        <a:effectLst/>
                        <a:latin typeface="Times New Roman" pitchFamily="18" charset="0"/>
                        <a:ea typeface="Calibri"/>
                        <a:cs typeface="Times New Roman" pitchFamily="18" charset="0"/>
                      </a:endParaRPr>
                    </a:p>
                  </a:txBody>
                  <a:tcPr marL="39575" marR="39575"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1.0591</a:t>
                      </a:r>
                      <a:endParaRPr lang="en-US" sz="1800">
                        <a:effectLst/>
                        <a:latin typeface="Times New Roman" pitchFamily="18" charset="0"/>
                        <a:ea typeface="Calibri"/>
                        <a:cs typeface="Times New Roman" pitchFamily="18" charset="0"/>
                      </a:endParaRPr>
                    </a:p>
                  </a:txBody>
                  <a:tcPr marL="39575" marR="39575"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1.2907</a:t>
                      </a:r>
                      <a:endParaRPr lang="en-US" sz="1800">
                        <a:effectLst/>
                        <a:latin typeface="Times New Roman" pitchFamily="18" charset="0"/>
                        <a:ea typeface="Calibri"/>
                        <a:cs typeface="Times New Roman" pitchFamily="18" charset="0"/>
                      </a:endParaRPr>
                    </a:p>
                  </a:txBody>
                  <a:tcPr marL="39575" marR="39575" marT="0" marB="0"/>
                </a:tc>
              </a:tr>
              <a:tr h="575154">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13.00 GHz</a:t>
                      </a:r>
                      <a:endParaRPr lang="en-US" sz="1800">
                        <a:effectLst/>
                        <a:latin typeface="Times New Roman" pitchFamily="18" charset="0"/>
                        <a:ea typeface="Calibri"/>
                        <a:cs typeface="Times New Roman" pitchFamily="18" charset="0"/>
                      </a:endParaRPr>
                    </a:p>
                  </a:txBody>
                  <a:tcPr marL="39575" marR="39575"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1.9533</a:t>
                      </a:r>
                      <a:endParaRPr lang="en-US" sz="1800">
                        <a:effectLst/>
                        <a:latin typeface="Times New Roman" pitchFamily="18" charset="0"/>
                        <a:ea typeface="Calibri"/>
                        <a:cs typeface="Times New Roman" pitchFamily="18" charset="0"/>
                      </a:endParaRPr>
                    </a:p>
                  </a:txBody>
                  <a:tcPr marL="39575" marR="39575" marT="0" marB="0"/>
                </a:tc>
                <a:tc>
                  <a:txBody>
                    <a:bodyPr/>
                    <a:lstStyle/>
                    <a:p>
                      <a:pPr marL="0" marR="0" algn="ctr">
                        <a:lnSpc>
                          <a:spcPct val="115000"/>
                        </a:lnSpc>
                        <a:spcBef>
                          <a:spcPts val="0"/>
                        </a:spcBef>
                        <a:spcAft>
                          <a:spcPts val="0"/>
                        </a:spcAft>
                      </a:pPr>
                      <a:r>
                        <a:rPr lang="en-IN" sz="1800" dirty="0">
                          <a:effectLst/>
                          <a:latin typeface="Times New Roman" pitchFamily="18" charset="0"/>
                          <a:cs typeface="Times New Roman" pitchFamily="18" charset="0"/>
                        </a:rPr>
                        <a:t>1.9603</a:t>
                      </a:r>
                      <a:endParaRPr lang="en-US" sz="1800" dirty="0">
                        <a:effectLst/>
                        <a:latin typeface="Times New Roman" pitchFamily="18" charset="0"/>
                        <a:ea typeface="Calibri"/>
                        <a:cs typeface="Times New Roman" pitchFamily="18" charset="0"/>
                      </a:endParaRPr>
                    </a:p>
                  </a:txBody>
                  <a:tcPr marL="39575" marR="39575" marT="0" marB="0"/>
                </a:tc>
                <a:tc>
                  <a:txBody>
                    <a:bodyPr/>
                    <a:lstStyle/>
                    <a:p>
                      <a:pPr marL="0" marR="0" algn="ctr">
                        <a:lnSpc>
                          <a:spcPct val="115000"/>
                        </a:lnSpc>
                        <a:spcBef>
                          <a:spcPts val="0"/>
                        </a:spcBef>
                        <a:spcAft>
                          <a:spcPts val="0"/>
                        </a:spcAft>
                      </a:pPr>
                      <a:r>
                        <a:rPr lang="en-IN" sz="1800" dirty="0">
                          <a:effectLst/>
                          <a:latin typeface="Times New Roman" pitchFamily="18" charset="0"/>
                          <a:cs typeface="Times New Roman" pitchFamily="18" charset="0"/>
                        </a:rPr>
                        <a:t>1.9997</a:t>
                      </a:r>
                      <a:endParaRPr lang="en-US" sz="1800" dirty="0">
                        <a:effectLst/>
                        <a:latin typeface="Times New Roman" pitchFamily="18" charset="0"/>
                        <a:ea typeface="Calibri"/>
                        <a:cs typeface="Times New Roman" pitchFamily="18" charset="0"/>
                      </a:endParaRPr>
                    </a:p>
                  </a:txBody>
                  <a:tcPr marL="39575" marR="39575" marT="0" marB="0"/>
                </a:tc>
                <a:tc>
                  <a:txBody>
                    <a:bodyPr/>
                    <a:lstStyle/>
                    <a:p>
                      <a:pPr marL="0" marR="0" algn="ctr">
                        <a:lnSpc>
                          <a:spcPct val="115000"/>
                        </a:lnSpc>
                        <a:spcBef>
                          <a:spcPts val="0"/>
                        </a:spcBef>
                        <a:spcAft>
                          <a:spcPts val="0"/>
                        </a:spcAft>
                      </a:pPr>
                      <a:r>
                        <a:rPr lang="en-IN" sz="1800" dirty="0">
                          <a:effectLst/>
                          <a:latin typeface="Times New Roman" pitchFamily="18" charset="0"/>
                          <a:cs typeface="Times New Roman" pitchFamily="18" charset="0"/>
                        </a:rPr>
                        <a:t>1.7403</a:t>
                      </a:r>
                      <a:endParaRPr lang="en-US" sz="1800" dirty="0">
                        <a:effectLst/>
                        <a:latin typeface="Times New Roman" pitchFamily="18" charset="0"/>
                        <a:ea typeface="Calibri"/>
                        <a:cs typeface="Times New Roman" pitchFamily="18" charset="0"/>
                      </a:endParaRPr>
                    </a:p>
                  </a:txBody>
                  <a:tcPr marL="39575" marR="39575" marT="0" marB="0"/>
                </a:tc>
                <a:tc>
                  <a:txBody>
                    <a:bodyPr/>
                    <a:lstStyle/>
                    <a:p>
                      <a:pPr marL="0" marR="0" algn="ctr">
                        <a:lnSpc>
                          <a:spcPct val="115000"/>
                        </a:lnSpc>
                        <a:spcBef>
                          <a:spcPts val="0"/>
                        </a:spcBef>
                        <a:spcAft>
                          <a:spcPts val="0"/>
                        </a:spcAft>
                      </a:pPr>
                      <a:r>
                        <a:rPr lang="en-IN" sz="1800" dirty="0">
                          <a:effectLst/>
                          <a:latin typeface="Times New Roman" pitchFamily="18" charset="0"/>
                          <a:cs typeface="Times New Roman" pitchFamily="18" charset="0"/>
                        </a:rPr>
                        <a:t>1.9389</a:t>
                      </a:r>
                      <a:endParaRPr lang="en-US" sz="1800" dirty="0">
                        <a:effectLst/>
                        <a:latin typeface="Times New Roman" pitchFamily="18" charset="0"/>
                        <a:ea typeface="Calibri"/>
                        <a:cs typeface="Times New Roman" pitchFamily="18" charset="0"/>
                      </a:endParaRPr>
                    </a:p>
                  </a:txBody>
                  <a:tcPr marL="39575" marR="39575" marT="0" marB="0"/>
                </a:tc>
              </a:tr>
            </a:tbl>
          </a:graphicData>
        </a:graphic>
      </p:graphicFrame>
      <p:pic>
        <p:nvPicPr>
          <p:cNvPr id="8193" name="Picture 1"/>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0" y="2895600"/>
            <a:ext cx="6215074" cy="3962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7" name="TextBox 6"/>
          <p:cNvSpPr txBox="1"/>
          <p:nvPr/>
        </p:nvSpPr>
        <p:spPr>
          <a:xfrm>
            <a:off x="6357950" y="1142984"/>
            <a:ext cx="2214578" cy="1569660"/>
          </a:xfrm>
          <a:prstGeom prst="rect">
            <a:avLst/>
          </a:prstGeom>
          <a:noFill/>
        </p:spPr>
        <p:txBody>
          <a:bodyPr wrap="square" rtlCol="0">
            <a:spAutoFit/>
          </a:bodyPr>
          <a:lstStyle/>
          <a:p>
            <a:r>
              <a:rPr lang="en-US" sz="3200" b="1" dirty="0" smtClean="0">
                <a:effectLst>
                  <a:outerShdw blurRad="38100" dist="38100" dir="2700000" algn="tl">
                    <a:srgbClr val="000000">
                      <a:alpha val="43137"/>
                    </a:srgbClr>
                  </a:outerShdw>
                </a:effectLst>
                <a:latin typeface="Times New Roman" pitchFamily="18" charset="0"/>
                <a:cs typeface="Times New Roman" pitchFamily="18" charset="0"/>
              </a:rPr>
              <a:t>[A] For Loss Factor</a:t>
            </a:r>
            <a:endParaRPr lang="en-IN" sz="3200" b="1"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6" name="Slide Number Placeholder 5"/>
          <p:cNvSpPr>
            <a:spLocks noGrp="1"/>
          </p:cNvSpPr>
          <p:nvPr>
            <p:ph type="sldNum" sz="quarter" idx="11"/>
          </p:nvPr>
        </p:nvSpPr>
        <p:spPr/>
        <p:txBody>
          <a:bodyPr/>
          <a:lstStyle/>
          <a:p>
            <a:fld id="{C2C1A6A0-3F2F-4BAF-B319-837518E4456F}" type="slidenum">
              <a:rPr lang="en-US" smtClean="0"/>
              <a:pPr/>
              <a:t>46</a:t>
            </a:fld>
            <a:endParaRPr lang="en-US"/>
          </a:p>
        </p:txBody>
      </p:sp>
    </p:spTree>
    <p:extLst>
      <p:ext uri="{BB962C8B-B14F-4D97-AF65-F5344CB8AC3E}">
        <p14:creationId xmlns:p14="http://schemas.microsoft.com/office/powerpoint/2010/main" xmlns="" val="984344152"/>
      </p:ext>
    </p:extLst>
  </p:cSld>
  <p:clrMapOvr>
    <a:masterClrMapping/>
  </p:clrMapOvr>
  <p:transition>
    <p:comb/>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29388" y="3000372"/>
            <a:ext cx="2143140" cy="2714644"/>
          </a:xfrm>
        </p:spPr>
        <p:txBody>
          <a:bodyPr>
            <a:normAutofit fontScale="90000"/>
          </a:bodyPr>
          <a:lstStyle/>
          <a:p>
            <a:r>
              <a:rPr lang="en-US" sz="3200" b="1" dirty="0" smtClean="0">
                <a:ln w="10541" cmpd="sng">
                  <a:solidFill>
                    <a:srgbClr val="7D7D7D">
                      <a:tint val="100000"/>
                      <a:shade val="100000"/>
                      <a:satMod val="110000"/>
                    </a:srgbClr>
                  </a:solidFill>
                  <a:prstDash val="solid"/>
                </a:ln>
                <a:solidFill>
                  <a:schemeClr val="tx1"/>
                </a:solidFill>
                <a:effectLst>
                  <a:outerShdw blurRad="38100" dist="38100" dir="2700000" algn="tl">
                    <a:srgbClr val="000000">
                      <a:alpha val="43137"/>
                    </a:srgbClr>
                  </a:outerShdw>
                </a:effectLst>
                <a:latin typeface="Times New Roman" pitchFamily="18" charset="0"/>
                <a:cs typeface="Times New Roman" pitchFamily="18" charset="0"/>
              </a:rPr>
              <a:t>Loss Factor for oven dried samples</a:t>
            </a:r>
            <a:r>
              <a:rPr lang="en-US" dirty="0" smtClean="0"/>
              <a:t/>
            </a:r>
            <a:br>
              <a:rPr lang="en-US" dirty="0" smtClean="0"/>
            </a:br>
            <a:endParaRPr lang="en-US" dirty="0"/>
          </a:p>
        </p:txBody>
      </p:sp>
      <p:graphicFrame>
        <p:nvGraphicFramePr>
          <p:cNvPr id="5" name="Picture Placeholder 4"/>
          <p:cNvGraphicFramePr>
            <a:graphicFrameLocks noGrp="1"/>
          </p:cNvGraphicFramePr>
          <p:nvPr>
            <p:ph type="pic" idx="1"/>
            <p:extLst>
              <p:ext uri="{D42A27DB-BD31-4B8C-83A1-F6EECF244321}">
                <p14:modId xmlns:p14="http://schemas.microsoft.com/office/powerpoint/2010/main" xmlns="" val="1406354197"/>
              </p:ext>
            </p:extLst>
          </p:nvPr>
        </p:nvGraphicFramePr>
        <p:xfrm>
          <a:off x="0" y="2"/>
          <a:ext cx="6143636" cy="3124197"/>
        </p:xfrm>
        <a:graphic>
          <a:graphicData uri="http://schemas.openxmlformats.org/drawingml/2006/table">
            <a:tbl>
              <a:tblPr firstRow="1" firstCol="1" bandRow="1">
                <a:tableStyleId>{5C22544A-7EE6-4342-B048-85BDC9FD1C3A}</a:tableStyleId>
              </a:tblPr>
              <a:tblGrid>
                <a:gridCol w="1138224"/>
                <a:gridCol w="1040266"/>
                <a:gridCol w="1040266"/>
                <a:gridCol w="1040266"/>
                <a:gridCol w="942307"/>
                <a:gridCol w="942307"/>
              </a:tblGrid>
              <a:tr h="876385">
                <a:tc>
                  <a:txBody>
                    <a:bodyPr/>
                    <a:lstStyle/>
                    <a:p>
                      <a:pPr marL="0" marR="0" algn="ctr">
                        <a:lnSpc>
                          <a:spcPct val="115000"/>
                        </a:lnSpc>
                        <a:spcBef>
                          <a:spcPts val="0"/>
                        </a:spcBef>
                        <a:spcAft>
                          <a:spcPts val="0"/>
                        </a:spcAft>
                      </a:pPr>
                      <a:r>
                        <a:rPr lang="en-IN" sz="1800" dirty="0">
                          <a:effectLst/>
                          <a:latin typeface="Times New Roman" pitchFamily="18" charset="0"/>
                          <a:cs typeface="Times New Roman" pitchFamily="18" charset="0"/>
                        </a:rPr>
                        <a:t>Frequencies/samples</a:t>
                      </a:r>
                      <a:endParaRPr lang="en-US" sz="1800" dirty="0">
                        <a:effectLst/>
                        <a:latin typeface="Times New Roman" pitchFamily="18" charset="0"/>
                        <a:ea typeface="Calibri"/>
                        <a:cs typeface="Times New Roman" pitchFamily="18" charset="0"/>
                      </a:endParaRPr>
                    </a:p>
                  </a:txBody>
                  <a:tcPr marL="43169" marR="43169"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Wheat</a:t>
                      </a:r>
                      <a:endParaRPr lang="en-US" sz="1800">
                        <a:effectLst/>
                        <a:latin typeface="Times New Roman" pitchFamily="18" charset="0"/>
                        <a:ea typeface="Calibri"/>
                        <a:cs typeface="Times New Roman" pitchFamily="18" charset="0"/>
                      </a:endParaRPr>
                    </a:p>
                  </a:txBody>
                  <a:tcPr marL="43169" marR="43169"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Rice</a:t>
                      </a:r>
                      <a:endParaRPr lang="en-US" sz="1800">
                        <a:effectLst/>
                        <a:latin typeface="Times New Roman" pitchFamily="18" charset="0"/>
                        <a:ea typeface="Calibri"/>
                        <a:cs typeface="Times New Roman" pitchFamily="18" charset="0"/>
                      </a:endParaRPr>
                    </a:p>
                  </a:txBody>
                  <a:tcPr marL="43169" marR="43169"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Arhar</a:t>
                      </a:r>
                      <a:endParaRPr lang="en-US" sz="1800">
                        <a:effectLst/>
                        <a:latin typeface="Times New Roman" pitchFamily="18" charset="0"/>
                        <a:ea typeface="Calibri"/>
                        <a:cs typeface="Times New Roman" pitchFamily="18" charset="0"/>
                      </a:endParaRPr>
                    </a:p>
                  </a:txBody>
                  <a:tcPr marL="43169" marR="43169"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Chana</a:t>
                      </a:r>
                      <a:endParaRPr lang="en-US" sz="1800">
                        <a:effectLst/>
                        <a:latin typeface="Times New Roman" pitchFamily="18" charset="0"/>
                        <a:ea typeface="Calibri"/>
                        <a:cs typeface="Times New Roman" pitchFamily="18" charset="0"/>
                      </a:endParaRPr>
                    </a:p>
                  </a:txBody>
                  <a:tcPr marL="43169" marR="43169"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Moong</a:t>
                      </a:r>
                      <a:endParaRPr lang="en-US" sz="1800">
                        <a:effectLst/>
                        <a:latin typeface="Times New Roman" pitchFamily="18" charset="0"/>
                        <a:ea typeface="Calibri"/>
                        <a:cs typeface="Times New Roman" pitchFamily="18" charset="0"/>
                      </a:endParaRPr>
                    </a:p>
                  </a:txBody>
                  <a:tcPr marL="43169" marR="43169" marT="0" marB="0"/>
                </a:tc>
              </a:tr>
              <a:tr h="561953">
                <a:tc>
                  <a:txBody>
                    <a:bodyPr/>
                    <a:lstStyle/>
                    <a:p>
                      <a:pPr marL="0" marR="0" algn="ctr">
                        <a:lnSpc>
                          <a:spcPct val="115000"/>
                        </a:lnSpc>
                        <a:spcBef>
                          <a:spcPts val="0"/>
                        </a:spcBef>
                        <a:spcAft>
                          <a:spcPts val="0"/>
                        </a:spcAft>
                      </a:pPr>
                      <a:r>
                        <a:rPr lang="en-IN" sz="1800" dirty="0">
                          <a:effectLst/>
                          <a:latin typeface="Times New Roman" pitchFamily="18" charset="0"/>
                          <a:cs typeface="Times New Roman" pitchFamily="18" charset="0"/>
                        </a:rPr>
                        <a:t>5.30GHz</a:t>
                      </a:r>
                      <a:endParaRPr lang="en-US" sz="1800" dirty="0">
                        <a:effectLst/>
                        <a:latin typeface="Times New Roman" pitchFamily="18" charset="0"/>
                        <a:ea typeface="Calibri"/>
                        <a:cs typeface="Times New Roman" pitchFamily="18" charset="0"/>
                      </a:endParaRPr>
                    </a:p>
                  </a:txBody>
                  <a:tcPr marL="43169" marR="43169" marT="0" marB="0"/>
                </a:tc>
                <a:tc>
                  <a:txBody>
                    <a:bodyPr/>
                    <a:lstStyle/>
                    <a:p>
                      <a:pPr marL="0" marR="0" algn="ctr">
                        <a:lnSpc>
                          <a:spcPct val="115000"/>
                        </a:lnSpc>
                        <a:spcBef>
                          <a:spcPts val="0"/>
                        </a:spcBef>
                        <a:spcAft>
                          <a:spcPts val="0"/>
                        </a:spcAft>
                      </a:pPr>
                      <a:r>
                        <a:rPr lang="en-IN" sz="1800" dirty="0">
                          <a:effectLst/>
                          <a:latin typeface="Times New Roman" pitchFamily="18" charset="0"/>
                          <a:cs typeface="Times New Roman" pitchFamily="18" charset="0"/>
                        </a:rPr>
                        <a:t>0.1527</a:t>
                      </a:r>
                      <a:endParaRPr lang="en-US" sz="1800" dirty="0">
                        <a:effectLst/>
                        <a:latin typeface="Times New Roman" pitchFamily="18" charset="0"/>
                        <a:ea typeface="Calibri"/>
                        <a:cs typeface="Times New Roman" pitchFamily="18" charset="0"/>
                      </a:endParaRPr>
                    </a:p>
                  </a:txBody>
                  <a:tcPr marL="43169" marR="43169"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0.1724</a:t>
                      </a:r>
                      <a:endParaRPr lang="en-US" sz="1800">
                        <a:effectLst/>
                        <a:latin typeface="Times New Roman" pitchFamily="18" charset="0"/>
                        <a:ea typeface="Calibri"/>
                        <a:cs typeface="Times New Roman" pitchFamily="18" charset="0"/>
                      </a:endParaRPr>
                    </a:p>
                  </a:txBody>
                  <a:tcPr marL="43169" marR="43169"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0.0358</a:t>
                      </a:r>
                      <a:endParaRPr lang="en-US" sz="1800">
                        <a:effectLst/>
                        <a:latin typeface="Times New Roman" pitchFamily="18" charset="0"/>
                        <a:ea typeface="Calibri"/>
                        <a:cs typeface="Times New Roman" pitchFamily="18" charset="0"/>
                      </a:endParaRPr>
                    </a:p>
                  </a:txBody>
                  <a:tcPr marL="43169" marR="43169"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0.1166</a:t>
                      </a:r>
                      <a:endParaRPr lang="en-US" sz="1800">
                        <a:effectLst/>
                        <a:latin typeface="Times New Roman" pitchFamily="18" charset="0"/>
                        <a:ea typeface="Calibri"/>
                        <a:cs typeface="Times New Roman" pitchFamily="18" charset="0"/>
                      </a:endParaRPr>
                    </a:p>
                  </a:txBody>
                  <a:tcPr marL="43169" marR="43169"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0.2376</a:t>
                      </a:r>
                      <a:endParaRPr lang="en-US" sz="1800">
                        <a:effectLst/>
                        <a:latin typeface="Times New Roman" pitchFamily="18" charset="0"/>
                        <a:ea typeface="Calibri"/>
                        <a:cs typeface="Times New Roman" pitchFamily="18" charset="0"/>
                      </a:endParaRPr>
                    </a:p>
                  </a:txBody>
                  <a:tcPr marL="43169" marR="43169" marT="0" marB="0"/>
                </a:tc>
              </a:tr>
              <a:tr h="561953">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6.60Ghz</a:t>
                      </a:r>
                      <a:endParaRPr lang="en-US" sz="1800">
                        <a:effectLst/>
                        <a:latin typeface="Times New Roman" pitchFamily="18" charset="0"/>
                        <a:ea typeface="Calibri"/>
                        <a:cs typeface="Times New Roman" pitchFamily="18" charset="0"/>
                      </a:endParaRPr>
                    </a:p>
                  </a:txBody>
                  <a:tcPr marL="43169" marR="43169" marT="0" marB="0"/>
                </a:tc>
                <a:tc>
                  <a:txBody>
                    <a:bodyPr/>
                    <a:lstStyle/>
                    <a:p>
                      <a:pPr marL="0" marR="0" algn="ctr">
                        <a:lnSpc>
                          <a:spcPct val="115000"/>
                        </a:lnSpc>
                        <a:spcBef>
                          <a:spcPts val="0"/>
                        </a:spcBef>
                        <a:spcAft>
                          <a:spcPts val="0"/>
                        </a:spcAft>
                      </a:pPr>
                      <a:r>
                        <a:rPr lang="en-IN" sz="1800" dirty="0">
                          <a:effectLst/>
                          <a:latin typeface="Times New Roman" pitchFamily="18" charset="0"/>
                          <a:cs typeface="Times New Roman" pitchFamily="18" charset="0"/>
                        </a:rPr>
                        <a:t>0.4132</a:t>
                      </a:r>
                      <a:endParaRPr lang="en-US" sz="1800" dirty="0">
                        <a:effectLst/>
                        <a:latin typeface="Times New Roman" pitchFamily="18" charset="0"/>
                        <a:ea typeface="Calibri"/>
                        <a:cs typeface="Times New Roman" pitchFamily="18" charset="0"/>
                      </a:endParaRPr>
                    </a:p>
                  </a:txBody>
                  <a:tcPr marL="43169" marR="43169" marT="0" marB="0"/>
                </a:tc>
                <a:tc>
                  <a:txBody>
                    <a:bodyPr/>
                    <a:lstStyle/>
                    <a:p>
                      <a:pPr marL="0" marR="0" algn="ctr">
                        <a:lnSpc>
                          <a:spcPct val="115000"/>
                        </a:lnSpc>
                        <a:spcBef>
                          <a:spcPts val="0"/>
                        </a:spcBef>
                        <a:spcAft>
                          <a:spcPts val="0"/>
                        </a:spcAft>
                      </a:pPr>
                      <a:r>
                        <a:rPr lang="en-IN" sz="1800" dirty="0">
                          <a:effectLst/>
                          <a:latin typeface="Times New Roman" pitchFamily="18" charset="0"/>
                          <a:cs typeface="Times New Roman" pitchFamily="18" charset="0"/>
                        </a:rPr>
                        <a:t>1.0614</a:t>
                      </a:r>
                      <a:endParaRPr lang="en-US" sz="1800" dirty="0">
                        <a:effectLst/>
                        <a:latin typeface="Times New Roman" pitchFamily="18" charset="0"/>
                        <a:ea typeface="Calibri"/>
                        <a:cs typeface="Times New Roman" pitchFamily="18" charset="0"/>
                      </a:endParaRPr>
                    </a:p>
                  </a:txBody>
                  <a:tcPr marL="43169" marR="43169" marT="0" marB="0"/>
                </a:tc>
                <a:tc>
                  <a:txBody>
                    <a:bodyPr/>
                    <a:lstStyle/>
                    <a:p>
                      <a:pPr marL="0" marR="0" algn="ctr">
                        <a:lnSpc>
                          <a:spcPct val="115000"/>
                        </a:lnSpc>
                        <a:spcBef>
                          <a:spcPts val="0"/>
                        </a:spcBef>
                        <a:spcAft>
                          <a:spcPts val="0"/>
                        </a:spcAft>
                      </a:pPr>
                      <a:r>
                        <a:rPr lang="en-IN" sz="1800" dirty="0">
                          <a:effectLst/>
                          <a:latin typeface="Times New Roman" pitchFamily="18" charset="0"/>
                          <a:cs typeface="Times New Roman" pitchFamily="18" charset="0"/>
                        </a:rPr>
                        <a:t>0.1845</a:t>
                      </a:r>
                      <a:endParaRPr lang="en-US" sz="1800" dirty="0">
                        <a:effectLst/>
                        <a:latin typeface="Times New Roman" pitchFamily="18" charset="0"/>
                        <a:ea typeface="Calibri"/>
                        <a:cs typeface="Times New Roman" pitchFamily="18" charset="0"/>
                      </a:endParaRPr>
                    </a:p>
                  </a:txBody>
                  <a:tcPr marL="43169" marR="43169"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0.6726</a:t>
                      </a:r>
                      <a:endParaRPr lang="en-US" sz="1800">
                        <a:effectLst/>
                        <a:latin typeface="Times New Roman" pitchFamily="18" charset="0"/>
                        <a:ea typeface="Calibri"/>
                        <a:cs typeface="Times New Roman" pitchFamily="18" charset="0"/>
                      </a:endParaRPr>
                    </a:p>
                  </a:txBody>
                  <a:tcPr marL="43169" marR="43169"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0.383</a:t>
                      </a:r>
                      <a:endParaRPr lang="en-US" sz="1800">
                        <a:effectLst/>
                        <a:latin typeface="Times New Roman" pitchFamily="18" charset="0"/>
                        <a:ea typeface="Calibri"/>
                        <a:cs typeface="Times New Roman" pitchFamily="18" charset="0"/>
                      </a:endParaRPr>
                    </a:p>
                  </a:txBody>
                  <a:tcPr marL="43169" marR="43169" marT="0" marB="0"/>
                </a:tc>
              </a:tr>
              <a:tr h="561953">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10.65GHz</a:t>
                      </a:r>
                      <a:endParaRPr lang="en-US" sz="1800">
                        <a:effectLst/>
                        <a:latin typeface="Times New Roman" pitchFamily="18" charset="0"/>
                        <a:ea typeface="Calibri"/>
                        <a:cs typeface="Times New Roman" pitchFamily="18" charset="0"/>
                      </a:endParaRPr>
                    </a:p>
                  </a:txBody>
                  <a:tcPr marL="43169" marR="43169"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0.5077</a:t>
                      </a:r>
                      <a:endParaRPr lang="en-US" sz="1800">
                        <a:effectLst/>
                        <a:latin typeface="Times New Roman" pitchFamily="18" charset="0"/>
                        <a:ea typeface="Calibri"/>
                        <a:cs typeface="Times New Roman" pitchFamily="18" charset="0"/>
                      </a:endParaRPr>
                    </a:p>
                  </a:txBody>
                  <a:tcPr marL="43169" marR="43169" marT="0" marB="0"/>
                </a:tc>
                <a:tc>
                  <a:txBody>
                    <a:bodyPr/>
                    <a:lstStyle/>
                    <a:p>
                      <a:pPr marL="0" marR="0" algn="ctr">
                        <a:lnSpc>
                          <a:spcPct val="115000"/>
                        </a:lnSpc>
                        <a:spcBef>
                          <a:spcPts val="0"/>
                        </a:spcBef>
                        <a:spcAft>
                          <a:spcPts val="0"/>
                        </a:spcAft>
                      </a:pPr>
                      <a:r>
                        <a:rPr lang="en-IN" sz="1800" dirty="0">
                          <a:effectLst/>
                          <a:latin typeface="Times New Roman" pitchFamily="18" charset="0"/>
                          <a:cs typeface="Times New Roman" pitchFamily="18" charset="0"/>
                        </a:rPr>
                        <a:t>1.2879</a:t>
                      </a:r>
                      <a:endParaRPr lang="en-US" sz="1800" dirty="0">
                        <a:effectLst/>
                        <a:latin typeface="Times New Roman" pitchFamily="18" charset="0"/>
                        <a:ea typeface="Calibri"/>
                        <a:cs typeface="Times New Roman" pitchFamily="18" charset="0"/>
                      </a:endParaRPr>
                    </a:p>
                  </a:txBody>
                  <a:tcPr marL="43169" marR="43169" marT="0" marB="0"/>
                </a:tc>
                <a:tc>
                  <a:txBody>
                    <a:bodyPr/>
                    <a:lstStyle/>
                    <a:p>
                      <a:pPr marL="0" marR="0" algn="ctr">
                        <a:lnSpc>
                          <a:spcPct val="115000"/>
                        </a:lnSpc>
                        <a:spcBef>
                          <a:spcPts val="0"/>
                        </a:spcBef>
                        <a:spcAft>
                          <a:spcPts val="0"/>
                        </a:spcAft>
                      </a:pPr>
                      <a:r>
                        <a:rPr lang="en-IN" sz="1800" dirty="0">
                          <a:effectLst/>
                          <a:latin typeface="Times New Roman" pitchFamily="18" charset="0"/>
                          <a:cs typeface="Times New Roman" pitchFamily="18" charset="0"/>
                        </a:rPr>
                        <a:t>0.9827</a:t>
                      </a:r>
                      <a:endParaRPr lang="en-US" sz="1800" dirty="0">
                        <a:effectLst/>
                        <a:latin typeface="Times New Roman" pitchFamily="18" charset="0"/>
                        <a:ea typeface="Calibri"/>
                        <a:cs typeface="Times New Roman" pitchFamily="18" charset="0"/>
                      </a:endParaRPr>
                    </a:p>
                  </a:txBody>
                  <a:tcPr marL="43169" marR="43169"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0.8461</a:t>
                      </a:r>
                      <a:endParaRPr lang="en-US" sz="1800">
                        <a:effectLst/>
                        <a:latin typeface="Times New Roman" pitchFamily="18" charset="0"/>
                        <a:ea typeface="Calibri"/>
                        <a:cs typeface="Times New Roman" pitchFamily="18" charset="0"/>
                      </a:endParaRPr>
                    </a:p>
                  </a:txBody>
                  <a:tcPr marL="43169" marR="43169"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0.5021</a:t>
                      </a:r>
                      <a:endParaRPr lang="en-US" sz="1800">
                        <a:effectLst/>
                        <a:latin typeface="Times New Roman" pitchFamily="18" charset="0"/>
                        <a:ea typeface="Calibri"/>
                        <a:cs typeface="Times New Roman" pitchFamily="18" charset="0"/>
                      </a:endParaRPr>
                    </a:p>
                  </a:txBody>
                  <a:tcPr marL="43169" marR="43169" marT="0" marB="0"/>
                </a:tc>
              </a:tr>
              <a:tr h="561953">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13.00GHz</a:t>
                      </a:r>
                      <a:endParaRPr lang="en-US" sz="1800">
                        <a:effectLst/>
                        <a:latin typeface="Times New Roman" pitchFamily="18" charset="0"/>
                        <a:ea typeface="Calibri"/>
                        <a:cs typeface="Times New Roman" pitchFamily="18" charset="0"/>
                      </a:endParaRPr>
                    </a:p>
                  </a:txBody>
                  <a:tcPr marL="43169" marR="43169"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0.8423</a:t>
                      </a:r>
                      <a:endParaRPr lang="en-US" sz="1800">
                        <a:effectLst/>
                        <a:latin typeface="Times New Roman" pitchFamily="18" charset="0"/>
                        <a:ea typeface="Calibri"/>
                        <a:cs typeface="Times New Roman" pitchFamily="18" charset="0"/>
                      </a:endParaRPr>
                    </a:p>
                  </a:txBody>
                  <a:tcPr marL="43169" marR="43169" marT="0" marB="0"/>
                </a:tc>
                <a:tc>
                  <a:txBody>
                    <a:bodyPr/>
                    <a:lstStyle/>
                    <a:p>
                      <a:pPr marL="0" marR="0" algn="ctr">
                        <a:lnSpc>
                          <a:spcPct val="115000"/>
                        </a:lnSpc>
                        <a:spcBef>
                          <a:spcPts val="0"/>
                        </a:spcBef>
                        <a:spcAft>
                          <a:spcPts val="0"/>
                        </a:spcAft>
                      </a:pPr>
                      <a:r>
                        <a:rPr lang="en-IN" sz="1800" dirty="0">
                          <a:effectLst/>
                          <a:latin typeface="Times New Roman" pitchFamily="18" charset="0"/>
                          <a:cs typeface="Times New Roman" pitchFamily="18" charset="0"/>
                        </a:rPr>
                        <a:t>1.6718</a:t>
                      </a:r>
                      <a:endParaRPr lang="en-US" sz="1800" dirty="0">
                        <a:effectLst/>
                        <a:latin typeface="Times New Roman" pitchFamily="18" charset="0"/>
                        <a:ea typeface="Calibri"/>
                        <a:cs typeface="Times New Roman" pitchFamily="18" charset="0"/>
                      </a:endParaRPr>
                    </a:p>
                  </a:txBody>
                  <a:tcPr marL="43169" marR="43169" marT="0" marB="0"/>
                </a:tc>
                <a:tc>
                  <a:txBody>
                    <a:bodyPr/>
                    <a:lstStyle/>
                    <a:p>
                      <a:pPr marL="0" marR="0" algn="ctr">
                        <a:lnSpc>
                          <a:spcPct val="115000"/>
                        </a:lnSpc>
                        <a:spcBef>
                          <a:spcPts val="0"/>
                        </a:spcBef>
                        <a:spcAft>
                          <a:spcPts val="0"/>
                        </a:spcAft>
                      </a:pPr>
                      <a:r>
                        <a:rPr lang="en-IN" sz="1800" dirty="0">
                          <a:effectLst/>
                          <a:latin typeface="Times New Roman" pitchFamily="18" charset="0"/>
                          <a:cs typeface="Times New Roman" pitchFamily="18" charset="0"/>
                        </a:rPr>
                        <a:t>1.5508</a:t>
                      </a:r>
                      <a:endParaRPr lang="en-US" sz="1800" dirty="0">
                        <a:effectLst/>
                        <a:latin typeface="Times New Roman" pitchFamily="18" charset="0"/>
                        <a:ea typeface="Calibri"/>
                        <a:cs typeface="Times New Roman" pitchFamily="18" charset="0"/>
                      </a:endParaRPr>
                    </a:p>
                  </a:txBody>
                  <a:tcPr marL="43169" marR="43169" marT="0" marB="0"/>
                </a:tc>
                <a:tc>
                  <a:txBody>
                    <a:bodyPr/>
                    <a:lstStyle/>
                    <a:p>
                      <a:pPr marL="0" marR="0" algn="ctr">
                        <a:lnSpc>
                          <a:spcPct val="115000"/>
                        </a:lnSpc>
                        <a:spcBef>
                          <a:spcPts val="0"/>
                        </a:spcBef>
                        <a:spcAft>
                          <a:spcPts val="0"/>
                        </a:spcAft>
                      </a:pPr>
                      <a:r>
                        <a:rPr lang="en-IN" sz="1800" dirty="0">
                          <a:effectLst/>
                          <a:latin typeface="Times New Roman" pitchFamily="18" charset="0"/>
                          <a:cs typeface="Times New Roman" pitchFamily="18" charset="0"/>
                        </a:rPr>
                        <a:t>1.6259</a:t>
                      </a:r>
                      <a:endParaRPr lang="en-US" sz="1800" dirty="0">
                        <a:effectLst/>
                        <a:latin typeface="Times New Roman" pitchFamily="18" charset="0"/>
                        <a:ea typeface="Calibri"/>
                        <a:cs typeface="Times New Roman" pitchFamily="18" charset="0"/>
                      </a:endParaRPr>
                    </a:p>
                  </a:txBody>
                  <a:tcPr marL="43169" marR="43169" marT="0" marB="0"/>
                </a:tc>
                <a:tc>
                  <a:txBody>
                    <a:bodyPr/>
                    <a:lstStyle/>
                    <a:p>
                      <a:pPr marL="0" marR="0" algn="ctr">
                        <a:lnSpc>
                          <a:spcPct val="115000"/>
                        </a:lnSpc>
                        <a:spcBef>
                          <a:spcPts val="0"/>
                        </a:spcBef>
                        <a:spcAft>
                          <a:spcPts val="0"/>
                        </a:spcAft>
                      </a:pPr>
                      <a:r>
                        <a:rPr lang="en-IN" sz="1800" dirty="0">
                          <a:effectLst/>
                          <a:latin typeface="Times New Roman" pitchFamily="18" charset="0"/>
                          <a:cs typeface="Times New Roman" pitchFamily="18" charset="0"/>
                        </a:rPr>
                        <a:t>1.1755</a:t>
                      </a:r>
                      <a:endParaRPr lang="en-US" sz="1800" dirty="0">
                        <a:effectLst/>
                        <a:latin typeface="Times New Roman" pitchFamily="18" charset="0"/>
                        <a:ea typeface="Calibri"/>
                        <a:cs typeface="Times New Roman" pitchFamily="18" charset="0"/>
                      </a:endParaRPr>
                    </a:p>
                  </a:txBody>
                  <a:tcPr marL="43169" marR="43169" marT="0" marB="0"/>
                </a:tc>
              </a:tr>
            </a:tbl>
          </a:graphicData>
        </a:graphic>
      </p:graphicFrame>
      <p:pic>
        <p:nvPicPr>
          <p:cNvPr id="9217" name="Picture 1"/>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0" y="3143248"/>
            <a:ext cx="6215074" cy="37147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7" name="Rectangle 6"/>
          <p:cNvSpPr/>
          <p:nvPr/>
        </p:nvSpPr>
        <p:spPr>
          <a:xfrm>
            <a:off x="6357950" y="1000108"/>
            <a:ext cx="2071702" cy="1569660"/>
          </a:xfrm>
          <a:prstGeom prst="rect">
            <a:avLst/>
          </a:prstGeom>
        </p:spPr>
        <p:txBody>
          <a:bodyPr wrap="square">
            <a:spAutoFit/>
          </a:bodyPr>
          <a:lstStyle/>
          <a:p>
            <a:r>
              <a:rPr lang="en-US" sz="3200" b="1" dirty="0" smtClean="0">
                <a:effectLst>
                  <a:outerShdw blurRad="38100" dist="38100" dir="2700000" algn="tl">
                    <a:srgbClr val="000000">
                      <a:alpha val="43137"/>
                    </a:srgbClr>
                  </a:outerShdw>
                </a:effectLst>
                <a:latin typeface="Times New Roman" pitchFamily="18" charset="0"/>
                <a:cs typeface="Times New Roman" pitchFamily="18" charset="0"/>
              </a:rPr>
              <a:t>[B]  For Loss Factor</a:t>
            </a:r>
            <a:endParaRPr lang="en-IN" sz="3200" b="1"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6" name="Slide Number Placeholder 5"/>
          <p:cNvSpPr>
            <a:spLocks noGrp="1"/>
          </p:cNvSpPr>
          <p:nvPr>
            <p:ph type="sldNum" sz="quarter" idx="11"/>
          </p:nvPr>
        </p:nvSpPr>
        <p:spPr/>
        <p:txBody>
          <a:bodyPr/>
          <a:lstStyle/>
          <a:p>
            <a:fld id="{C2C1A6A0-3F2F-4BAF-B319-837518E4456F}" type="slidenum">
              <a:rPr lang="en-US" smtClean="0"/>
              <a:pPr/>
              <a:t>47</a:t>
            </a:fld>
            <a:endParaRPr lang="en-US"/>
          </a:p>
        </p:txBody>
      </p:sp>
    </p:spTree>
    <p:extLst>
      <p:ext uri="{BB962C8B-B14F-4D97-AF65-F5344CB8AC3E}">
        <p14:creationId xmlns:p14="http://schemas.microsoft.com/office/powerpoint/2010/main" xmlns="" val="339170090"/>
      </p:ext>
    </p:extLst>
  </p:cSld>
  <p:clrMapOvr>
    <a:masterClrMapping/>
  </p:clrMapOvr>
  <p:transition>
    <p:comb/>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357949" y="1357299"/>
            <a:ext cx="1686455" cy="1571636"/>
          </a:xfrm>
        </p:spPr>
        <p:txBody>
          <a:bodyPr>
            <a:normAutofit fontScale="90000"/>
          </a:bodyPr>
          <a:lstStyle/>
          <a:p>
            <a:r>
              <a:rPr lang="en-US" sz="3200" dirty="0" smtClean="0">
                <a:solidFill>
                  <a:schemeClr val="tx1"/>
                </a:solidFill>
                <a:effectLst>
                  <a:outerShdw blurRad="38100" dist="38100" dir="2700000" algn="tl">
                    <a:srgbClr val="000000">
                      <a:alpha val="43137"/>
                    </a:srgbClr>
                  </a:outerShdw>
                </a:effectLst>
                <a:latin typeface="Times New Roman" pitchFamily="18" charset="0"/>
                <a:cs typeface="Times New Roman" pitchFamily="18" charset="0"/>
              </a:rPr>
              <a:t>[C]   For Loss Factor</a:t>
            </a:r>
            <a:r>
              <a:rPr lang="en-IN" dirty="0" smtClean="0"/>
              <a:t/>
            </a:r>
            <a:br>
              <a:rPr lang="en-IN" dirty="0" smtClean="0"/>
            </a:br>
            <a:endParaRPr lang="en-US" dirty="0"/>
          </a:p>
        </p:txBody>
      </p:sp>
      <p:sp>
        <p:nvSpPr>
          <p:cNvPr id="4" name="Text Placeholder 3"/>
          <p:cNvSpPr>
            <a:spLocks noGrp="1"/>
          </p:cNvSpPr>
          <p:nvPr>
            <p:ph type="body" idx="2"/>
          </p:nvPr>
        </p:nvSpPr>
        <p:spPr>
          <a:xfrm>
            <a:off x="6286512" y="3143248"/>
            <a:ext cx="2500330" cy="2828932"/>
          </a:xfrm>
        </p:spPr>
        <p:txBody>
          <a:bodyPr>
            <a:normAutofit lnSpcReduction="10000"/>
          </a:bodyPr>
          <a:lstStyle/>
          <a:p>
            <a:r>
              <a:rPr lang="en-US" sz="3800" b="1" dirty="0" smtClean="0">
                <a:ln w="10541" cmpd="sng">
                  <a:solidFill>
                    <a:srgbClr val="7D7D7D">
                      <a:tint val="100000"/>
                      <a:shade val="100000"/>
                      <a:satMod val="110000"/>
                    </a:srgbClr>
                  </a:solidFill>
                  <a:prstDash val="solid"/>
                </a:ln>
                <a:effectLst>
                  <a:outerShdw blurRad="38100" dist="38100" dir="2700000" algn="tl">
                    <a:srgbClr val="000000">
                      <a:alpha val="43137"/>
                    </a:srgbClr>
                  </a:outerShdw>
                </a:effectLst>
                <a:latin typeface="Times New Roman" pitchFamily="18" charset="0"/>
                <a:cs typeface="Times New Roman" pitchFamily="18" charset="0"/>
              </a:rPr>
              <a:t>Loss Factor for Saturated sample</a:t>
            </a:r>
            <a:r>
              <a:rPr lang="en-US" sz="2800" b="1" dirty="0" smtClean="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rPr>
              <a:t>s</a:t>
            </a:r>
            <a:r>
              <a:rPr lang="en-US" sz="2800" dirty="0" smtClean="0"/>
              <a:t/>
            </a:r>
            <a:br>
              <a:rPr lang="en-US" sz="2800" dirty="0" smtClean="0"/>
            </a:br>
            <a:endParaRPr lang="en-US" sz="2800" dirty="0"/>
          </a:p>
        </p:txBody>
      </p:sp>
      <p:graphicFrame>
        <p:nvGraphicFramePr>
          <p:cNvPr id="5" name="Content Placeholder 4"/>
          <p:cNvGraphicFramePr>
            <a:graphicFrameLocks noGrp="1"/>
          </p:cNvGraphicFramePr>
          <p:nvPr>
            <p:ph sz="quarter" idx="1"/>
            <p:extLst>
              <p:ext uri="{D42A27DB-BD31-4B8C-83A1-F6EECF244321}">
                <p14:modId xmlns:p14="http://schemas.microsoft.com/office/powerpoint/2010/main" xmlns="" val="3643085065"/>
              </p:ext>
            </p:extLst>
          </p:nvPr>
        </p:nvGraphicFramePr>
        <p:xfrm>
          <a:off x="-2" y="-1"/>
          <a:ext cx="6143637" cy="3069336"/>
        </p:xfrm>
        <a:graphic>
          <a:graphicData uri="http://schemas.openxmlformats.org/drawingml/2006/table">
            <a:tbl>
              <a:tblPr firstRow="1" firstCol="1" bandRow="1">
                <a:tableStyleId>{5C22544A-7EE6-4342-B048-85BDC9FD1C3A}</a:tableStyleId>
              </a:tblPr>
              <a:tblGrid>
                <a:gridCol w="1815181"/>
                <a:gridCol w="897647"/>
                <a:gridCol w="897647"/>
                <a:gridCol w="897647"/>
                <a:gridCol w="821529"/>
                <a:gridCol w="813986"/>
              </a:tblGrid>
              <a:tr h="609600">
                <a:tc>
                  <a:txBody>
                    <a:bodyPr/>
                    <a:lstStyle/>
                    <a:p>
                      <a:pPr marL="0" marR="0" algn="ctr">
                        <a:lnSpc>
                          <a:spcPct val="115000"/>
                        </a:lnSpc>
                        <a:spcBef>
                          <a:spcPts val="0"/>
                        </a:spcBef>
                        <a:spcAft>
                          <a:spcPts val="0"/>
                        </a:spcAft>
                      </a:pPr>
                      <a:r>
                        <a:rPr lang="en-IN" sz="1800" dirty="0">
                          <a:effectLst/>
                          <a:latin typeface="Times New Roman" pitchFamily="18" charset="0"/>
                          <a:cs typeface="Times New Roman" pitchFamily="18" charset="0"/>
                        </a:rPr>
                        <a:t>Frequencies/samples</a:t>
                      </a:r>
                      <a:endParaRPr lang="en-US" sz="1800" dirty="0">
                        <a:effectLst/>
                        <a:latin typeface="Times New Roman" pitchFamily="18" charset="0"/>
                        <a:ea typeface="Calibri"/>
                        <a:cs typeface="Times New Roman" pitchFamily="18" charset="0"/>
                      </a:endParaRPr>
                    </a:p>
                  </a:txBody>
                  <a:tcPr marL="37260" marR="37260"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Wheat</a:t>
                      </a:r>
                      <a:endParaRPr lang="en-US" sz="1800">
                        <a:effectLst/>
                        <a:latin typeface="Times New Roman" pitchFamily="18" charset="0"/>
                        <a:ea typeface="Calibri"/>
                        <a:cs typeface="Times New Roman" pitchFamily="18" charset="0"/>
                      </a:endParaRPr>
                    </a:p>
                  </a:txBody>
                  <a:tcPr marL="37260" marR="37260"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Rice</a:t>
                      </a:r>
                      <a:endParaRPr lang="en-US" sz="1800">
                        <a:effectLst/>
                        <a:latin typeface="Times New Roman" pitchFamily="18" charset="0"/>
                        <a:ea typeface="Calibri"/>
                        <a:cs typeface="Times New Roman" pitchFamily="18" charset="0"/>
                      </a:endParaRPr>
                    </a:p>
                  </a:txBody>
                  <a:tcPr marL="37260" marR="37260"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Arhar</a:t>
                      </a:r>
                      <a:endParaRPr lang="en-US" sz="1800">
                        <a:effectLst/>
                        <a:latin typeface="Times New Roman" pitchFamily="18" charset="0"/>
                        <a:ea typeface="Calibri"/>
                        <a:cs typeface="Times New Roman" pitchFamily="18" charset="0"/>
                      </a:endParaRPr>
                    </a:p>
                  </a:txBody>
                  <a:tcPr marL="37260" marR="37260"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Chana</a:t>
                      </a:r>
                      <a:endParaRPr lang="en-US" sz="1800">
                        <a:effectLst/>
                        <a:latin typeface="Times New Roman" pitchFamily="18" charset="0"/>
                        <a:ea typeface="Calibri"/>
                        <a:cs typeface="Times New Roman" pitchFamily="18" charset="0"/>
                      </a:endParaRPr>
                    </a:p>
                  </a:txBody>
                  <a:tcPr marL="37260" marR="37260"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Moong</a:t>
                      </a:r>
                      <a:endParaRPr lang="en-US" sz="1800">
                        <a:effectLst/>
                        <a:latin typeface="Times New Roman" pitchFamily="18" charset="0"/>
                        <a:ea typeface="Calibri"/>
                        <a:cs typeface="Times New Roman" pitchFamily="18" charset="0"/>
                      </a:endParaRPr>
                    </a:p>
                  </a:txBody>
                  <a:tcPr marL="37260" marR="37260" marT="0" marB="0"/>
                </a:tc>
              </a:tr>
              <a:tr h="609600">
                <a:tc>
                  <a:txBody>
                    <a:bodyPr/>
                    <a:lstStyle/>
                    <a:p>
                      <a:pPr marL="0" marR="0" algn="ctr">
                        <a:lnSpc>
                          <a:spcPct val="115000"/>
                        </a:lnSpc>
                        <a:spcBef>
                          <a:spcPts val="0"/>
                        </a:spcBef>
                        <a:spcAft>
                          <a:spcPts val="0"/>
                        </a:spcAft>
                      </a:pPr>
                      <a:r>
                        <a:rPr lang="en-IN" sz="1800" dirty="0">
                          <a:effectLst/>
                          <a:latin typeface="Times New Roman" pitchFamily="18" charset="0"/>
                          <a:cs typeface="Times New Roman" pitchFamily="18" charset="0"/>
                        </a:rPr>
                        <a:t>5.30 GHz</a:t>
                      </a:r>
                      <a:endParaRPr lang="en-US" sz="1800" dirty="0">
                        <a:effectLst/>
                        <a:latin typeface="Times New Roman" pitchFamily="18" charset="0"/>
                        <a:ea typeface="Calibri"/>
                        <a:cs typeface="Times New Roman" pitchFamily="18" charset="0"/>
                      </a:endParaRPr>
                    </a:p>
                  </a:txBody>
                  <a:tcPr marL="37260" marR="37260" marT="0" marB="0"/>
                </a:tc>
                <a:tc>
                  <a:txBody>
                    <a:bodyPr/>
                    <a:lstStyle/>
                    <a:p>
                      <a:pPr marL="0" marR="0" algn="ctr">
                        <a:lnSpc>
                          <a:spcPct val="115000"/>
                        </a:lnSpc>
                        <a:spcBef>
                          <a:spcPts val="0"/>
                        </a:spcBef>
                        <a:spcAft>
                          <a:spcPts val="0"/>
                        </a:spcAft>
                      </a:pPr>
                      <a:r>
                        <a:rPr lang="en-IN" sz="1800" dirty="0">
                          <a:effectLst/>
                          <a:latin typeface="Times New Roman" pitchFamily="18" charset="0"/>
                          <a:cs typeface="Times New Roman" pitchFamily="18" charset="0"/>
                        </a:rPr>
                        <a:t>2.0152</a:t>
                      </a:r>
                      <a:endParaRPr lang="en-US" sz="1800" dirty="0">
                        <a:effectLst/>
                        <a:latin typeface="Times New Roman" pitchFamily="18" charset="0"/>
                        <a:ea typeface="Calibri"/>
                        <a:cs typeface="Times New Roman" pitchFamily="18" charset="0"/>
                      </a:endParaRPr>
                    </a:p>
                  </a:txBody>
                  <a:tcPr marL="37260" marR="37260" marT="0" marB="0"/>
                </a:tc>
                <a:tc>
                  <a:txBody>
                    <a:bodyPr/>
                    <a:lstStyle/>
                    <a:p>
                      <a:pPr marL="0" marR="0" algn="ctr">
                        <a:lnSpc>
                          <a:spcPct val="115000"/>
                        </a:lnSpc>
                        <a:spcBef>
                          <a:spcPts val="0"/>
                        </a:spcBef>
                        <a:spcAft>
                          <a:spcPts val="0"/>
                        </a:spcAft>
                      </a:pPr>
                      <a:r>
                        <a:rPr lang="en-IN" sz="1800" dirty="0">
                          <a:effectLst/>
                          <a:latin typeface="Times New Roman" pitchFamily="18" charset="0"/>
                          <a:cs typeface="Times New Roman" pitchFamily="18" charset="0"/>
                        </a:rPr>
                        <a:t>1.9573</a:t>
                      </a:r>
                      <a:endParaRPr lang="en-US" sz="1800" dirty="0">
                        <a:effectLst/>
                        <a:latin typeface="Times New Roman" pitchFamily="18" charset="0"/>
                        <a:ea typeface="Calibri"/>
                        <a:cs typeface="Times New Roman" pitchFamily="18" charset="0"/>
                      </a:endParaRPr>
                    </a:p>
                  </a:txBody>
                  <a:tcPr marL="37260" marR="37260"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1.6955</a:t>
                      </a:r>
                      <a:endParaRPr lang="en-US" sz="1800">
                        <a:effectLst/>
                        <a:latin typeface="Times New Roman" pitchFamily="18" charset="0"/>
                        <a:ea typeface="Calibri"/>
                        <a:cs typeface="Times New Roman" pitchFamily="18" charset="0"/>
                      </a:endParaRPr>
                    </a:p>
                  </a:txBody>
                  <a:tcPr marL="37260" marR="37260"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1.5868</a:t>
                      </a:r>
                      <a:endParaRPr lang="en-US" sz="1800">
                        <a:effectLst/>
                        <a:latin typeface="Times New Roman" pitchFamily="18" charset="0"/>
                        <a:ea typeface="Calibri"/>
                        <a:cs typeface="Times New Roman" pitchFamily="18" charset="0"/>
                      </a:endParaRPr>
                    </a:p>
                  </a:txBody>
                  <a:tcPr marL="37260" marR="37260"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1.7532</a:t>
                      </a:r>
                      <a:endParaRPr lang="en-US" sz="1800">
                        <a:effectLst/>
                        <a:latin typeface="Times New Roman" pitchFamily="18" charset="0"/>
                        <a:ea typeface="Calibri"/>
                        <a:cs typeface="Times New Roman" pitchFamily="18" charset="0"/>
                      </a:endParaRPr>
                    </a:p>
                  </a:txBody>
                  <a:tcPr marL="37260" marR="37260" marT="0" marB="0"/>
                </a:tc>
              </a:tr>
              <a:tr h="609600">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6.60 GHz</a:t>
                      </a:r>
                      <a:endParaRPr lang="en-US" sz="1800">
                        <a:effectLst/>
                        <a:latin typeface="Times New Roman" pitchFamily="18" charset="0"/>
                        <a:ea typeface="Calibri"/>
                        <a:cs typeface="Times New Roman" pitchFamily="18" charset="0"/>
                      </a:endParaRPr>
                    </a:p>
                  </a:txBody>
                  <a:tcPr marL="37260" marR="37260" marT="0" marB="0"/>
                </a:tc>
                <a:tc>
                  <a:txBody>
                    <a:bodyPr/>
                    <a:lstStyle/>
                    <a:p>
                      <a:pPr marL="0" marR="0" algn="ctr">
                        <a:lnSpc>
                          <a:spcPct val="115000"/>
                        </a:lnSpc>
                        <a:spcBef>
                          <a:spcPts val="0"/>
                        </a:spcBef>
                        <a:spcAft>
                          <a:spcPts val="0"/>
                        </a:spcAft>
                      </a:pPr>
                      <a:r>
                        <a:rPr lang="en-IN" sz="1800" dirty="0">
                          <a:effectLst/>
                          <a:latin typeface="Times New Roman" pitchFamily="18" charset="0"/>
                          <a:cs typeface="Times New Roman" pitchFamily="18" charset="0"/>
                        </a:rPr>
                        <a:t>2.3702</a:t>
                      </a:r>
                      <a:endParaRPr lang="en-US" sz="1800" dirty="0">
                        <a:effectLst/>
                        <a:latin typeface="Times New Roman" pitchFamily="18" charset="0"/>
                        <a:ea typeface="Calibri"/>
                        <a:cs typeface="Times New Roman" pitchFamily="18" charset="0"/>
                      </a:endParaRPr>
                    </a:p>
                  </a:txBody>
                  <a:tcPr marL="37260" marR="37260" marT="0" marB="0"/>
                </a:tc>
                <a:tc>
                  <a:txBody>
                    <a:bodyPr/>
                    <a:lstStyle/>
                    <a:p>
                      <a:pPr marL="0" marR="0" algn="ctr">
                        <a:lnSpc>
                          <a:spcPct val="115000"/>
                        </a:lnSpc>
                        <a:spcBef>
                          <a:spcPts val="0"/>
                        </a:spcBef>
                        <a:spcAft>
                          <a:spcPts val="0"/>
                        </a:spcAft>
                      </a:pPr>
                      <a:r>
                        <a:rPr lang="en-IN" sz="1800" dirty="0">
                          <a:effectLst/>
                          <a:latin typeface="Times New Roman" pitchFamily="18" charset="0"/>
                          <a:cs typeface="Times New Roman" pitchFamily="18" charset="0"/>
                        </a:rPr>
                        <a:t>2.3353</a:t>
                      </a:r>
                      <a:endParaRPr lang="en-US" sz="1800" dirty="0">
                        <a:effectLst/>
                        <a:latin typeface="Times New Roman" pitchFamily="18" charset="0"/>
                        <a:ea typeface="Calibri"/>
                        <a:cs typeface="Times New Roman" pitchFamily="18" charset="0"/>
                      </a:endParaRPr>
                    </a:p>
                  </a:txBody>
                  <a:tcPr marL="37260" marR="37260"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1.8566</a:t>
                      </a:r>
                      <a:endParaRPr lang="en-US" sz="1800">
                        <a:effectLst/>
                        <a:latin typeface="Times New Roman" pitchFamily="18" charset="0"/>
                        <a:ea typeface="Calibri"/>
                        <a:cs typeface="Times New Roman" pitchFamily="18" charset="0"/>
                      </a:endParaRPr>
                    </a:p>
                  </a:txBody>
                  <a:tcPr marL="37260" marR="37260"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2.2803</a:t>
                      </a:r>
                      <a:endParaRPr lang="en-US" sz="1800">
                        <a:effectLst/>
                        <a:latin typeface="Times New Roman" pitchFamily="18" charset="0"/>
                        <a:ea typeface="Calibri"/>
                        <a:cs typeface="Times New Roman" pitchFamily="18" charset="0"/>
                      </a:endParaRPr>
                    </a:p>
                  </a:txBody>
                  <a:tcPr marL="37260" marR="37260"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2.041</a:t>
                      </a:r>
                      <a:endParaRPr lang="en-US" sz="1800">
                        <a:effectLst/>
                        <a:latin typeface="Times New Roman" pitchFamily="18" charset="0"/>
                        <a:ea typeface="Calibri"/>
                        <a:cs typeface="Times New Roman" pitchFamily="18" charset="0"/>
                      </a:endParaRPr>
                    </a:p>
                  </a:txBody>
                  <a:tcPr marL="37260" marR="37260" marT="0" marB="0"/>
                </a:tc>
              </a:tr>
              <a:tr h="609600">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10.65 GHz</a:t>
                      </a:r>
                      <a:endParaRPr lang="en-US" sz="1800">
                        <a:effectLst/>
                        <a:latin typeface="Times New Roman" pitchFamily="18" charset="0"/>
                        <a:ea typeface="Calibri"/>
                        <a:cs typeface="Times New Roman" pitchFamily="18" charset="0"/>
                      </a:endParaRPr>
                    </a:p>
                  </a:txBody>
                  <a:tcPr marL="37260" marR="37260"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3.4927</a:t>
                      </a:r>
                      <a:endParaRPr lang="en-US" sz="1800">
                        <a:effectLst/>
                        <a:latin typeface="Times New Roman" pitchFamily="18" charset="0"/>
                        <a:ea typeface="Calibri"/>
                        <a:cs typeface="Times New Roman" pitchFamily="18" charset="0"/>
                      </a:endParaRPr>
                    </a:p>
                  </a:txBody>
                  <a:tcPr marL="37260" marR="37260" marT="0" marB="0"/>
                </a:tc>
                <a:tc>
                  <a:txBody>
                    <a:bodyPr/>
                    <a:lstStyle/>
                    <a:p>
                      <a:pPr marL="0" marR="0" algn="ctr">
                        <a:lnSpc>
                          <a:spcPct val="115000"/>
                        </a:lnSpc>
                        <a:spcBef>
                          <a:spcPts val="0"/>
                        </a:spcBef>
                        <a:spcAft>
                          <a:spcPts val="0"/>
                        </a:spcAft>
                      </a:pPr>
                      <a:r>
                        <a:rPr lang="en-IN" sz="1800" dirty="0">
                          <a:effectLst/>
                          <a:latin typeface="Times New Roman" pitchFamily="18" charset="0"/>
                          <a:cs typeface="Times New Roman" pitchFamily="18" charset="0"/>
                        </a:rPr>
                        <a:t>3.1592</a:t>
                      </a:r>
                      <a:endParaRPr lang="en-US" sz="1800" dirty="0">
                        <a:effectLst/>
                        <a:latin typeface="Times New Roman" pitchFamily="18" charset="0"/>
                        <a:ea typeface="Calibri"/>
                        <a:cs typeface="Times New Roman" pitchFamily="18" charset="0"/>
                      </a:endParaRPr>
                    </a:p>
                  </a:txBody>
                  <a:tcPr marL="37260" marR="37260"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2.3152</a:t>
                      </a:r>
                      <a:endParaRPr lang="en-US" sz="1800">
                        <a:effectLst/>
                        <a:latin typeface="Times New Roman" pitchFamily="18" charset="0"/>
                        <a:ea typeface="Calibri"/>
                        <a:cs typeface="Times New Roman" pitchFamily="18" charset="0"/>
                      </a:endParaRPr>
                    </a:p>
                  </a:txBody>
                  <a:tcPr marL="37260" marR="37260"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3.0519</a:t>
                      </a:r>
                      <a:endParaRPr lang="en-US" sz="1800">
                        <a:effectLst/>
                        <a:latin typeface="Times New Roman" pitchFamily="18" charset="0"/>
                        <a:ea typeface="Calibri"/>
                        <a:cs typeface="Times New Roman" pitchFamily="18" charset="0"/>
                      </a:endParaRPr>
                    </a:p>
                  </a:txBody>
                  <a:tcPr marL="37260" marR="37260"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2.2015</a:t>
                      </a:r>
                      <a:endParaRPr lang="en-US" sz="1800">
                        <a:effectLst/>
                        <a:latin typeface="Times New Roman" pitchFamily="18" charset="0"/>
                        <a:ea typeface="Calibri"/>
                        <a:cs typeface="Times New Roman" pitchFamily="18" charset="0"/>
                      </a:endParaRPr>
                    </a:p>
                  </a:txBody>
                  <a:tcPr marL="37260" marR="37260" marT="0" marB="0"/>
                </a:tc>
              </a:tr>
              <a:tr h="609600">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13.00 GHz</a:t>
                      </a:r>
                      <a:endParaRPr lang="en-US" sz="1800">
                        <a:effectLst/>
                        <a:latin typeface="Times New Roman" pitchFamily="18" charset="0"/>
                        <a:ea typeface="Calibri"/>
                        <a:cs typeface="Times New Roman" pitchFamily="18" charset="0"/>
                      </a:endParaRPr>
                    </a:p>
                  </a:txBody>
                  <a:tcPr marL="37260" marR="37260"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3.5736</a:t>
                      </a:r>
                      <a:endParaRPr lang="en-US" sz="1800">
                        <a:effectLst/>
                        <a:latin typeface="Times New Roman" pitchFamily="18" charset="0"/>
                        <a:ea typeface="Calibri"/>
                        <a:cs typeface="Times New Roman" pitchFamily="18" charset="0"/>
                      </a:endParaRPr>
                    </a:p>
                  </a:txBody>
                  <a:tcPr marL="37260" marR="37260"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3.243</a:t>
                      </a:r>
                      <a:endParaRPr lang="en-US" sz="1800">
                        <a:effectLst/>
                        <a:latin typeface="Times New Roman" pitchFamily="18" charset="0"/>
                        <a:ea typeface="Calibri"/>
                        <a:cs typeface="Times New Roman" pitchFamily="18" charset="0"/>
                      </a:endParaRPr>
                    </a:p>
                  </a:txBody>
                  <a:tcPr marL="37260" marR="37260" marT="0" marB="0"/>
                </a:tc>
                <a:tc>
                  <a:txBody>
                    <a:bodyPr/>
                    <a:lstStyle/>
                    <a:p>
                      <a:pPr marL="0" marR="0" algn="ctr">
                        <a:lnSpc>
                          <a:spcPct val="115000"/>
                        </a:lnSpc>
                        <a:spcBef>
                          <a:spcPts val="0"/>
                        </a:spcBef>
                        <a:spcAft>
                          <a:spcPts val="0"/>
                        </a:spcAft>
                      </a:pPr>
                      <a:r>
                        <a:rPr lang="en-IN" sz="1800" dirty="0">
                          <a:effectLst/>
                          <a:latin typeface="Times New Roman" pitchFamily="18" charset="0"/>
                          <a:cs typeface="Times New Roman" pitchFamily="18" charset="0"/>
                        </a:rPr>
                        <a:t>2.6051</a:t>
                      </a:r>
                      <a:endParaRPr lang="en-US" sz="1800" dirty="0">
                        <a:effectLst/>
                        <a:latin typeface="Times New Roman" pitchFamily="18" charset="0"/>
                        <a:ea typeface="Calibri"/>
                        <a:cs typeface="Times New Roman" pitchFamily="18" charset="0"/>
                      </a:endParaRPr>
                    </a:p>
                  </a:txBody>
                  <a:tcPr marL="37260" marR="37260" marT="0" marB="0"/>
                </a:tc>
                <a:tc>
                  <a:txBody>
                    <a:bodyPr/>
                    <a:lstStyle/>
                    <a:p>
                      <a:pPr marL="0" marR="0" algn="ctr">
                        <a:lnSpc>
                          <a:spcPct val="115000"/>
                        </a:lnSpc>
                        <a:spcBef>
                          <a:spcPts val="0"/>
                        </a:spcBef>
                        <a:spcAft>
                          <a:spcPts val="0"/>
                        </a:spcAft>
                      </a:pPr>
                      <a:r>
                        <a:rPr lang="en-IN" sz="1800" dirty="0">
                          <a:effectLst/>
                          <a:latin typeface="Times New Roman" pitchFamily="18" charset="0"/>
                          <a:cs typeface="Times New Roman" pitchFamily="18" charset="0"/>
                        </a:rPr>
                        <a:t>3.5625</a:t>
                      </a:r>
                      <a:endParaRPr lang="en-US" sz="1800" dirty="0">
                        <a:effectLst/>
                        <a:latin typeface="Times New Roman" pitchFamily="18" charset="0"/>
                        <a:ea typeface="Calibri"/>
                        <a:cs typeface="Times New Roman" pitchFamily="18" charset="0"/>
                      </a:endParaRPr>
                    </a:p>
                  </a:txBody>
                  <a:tcPr marL="37260" marR="37260" marT="0" marB="0"/>
                </a:tc>
                <a:tc>
                  <a:txBody>
                    <a:bodyPr/>
                    <a:lstStyle/>
                    <a:p>
                      <a:pPr marL="0" marR="0" algn="ctr">
                        <a:lnSpc>
                          <a:spcPct val="115000"/>
                        </a:lnSpc>
                        <a:spcBef>
                          <a:spcPts val="0"/>
                        </a:spcBef>
                        <a:spcAft>
                          <a:spcPts val="0"/>
                        </a:spcAft>
                      </a:pPr>
                      <a:r>
                        <a:rPr lang="en-IN" sz="1800" dirty="0">
                          <a:effectLst/>
                          <a:latin typeface="Times New Roman" pitchFamily="18" charset="0"/>
                          <a:cs typeface="Times New Roman" pitchFamily="18" charset="0"/>
                        </a:rPr>
                        <a:t>2.6927</a:t>
                      </a:r>
                      <a:endParaRPr lang="en-US" sz="1800" dirty="0">
                        <a:effectLst/>
                        <a:latin typeface="Times New Roman" pitchFamily="18" charset="0"/>
                        <a:ea typeface="Calibri"/>
                        <a:cs typeface="Times New Roman" pitchFamily="18" charset="0"/>
                      </a:endParaRPr>
                    </a:p>
                  </a:txBody>
                  <a:tcPr marL="37260" marR="37260" marT="0" marB="0"/>
                </a:tc>
              </a:tr>
            </a:tbl>
          </a:graphicData>
        </a:graphic>
      </p:graphicFrame>
      <p:pic>
        <p:nvPicPr>
          <p:cNvPr id="10241" name="Picture 1"/>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0" y="3000372"/>
            <a:ext cx="6143636" cy="385762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6" name="Slide Number Placeholder 5"/>
          <p:cNvSpPr>
            <a:spLocks noGrp="1"/>
          </p:cNvSpPr>
          <p:nvPr>
            <p:ph type="sldNum" sz="quarter" idx="15"/>
          </p:nvPr>
        </p:nvSpPr>
        <p:spPr/>
        <p:txBody>
          <a:bodyPr/>
          <a:lstStyle/>
          <a:p>
            <a:fld id="{C2C1A6A0-3F2F-4BAF-B319-837518E4456F}" type="slidenum">
              <a:rPr lang="en-US" smtClean="0"/>
              <a:pPr/>
              <a:t>48</a:t>
            </a:fld>
            <a:endParaRPr lang="en-US"/>
          </a:p>
        </p:txBody>
      </p:sp>
    </p:spTree>
    <p:extLst>
      <p:ext uri="{BB962C8B-B14F-4D97-AF65-F5344CB8AC3E}">
        <p14:creationId xmlns:p14="http://schemas.microsoft.com/office/powerpoint/2010/main" xmlns="" val="3338373328"/>
      </p:ext>
    </p:extLst>
  </p:cSld>
  <p:clrMapOvr>
    <a:masterClrMapping/>
  </p:clrMapOvr>
  <p:transition>
    <p:comb/>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14480" y="285728"/>
            <a:ext cx="4643470" cy="984885"/>
          </a:xfrm>
          <a:prstGeom prst="rect">
            <a:avLst/>
          </a:prstGeom>
          <a:noFill/>
        </p:spPr>
        <p:txBody>
          <a:bodyPr wrap="square" rtlCol="0">
            <a:spAutoFit/>
          </a:bodyPr>
          <a:lstStyle/>
          <a:p>
            <a:pPr algn="ctr"/>
            <a:r>
              <a:rPr lang="en-US" sz="4000" b="1" u="sng" dirty="0" smtClean="0">
                <a:solidFill>
                  <a:schemeClr val="accent1">
                    <a:lumMod val="75000"/>
                  </a:schemeClr>
                </a:solidFill>
                <a:effectLst>
                  <a:outerShdw blurRad="38100" dist="38100" dir="2700000" algn="tl">
                    <a:srgbClr val="000000">
                      <a:alpha val="43137"/>
                    </a:srgbClr>
                  </a:outerShdw>
                </a:effectLst>
                <a:latin typeface="Times New Roman" pitchFamily="18" charset="0"/>
                <a:cs typeface="Times New Roman" pitchFamily="18" charset="0"/>
              </a:rPr>
              <a:t>RESULTS</a:t>
            </a:r>
          </a:p>
          <a:p>
            <a:pPr algn="ctr"/>
            <a:endParaRPr lang="en-IN" dirty="0"/>
          </a:p>
        </p:txBody>
      </p:sp>
      <p:sp>
        <p:nvSpPr>
          <p:cNvPr id="3" name="TextBox 2"/>
          <p:cNvSpPr txBox="1"/>
          <p:nvPr/>
        </p:nvSpPr>
        <p:spPr>
          <a:xfrm>
            <a:off x="571472" y="1142984"/>
            <a:ext cx="8001056" cy="6278642"/>
          </a:xfrm>
          <a:prstGeom prst="rect">
            <a:avLst/>
          </a:prstGeom>
          <a:noFill/>
        </p:spPr>
        <p:txBody>
          <a:bodyPr wrap="square" rtlCol="0">
            <a:spAutoFit/>
          </a:bodyPr>
          <a:lstStyle/>
          <a:p>
            <a:pPr>
              <a:buFont typeface="Courier New" pitchFamily="49" charset="0"/>
              <a:buChar char="o"/>
            </a:pPr>
            <a:r>
              <a:rPr lang="en-US" dirty="0" smtClean="0"/>
              <a:t> </a:t>
            </a:r>
            <a:r>
              <a:rPr lang="en-US" sz="2400" dirty="0" smtClean="0">
                <a:latin typeface="Times New Roman" pitchFamily="18" charset="0"/>
                <a:cs typeface="Times New Roman" pitchFamily="18" charset="0"/>
              </a:rPr>
              <a:t>The value of </a:t>
            </a:r>
            <a:r>
              <a:rPr lang="el-GR" sz="2400" dirty="0" smtClean="0">
                <a:latin typeface="Times New Roman" pitchFamily="18" charset="0"/>
                <a:cs typeface="Times New Roman" pitchFamily="18" charset="0"/>
              </a:rPr>
              <a:t>ϵ</a:t>
            </a:r>
            <a:r>
              <a:rPr lang="en-US" sz="2400" dirty="0" smtClean="0">
                <a:latin typeface="Times New Roman" pitchFamily="18" charset="0"/>
                <a:cs typeface="Times New Roman" pitchFamily="18" charset="0"/>
              </a:rPr>
              <a:t>’ and </a:t>
            </a:r>
            <a:r>
              <a:rPr lang="el-GR" sz="2400" dirty="0" smtClean="0">
                <a:latin typeface="Times New Roman" pitchFamily="18" charset="0"/>
                <a:cs typeface="Times New Roman" pitchFamily="18" charset="0"/>
              </a:rPr>
              <a:t>ϵ</a:t>
            </a:r>
            <a:r>
              <a:rPr lang="en-US" sz="2400" dirty="0" smtClean="0">
                <a:latin typeface="Times New Roman" pitchFamily="18" charset="0"/>
                <a:cs typeface="Times New Roman" pitchFamily="18" charset="0"/>
              </a:rPr>
              <a:t>” follow a polynomial curve.</a:t>
            </a:r>
          </a:p>
          <a:p>
            <a:endParaRPr lang="en-US" sz="2400" dirty="0" smtClean="0">
              <a:latin typeface="Times New Roman" pitchFamily="18" charset="0"/>
              <a:cs typeface="Times New Roman" pitchFamily="18" charset="0"/>
            </a:endParaRPr>
          </a:p>
          <a:p>
            <a:pPr>
              <a:buFont typeface="Courier New" pitchFamily="49" charset="0"/>
              <a:buChar char="o"/>
            </a:pPr>
            <a:r>
              <a:rPr lang="en-US" sz="2400" dirty="0" smtClean="0">
                <a:latin typeface="Times New Roman" pitchFamily="18" charset="0"/>
                <a:cs typeface="Times New Roman" pitchFamily="18" charset="0"/>
              </a:rPr>
              <a:t> The value of </a:t>
            </a:r>
            <a:r>
              <a:rPr lang="el-GR" sz="2400" dirty="0" smtClean="0">
                <a:latin typeface="Times New Roman" pitchFamily="18" charset="0"/>
                <a:cs typeface="Times New Roman" pitchFamily="18" charset="0"/>
              </a:rPr>
              <a:t>ϵ</a:t>
            </a:r>
            <a:r>
              <a:rPr lang="en-US" sz="2400" dirty="0" smtClean="0">
                <a:latin typeface="Times New Roman" pitchFamily="18" charset="0"/>
                <a:cs typeface="Times New Roman" pitchFamily="18" charset="0"/>
              </a:rPr>
              <a:t>’decreases as frequency increases.   (</a:t>
            </a:r>
            <a:r>
              <a:rPr lang="el-GR" sz="2400" dirty="0" smtClean="0">
                <a:latin typeface="Times New Roman" pitchFamily="18" charset="0"/>
                <a:cs typeface="Times New Roman" pitchFamily="18" charset="0"/>
              </a:rPr>
              <a:t>ϵ</a:t>
            </a:r>
            <a:r>
              <a:rPr lang="en-US" sz="2400" dirty="0" smtClean="0">
                <a:latin typeface="Times New Roman" pitchFamily="18" charset="0"/>
                <a:cs typeface="Times New Roman" pitchFamily="18" charset="0"/>
              </a:rPr>
              <a:t>’↓  f ↑)</a:t>
            </a:r>
          </a:p>
          <a:p>
            <a:pPr>
              <a:buFont typeface="Courier New" pitchFamily="49" charset="0"/>
              <a:buChar char="o"/>
            </a:pPr>
            <a:endParaRPr lang="en-US" sz="2400" dirty="0" smtClean="0">
              <a:latin typeface="Times New Roman" pitchFamily="18" charset="0"/>
              <a:cs typeface="Times New Roman" pitchFamily="18" charset="0"/>
            </a:endParaRPr>
          </a:p>
          <a:p>
            <a:pPr>
              <a:buFont typeface="Courier New" pitchFamily="49" charset="0"/>
              <a:buChar char="o"/>
            </a:pPr>
            <a:r>
              <a:rPr lang="en-US" sz="2400" dirty="0" smtClean="0">
                <a:latin typeface="Times New Roman" pitchFamily="18" charset="0"/>
                <a:cs typeface="Times New Roman" pitchFamily="18" charset="0"/>
              </a:rPr>
              <a:t> The value of </a:t>
            </a:r>
            <a:r>
              <a:rPr lang="el-GR" sz="2400" dirty="0" smtClean="0">
                <a:latin typeface="Times New Roman" pitchFamily="18" charset="0"/>
                <a:cs typeface="Times New Roman" pitchFamily="18" charset="0"/>
              </a:rPr>
              <a:t>ϵ</a:t>
            </a:r>
            <a:r>
              <a:rPr lang="en-US" sz="2400" dirty="0" smtClean="0">
                <a:latin typeface="Times New Roman" pitchFamily="18" charset="0"/>
                <a:cs typeface="Times New Roman" pitchFamily="18" charset="0"/>
              </a:rPr>
              <a:t>” increases as frequency increases.    ( </a:t>
            </a:r>
            <a:r>
              <a:rPr lang="el-GR" sz="2400" dirty="0" smtClean="0">
                <a:latin typeface="Times New Roman" pitchFamily="18" charset="0"/>
                <a:cs typeface="Times New Roman" pitchFamily="18" charset="0"/>
              </a:rPr>
              <a:t>ϵ</a:t>
            </a:r>
            <a:r>
              <a:rPr lang="en-US" sz="2400" dirty="0" smtClean="0">
                <a:latin typeface="Times New Roman" pitchFamily="18" charset="0"/>
                <a:cs typeface="Times New Roman" pitchFamily="18" charset="0"/>
              </a:rPr>
              <a:t>”↑ f ↑)</a:t>
            </a:r>
          </a:p>
          <a:p>
            <a:pPr>
              <a:buFont typeface="Courier New" pitchFamily="49" charset="0"/>
              <a:buChar char="o"/>
            </a:pPr>
            <a:endParaRPr lang="en-US" sz="2400" dirty="0" smtClean="0">
              <a:latin typeface="Times New Roman" pitchFamily="18" charset="0"/>
              <a:cs typeface="Times New Roman" pitchFamily="18" charset="0"/>
            </a:endParaRPr>
          </a:p>
          <a:p>
            <a:pPr>
              <a:buFont typeface="Courier New" pitchFamily="49" charset="0"/>
              <a:buChar char="o"/>
            </a:pPr>
            <a:r>
              <a:rPr lang="en-US" sz="2400" dirty="0" smtClean="0">
                <a:latin typeface="Times New Roman" pitchFamily="18" charset="0"/>
                <a:cs typeface="Times New Roman" pitchFamily="18" charset="0"/>
              </a:rPr>
              <a:t> The Dielectric Constant of Oven dried samples are least and for Saturated samples are highest.  (P&lt;O&lt;S )</a:t>
            </a:r>
          </a:p>
          <a:p>
            <a:pPr>
              <a:buFont typeface="Courier New" pitchFamily="49" charset="0"/>
              <a:buChar char="o"/>
            </a:pPr>
            <a:endParaRPr lang="en-US" sz="2400" dirty="0" smtClean="0">
              <a:latin typeface="Times New Roman" pitchFamily="18" charset="0"/>
              <a:cs typeface="Times New Roman" pitchFamily="18" charset="0"/>
            </a:endParaRPr>
          </a:p>
          <a:p>
            <a:pPr>
              <a:buFont typeface="Courier New" pitchFamily="49" charset="0"/>
              <a:buChar char="o"/>
            </a:pPr>
            <a:r>
              <a:rPr lang="en-US" sz="2400" dirty="0" smtClean="0">
                <a:latin typeface="Times New Roman" pitchFamily="18" charset="0"/>
                <a:cs typeface="Times New Roman" pitchFamily="18" charset="0"/>
              </a:rPr>
              <a:t>  The Loss Factors of oven dried samples are highest and for Saturated samples are least.  (P&gt;O&gt;S) </a:t>
            </a:r>
          </a:p>
          <a:p>
            <a:endParaRPr lang="en-US" sz="2400" dirty="0" smtClean="0">
              <a:latin typeface="Times New Roman" pitchFamily="18" charset="0"/>
              <a:cs typeface="Times New Roman" pitchFamily="18" charset="0"/>
            </a:endParaRPr>
          </a:p>
          <a:p>
            <a:pPr>
              <a:buFont typeface="Courier New" pitchFamily="49" charset="0"/>
              <a:buChar char="o"/>
            </a:pPr>
            <a:r>
              <a:rPr lang="en-US" sz="2400" dirty="0" smtClean="0">
                <a:latin typeface="Times New Roman" pitchFamily="18" charset="0"/>
                <a:cs typeface="Times New Roman" pitchFamily="18" charset="0"/>
              </a:rPr>
              <a:t> The behaviour is observed for all different samples at different   frequencies.</a:t>
            </a:r>
          </a:p>
          <a:p>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 </a:t>
            </a:r>
          </a:p>
          <a:p>
            <a:pPr>
              <a:buFont typeface="Courier New" pitchFamily="49" charset="0"/>
              <a:buChar char="o"/>
            </a:pPr>
            <a:endParaRPr lang="en-IN" dirty="0"/>
          </a:p>
        </p:txBody>
      </p:sp>
      <p:sp>
        <p:nvSpPr>
          <p:cNvPr id="4" name="Slide Number Placeholder 3"/>
          <p:cNvSpPr>
            <a:spLocks noGrp="1"/>
          </p:cNvSpPr>
          <p:nvPr>
            <p:ph type="sldNum" sz="quarter" idx="12"/>
          </p:nvPr>
        </p:nvSpPr>
        <p:spPr/>
        <p:txBody>
          <a:bodyPr/>
          <a:lstStyle/>
          <a:p>
            <a:fld id="{C2C1A6A0-3F2F-4BAF-B319-837518E4456F}" type="slidenum">
              <a:rPr lang="en-US" smtClean="0"/>
              <a:pPr/>
              <a:t>49</a:t>
            </a:fld>
            <a:endParaRPr lang="en-US"/>
          </a:p>
        </p:txBody>
      </p:sp>
    </p:spTree>
  </p:cSld>
  <p:clrMapOvr>
    <a:masterClrMapping/>
  </p:clrMapOvr>
  <p:transition>
    <p:randomBar dir="vert"/>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71538" y="857232"/>
            <a:ext cx="7143800" cy="1077218"/>
          </a:xfrm>
          <a:prstGeom prst="rect">
            <a:avLst/>
          </a:prstGeom>
          <a:noFill/>
        </p:spPr>
        <p:txBody>
          <a:bodyPr wrap="square" rtlCol="0">
            <a:spAutoFit/>
          </a:bodyPr>
          <a:lstStyle/>
          <a:p>
            <a:r>
              <a:rPr lang="en-US" sz="3200" b="1" dirty="0" smtClean="0">
                <a:solidFill>
                  <a:schemeClr val="accent1">
                    <a:lumMod val="75000"/>
                  </a:schemeClr>
                </a:solidFill>
                <a:effectLst>
                  <a:outerShdw blurRad="38100" dist="38100" dir="2700000" algn="tl">
                    <a:srgbClr val="000000">
                      <a:alpha val="43137"/>
                    </a:srgbClr>
                  </a:outerShdw>
                </a:effectLst>
                <a:latin typeface="Times New Roman" pitchFamily="18" charset="0"/>
                <a:cs typeface="Times New Roman" pitchFamily="18" charset="0"/>
              </a:rPr>
              <a:t>Graph on the basis of Moisture Content and their loss factor(</a:t>
            </a:r>
            <a:r>
              <a:rPr lang="az-Cyrl-AZ" sz="3200" b="1" dirty="0" smtClean="0">
                <a:solidFill>
                  <a:schemeClr val="accent1">
                    <a:lumMod val="75000"/>
                  </a:schemeClr>
                </a:solidFill>
                <a:effectLst>
                  <a:outerShdw blurRad="38100" dist="38100" dir="2700000" algn="tl">
                    <a:srgbClr val="000000">
                      <a:alpha val="43137"/>
                    </a:srgbClr>
                  </a:outerShdw>
                </a:effectLst>
                <a:latin typeface="Times New Roman" pitchFamily="18" charset="0"/>
                <a:cs typeface="Times New Roman" pitchFamily="18" charset="0"/>
              </a:rPr>
              <a:t>є</a:t>
            </a:r>
            <a:r>
              <a:rPr lang="en-US" sz="3200" b="1" dirty="0" smtClean="0">
                <a:solidFill>
                  <a:schemeClr val="accent1">
                    <a:lumMod val="75000"/>
                  </a:schemeClr>
                </a:solidFill>
                <a:effectLst>
                  <a:outerShdw blurRad="38100" dist="38100" dir="2700000" algn="tl">
                    <a:srgbClr val="000000">
                      <a:alpha val="43137"/>
                    </a:srgbClr>
                  </a:outerShdw>
                </a:effectLst>
                <a:latin typeface="Times New Roman" pitchFamily="18" charset="0"/>
                <a:cs typeface="Times New Roman" pitchFamily="18" charset="0"/>
              </a:rPr>
              <a:t>”)</a:t>
            </a:r>
            <a:endParaRPr lang="en-IN" sz="3200" b="1" dirty="0">
              <a:solidFill>
                <a:schemeClr val="accent1">
                  <a:lumMod val="75000"/>
                </a:schemeClr>
              </a:solidFill>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3" name="TextBox 2"/>
          <p:cNvSpPr txBox="1"/>
          <p:nvPr/>
        </p:nvSpPr>
        <p:spPr>
          <a:xfrm>
            <a:off x="1142976" y="2357430"/>
            <a:ext cx="6858048" cy="3416320"/>
          </a:xfrm>
          <a:prstGeom prst="rect">
            <a:avLst/>
          </a:prstGeom>
          <a:noFill/>
        </p:spPr>
        <p:txBody>
          <a:bodyPr wrap="square" rtlCol="0">
            <a:spAutoFit/>
          </a:bodyPr>
          <a:lstStyle/>
          <a:p>
            <a:pPr>
              <a:buFont typeface="Wingdings" pitchFamily="2" charset="2"/>
              <a:buChar char="§"/>
            </a:pPr>
            <a:r>
              <a:rPr lang="en-US" dirty="0" smtClean="0"/>
              <a:t> </a:t>
            </a:r>
            <a:r>
              <a:rPr lang="en-US" sz="2400" b="1" dirty="0" smtClean="0">
                <a:effectLst>
                  <a:outerShdw blurRad="38100" dist="38100" dir="2700000" algn="tl">
                    <a:srgbClr val="000000">
                      <a:alpha val="43137"/>
                    </a:srgbClr>
                  </a:outerShdw>
                </a:effectLst>
                <a:latin typeface="Times New Roman" pitchFamily="18" charset="0"/>
                <a:cs typeface="Times New Roman" pitchFamily="18" charset="0"/>
              </a:rPr>
              <a:t>For 20%</a:t>
            </a:r>
          </a:p>
          <a:p>
            <a:pPr>
              <a:buFont typeface="Wingdings" pitchFamily="2" charset="2"/>
              <a:buChar char="§"/>
            </a:pPr>
            <a:endParaRPr lang="en-US" sz="2400" b="1" dirty="0" smtClean="0">
              <a:effectLst>
                <a:outerShdw blurRad="38100" dist="38100" dir="2700000" algn="tl">
                  <a:srgbClr val="000000">
                    <a:alpha val="43137"/>
                  </a:srgbClr>
                </a:outerShdw>
              </a:effectLst>
              <a:latin typeface="Times New Roman" pitchFamily="18" charset="0"/>
              <a:cs typeface="Times New Roman" pitchFamily="18" charset="0"/>
            </a:endParaRPr>
          </a:p>
          <a:p>
            <a:pPr>
              <a:buFont typeface="Wingdings" pitchFamily="2" charset="2"/>
              <a:buChar char="§"/>
            </a:pPr>
            <a:r>
              <a:rPr lang="en-US" sz="2400" b="1" dirty="0" smtClean="0">
                <a:effectLst>
                  <a:outerShdw blurRad="38100" dist="38100" dir="2700000" algn="tl">
                    <a:srgbClr val="000000">
                      <a:alpha val="43137"/>
                    </a:srgbClr>
                  </a:outerShdw>
                </a:effectLst>
                <a:latin typeface="Times New Roman" pitchFamily="18" charset="0"/>
                <a:cs typeface="Times New Roman" pitchFamily="18" charset="0"/>
              </a:rPr>
              <a:t> For 10%</a:t>
            </a:r>
          </a:p>
          <a:p>
            <a:pPr>
              <a:buFont typeface="Wingdings" pitchFamily="2" charset="2"/>
              <a:buChar char="§"/>
            </a:pPr>
            <a:endParaRPr lang="en-US" sz="2400" b="1" dirty="0" smtClean="0">
              <a:effectLst>
                <a:outerShdw blurRad="38100" dist="38100" dir="2700000" algn="tl">
                  <a:srgbClr val="000000">
                    <a:alpha val="43137"/>
                  </a:srgbClr>
                </a:outerShdw>
              </a:effectLst>
              <a:latin typeface="Times New Roman" pitchFamily="18" charset="0"/>
              <a:cs typeface="Times New Roman" pitchFamily="18" charset="0"/>
            </a:endParaRPr>
          </a:p>
          <a:p>
            <a:pPr>
              <a:buFont typeface="Wingdings" pitchFamily="2" charset="2"/>
              <a:buChar char="§"/>
            </a:pPr>
            <a:r>
              <a:rPr lang="en-US" sz="2400" b="1" dirty="0" smtClean="0">
                <a:effectLst>
                  <a:outerShdw blurRad="38100" dist="38100" dir="2700000" algn="tl">
                    <a:srgbClr val="000000">
                      <a:alpha val="43137"/>
                    </a:srgbClr>
                  </a:outerShdw>
                </a:effectLst>
                <a:latin typeface="Times New Roman" pitchFamily="18" charset="0"/>
                <a:cs typeface="Times New Roman" pitchFamily="18" charset="0"/>
              </a:rPr>
              <a:t> For  5%</a:t>
            </a:r>
          </a:p>
          <a:p>
            <a:pPr>
              <a:buFont typeface="Wingdings" pitchFamily="2" charset="2"/>
              <a:buChar char="§"/>
            </a:pPr>
            <a:endParaRPr lang="en-US" sz="2400" b="1" dirty="0" smtClean="0">
              <a:effectLst>
                <a:outerShdw blurRad="38100" dist="38100" dir="2700000" algn="tl">
                  <a:srgbClr val="000000">
                    <a:alpha val="43137"/>
                  </a:srgbClr>
                </a:outerShdw>
              </a:effectLst>
              <a:latin typeface="Times New Roman" pitchFamily="18" charset="0"/>
              <a:cs typeface="Times New Roman" pitchFamily="18" charset="0"/>
            </a:endParaRPr>
          </a:p>
          <a:p>
            <a:pPr>
              <a:buFont typeface="Wingdings" pitchFamily="2" charset="2"/>
              <a:buChar char="§"/>
            </a:pPr>
            <a:r>
              <a:rPr lang="en-US" sz="2400" b="1" dirty="0" smtClean="0">
                <a:effectLst>
                  <a:outerShdw blurRad="38100" dist="38100" dir="2700000" algn="tl">
                    <a:srgbClr val="000000">
                      <a:alpha val="43137"/>
                    </a:srgbClr>
                  </a:outerShdw>
                </a:effectLst>
                <a:latin typeface="Times New Roman" pitchFamily="18" charset="0"/>
                <a:cs typeface="Times New Roman" pitchFamily="18" charset="0"/>
              </a:rPr>
              <a:t> For  2%</a:t>
            </a:r>
          </a:p>
          <a:p>
            <a:pPr>
              <a:buFont typeface="Wingdings" pitchFamily="2" charset="2"/>
              <a:buChar char="§"/>
            </a:pPr>
            <a:endParaRPr lang="en-US" sz="2400" b="1" dirty="0" smtClean="0">
              <a:effectLst>
                <a:outerShdw blurRad="38100" dist="38100" dir="2700000" algn="tl">
                  <a:srgbClr val="000000">
                    <a:alpha val="43137"/>
                  </a:srgbClr>
                </a:outerShdw>
              </a:effectLst>
              <a:latin typeface="Times New Roman" pitchFamily="18" charset="0"/>
              <a:cs typeface="Times New Roman" pitchFamily="18" charset="0"/>
            </a:endParaRPr>
          </a:p>
          <a:p>
            <a:endParaRPr lang="en-IN" sz="2400" b="1" dirty="0">
              <a:effectLst>
                <a:outerShdw blurRad="38100" dist="38100" dir="2700000" algn="tl">
                  <a:srgbClr val="000000">
                    <a:alpha val="43137"/>
                  </a:srgbClr>
                </a:outerShdw>
              </a:effectLst>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C2C1A6A0-3F2F-4BAF-B319-837518E4456F}" type="slidenum">
              <a:rPr lang="en-US" smtClean="0"/>
              <a:pPr/>
              <a:t>50</a:t>
            </a:fld>
            <a:endParaRPr lang="en-US"/>
          </a:p>
        </p:txBody>
      </p:sp>
    </p:spTree>
  </p:cSld>
  <p:clrMapOvr>
    <a:masterClrMapping/>
  </p:clrMapOvr>
  <p:transition>
    <p:cover dir="ru"/>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57950" y="1000108"/>
            <a:ext cx="2571768" cy="4214842"/>
          </a:xfrm>
        </p:spPr>
        <p:txBody>
          <a:bodyPr>
            <a:normAutofit/>
          </a:bodyPr>
          <a:lstStyle/>
          <a:p>
            <a:r>
              <a:rPr lang="en-US" sz="3100" b="1" dirty="0" smtClean="0">
                <a:solidFill>
                  <a:schemeClr val="tx1"/>
                </a:solidFill>
              </a:rPr>
              <a:t>Dielectric Constant for 20% Moisture Content</a:t>
            </a:r>
            <a:br>
              <a:rPr lang="en-US" sz="3100" b="1" dirty="0" smtClean="0">
                <a:solidFill>
                  <a:schemeClr val="tx1"/>
                </a:solidFill>
              </a:rPr>
            </a:br>
            <a:r>
              <a:rPr lang="en-US" dirty="0" smtClean="0"/>
              <a:t/>
            </a:r>
            <a:br>
              <a:rPr lang="en-US" dirty="0" smtClean="0"/>
            </a:br>
            <a:r>
              <a:rPr lang="en-US" dirty="0" smtClean="0"/>
              <a:t/>
            </a:r>
            <a:br>
              <a:rPr lang="en-US" dirty="0" smtClean="0"/>
            </a:br>
            <a:r>
              <a:rPr lang="en-US" dirty="0" smtClean="0"/>
              <a:t/>
            </a:r>
            <a:br>
              <a:rPr lang="en-US" dirty="0" smtClean="0"/>
            </a:br>
            <a:endParaRPr lang="en-US" b="1" dirty="0"/>
          </a:p>
        </p:txBody>
      </p:sp>
      <p:graphicFrame>
        <p:nvGraphicFramePr>
          <p:cNvPr id="5" name="Picture Placeholder 4"/>
          <p:cNvGraphicFramePr>
            <a:graphicFrameLocks noGrp="1"/>
          </p:cNvGraphicFramePr>
          <p:nvPr>
            <p:ph type="pic" idx="1"/>
            <p:extLst>
              <p:ext uri="{D42A27DB-BD31-4B8C-83A1-F6EECF244321}">
                <p14:modId xmlns:p14="http://schemas.microsoft.com/office/powerpoint/2010/main" xmlns="" val="1613960921"/>
              </p:ext>
            </p:extLst>
          </p:nvPr>
        </p:nvGraphicFramePr>
        <p:xfrm>
          <a:off x="0" y="1"/>
          <a:ext cx="6143636" cy="3008852"/>
        </p:xfrm>
        <a:graphic>
          <a:graphicData uri="http://schemas.openxmlformats.org/drawingml/2006/table">
            <a:tbl>
              <a:tblPr firstRow="1" firstCol="1" bandRow="1">
                <a:tableStyleId>{5C22544A-7EE6-4342-B048-85BDC9FD1C3A}</a:tableStyleId>
              </a:tblPr>
              <a:tblGrid>
                <a:gridCol w="1285852"/>
                <a:gridCol w="1143008"/>
                <a:gridCol w="857256"/>
                <a:gridCol w="1000132"/>
                <a:gridCol w="928694"/>
                <a:gridCol w="928694"/>
              </a:tblGrid>
              <a:tr h="750676">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Frequencies/samples</a:t>
                      </a:r>
                      <a:endParaRPr lang="en-US" sz="1800" dirty="0">
                        <a:effectLst/>
                        <a:latin typeface="Times New Roman" pitchFamily="18" charset="0"/>
                        <a:ea typeface="Calibri"/>
                        <a:cs typeface="Times New Roman" pitchFamily="18" charset="0"/>
                      </a:endParaRPr>
                    </a:p>
                  </a:txBody>
                  <a:tcPr marL="41471" marR="41471"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Wheat</a:t>
                      </a:r>
                      <a:endParaRPr lang="en-US" sz="1800">
                        <a:effectLst/>
                        <a:latin typeface="Times New Roman" pitchFamily="18" charset="0"/>
                        <a:ea typeface="Calibri"/>
                        <a:cs typeface="Times New Roman" pitchFamily="18" charset="0"/>
                      </a:endParaRPr>
                    </a:p>
                  </a:txBody>
                  <a:tcPr marL="41471" marR="41471"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Rice</a:t>
                      </a:r>
                      <a:endParaRPr lang="en-US" sz="1800">
                        <a:effectLst/>
                        <a:latin typeface="Times New Roman" pitchFamily="18" charset="0"/>
                        <a:ea typeface="Calibri"/>
                        <a:cs typeface="Times New Roman" pitchFamily="18" charset="0"/>
                      </a:endParaRPr>
                    </a:p>
                  </a:txBody>
                  <a:tcPr marL="41471" marR="41471"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Arhar</a:t>
                      </a:r>
                      <a:endParaRPr lang="en-US" sz="1800">
                        <a:effectLst/>
                        <a:latin typeface="Times New Roman" pitchFamily="18" charset="0"/>
                        <a:ea typeface="Calibri"/>
                        <a:cs typeface="Times New Roman" pitchFamily="18" charset="0"/>
                      </a:endParaRPr>
                    </a:p>
                  </a:txBody>
                  <a:tcPr marL="41471" marR="41471"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Chana</a:t>
                      </a:r>
                      <a:endParaRPr lang="en-US" sz="1800">
                        <a:effectLst/>
                        <a:latin typeface="Times New Roman" pitchFamily="18" charset="0"/>
                        <a:ea typeface="Calibri"/>
                        <a:cs typeface="Times New Roman" pitchFamily="18" charset="0"/>
                      </a:endParaRPr>
                    </a:p>
                  </a:txBody>
                  <a:tcPr marL="41471" marR="41471" marT="0" marB="0"/>
                </a:tc>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Moong</a:t>
                      </a:r>
                      <a:endParaRPr lang="en-US" sz="1800" dirty="0">
                        <a:effectLst/>
                        <a:latin typeface="Times New Roman" pitchFamily="18" charset="0"/>
                        <a:ea typeface="Calibri"/>
                        <a:cs typeface="Times New Roman" pitchFamily="18" charset="0"/>
                      </a:endParaRPr>
                    </a:p>
                  </a:txBody>
                  <a:tcPr marL="41471" marR="41471" marT="0" marB="0"/>
                </a:tc>
              </a:tr>
              <a:tr h="462899">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5.30 GHz</a:t>
                      </a:r>
                      <a:endParaRPr lang="en-US" sz="1800" dirty="0">
                        <a:effectLst/>
                        <a:latin typeface="Times New Roman" pitchFamily="18" charset="0"/>
                        <a:ea typeface="Calibri"/>
                        <a:cs typeface="Times New Roman" pitchFamily="18" charset="0"/>
                      </a:endParaRPr>
                    </a:p>
                  </a:txBody>
                  <a:tcPr marL="41471" marR="41471" marT="0" marB="0"/>
                </a:tc>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10.9652</a:t>
                      </a:r>
                      <a:endParaRPr lang="en-US" sz="1800" dirty="0">
                        <a:effectLst/>
                        <a:latin typeface="Times New Roman" pitchFamily="18" charset="0"/>
                        <a:ea typeface="Calibri"/>
                        <a:cs typeface="Times New Roman" pitchFamily="18" charset="0"/>
                      </a:endParaRPr>
                    </a:p>
                  </a:txBody>
                  <a:tcPr marL="41471" marR="41471"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10.862</a:t>
                      </a:r>
                      <a:endParaRPr lang="en-US" sz="1800">
                        <a:effectLst/>
                        <a:latin typeface="Times New Roman" pitchFamily="18" charset="0"/>
                        <a:ea typeface="Calibri"/>
                        <a:cs typeface="Times New Roman" pitchFamily="18" charset="0"/>
                      </a:endParaRPr>
                    </a:p>
                  </a:txBody>
                  <a:tcPr marL="41471" marR="41471"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10.2102</a:t>
                      </a:r>
                      <a:endParaRPr lang="en-US" sz="1800">
                        <a:effectLst/>
                        <a:latin typeface="Times New Roman" pitchFamily="18" charset="0"/>
                        <a:ea typeface="Calibri"/>
                        <a:cs typeface="Times New Roman" pitchFamily="18" charset="0"/>
                      </a:endParaRPr>
                    </a:p>
                  </a:txBody>
                  <a:tcPr marL="41471" marR="41471"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10.552</a:t>
                      </a:r>
                      <a:endParaRPr lang="en-US" sz="1800">
                        <a:effectLst/>
                        <a:latin typeface="Times New Roman" pitchFamily="18" charset="0"/>
                        <a:ea typeface="Calibri"/>
                        <a:cs typeface="Times New Roman" pitchFamily="18" charset="0"/>
                      </a:endParaRPr>
                    </a:p>
                  </a:txBody>
                  <a:tcPr marL="41471" marR="41471"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10.0462</a:t>
                      </a:r>
                      <a:endParaRPr lang="en-US" sz="1800">
                        <a:effectLst/>
                        <a:latin typeface="Times New Roman" pitchFamily="18" charset="0"/>
                        <a:ea typeface="Calibri"/>
                        <a:cs typeface="Times New Roman" pitchFamily="18" charset="0"/>
                      </a:endParaRPr>
                    </a:p>
                  </a:txBody>
                  <a:tcPr marL="41471" marR="41471" marT="0" marB="0"/>
                </a:tc>
              </a:tr>
              <a:tr h="574331">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6.60 GHz</a:t>
                      </a:r>
                      <a:endParaRPr lang="en-US" sz="1800">
                        <a:effectLst/>
                        <a:latin typeface="Times New Roman" pitchFamily="18" charset="0"/>
                        <a:ea typeface="Calibri"/>
                        <a:cs typeface="Times New Roman" pitchFamily="18" charset="0"/>
                      </a:endParaRPr>
                    </a:p>
                  </a:txBody>
                  <a:tcPr marL="41471" marR="41471" marT="0" marB="0"/>
                </a:tc>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10.5537</a:t>
                      </a:r>
                      <a:endParaRPr lang="en-US" sz="1800" dirty="0">
                        <a:effectLst/>
                        <a:latin typeface="Times New Roman" pitchFamily="18" charset="0"/>
                        <a:ea typeface="Calibri"/>
                        <a:cs typeface="Times New Roman" pitchFamily="18" charset="0"/>
                      </a:endParaRPr>
                    </a:p>
                  </a:txBody>
                  <a:tcPr marL="41471" marR="41471" marT="0" marB="0"/>
                </a:tc>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10.3096</a:t>
                      </a:r>
                      <a:endParaRPr lang="en-US" sz="1800" dirty="0">
                        <a:effectLst/>
                        <a:latin typeface="Times New Roman" pitchFamily="18" charset="0"/>
                        <a:ea typeface="Calibri"/>
                        <a:cs typeface="Times New Roman" pitchFamily="18" charset="0"/>
                      </a:endParaRPr>
                    </a:p>
                  </a:txBody>
                  <a:tcPr marL="41471" marR="41471"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10.044</a:t>
                      </a:r>
                      <a:endParaRPr lang="en-US" sz="1800">
                        <a:effectLst/>
                        <a:latin typeface="Times New Roman" pitchFamily="18" charset="0"/>
                        <a:ea typeface="Calibri"/>
                        <a:cs typeface="Times New Roman" pitchFamily="18" charset="0"/>
                      </a:endParaRPr>
                    </a:p>
                  </a:txBody>
                  <a:tcPr marL="41471" marR="41471"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10.5118</a:t>
                      </a:r>
                      <a:endParaRPr lang="en-US" sz="1800">
                        <a:effectLst/>
                        <a:latin typeface="Times New Roman" pitchFamily="18" charset="0"/>
                        <a:ea typeface="Calibri"/>
                        <a:cs typeface="Times New Roman" pitchFamily="18" charset="0"/>
                      </a:endParaRPr>
                    </a:p>
                  </a:txBody>
                  <a:tcPr marL="41471" marR="41471"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9.9745</a:t>
                      </a:r>
                      <a:endParaRPr lang="en-US" sz="1800">
                        <a:effectLst/>
                        <a:latin typeface="Times New Roman" pitchFamily="18" charset="0"/>
                        <a:ea typeface="Calibri"/>
                        <a:cs typeface="Times New Roman" pitchFamily="18" charset="0"/>
                      </a:endParaRPr>
                    </a:p>
                  </a:txBody>
                  <a:tcPr marL="41471" marR="41471" marT="0" marB="0"/>
                </a:tc>
              </a:tr>
              <a:tr h="574331">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10.65 GHz</a:t>
                      </a:r>
                      <a:endParaRPr lang="en-US" sz="1800">
                        <a:effectLst/>
                        <a:latin typeface="Times New Roman" pitchFamily="18" charset="0"/>
                        <a:ea typeface="Calibri"/>
                        <a:cs typeface="Times New Roman" pitchFamily="18" charset="0"/>
                      </a:endParaRPr>
                    </a:p>
                  </a:txBody>
                  <a:tcPr marL="41471" marR="41471"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7.2349</a:t>
                      </a:r>
                      <a:endParaRPr lang="en-US" sz="1800">
                        <a:effectLst/>
                        <a:latin typeface="Times New Roman" pitchFamily="18" charset="0"/>
                        <a:ea typeface="Calibri"/>
                        <a:cs typeface="Times New Roman" pitchFamily="18" charset="0"/>
                      </a:endParaRPr>
                    </a:p>
                  </a:txBody>
                  <a:tcPr marL="41471" marR="41471" marT="0" marB="0"/>
                </a:tc>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7.5113</a:t>
                      </a:r>
                      <a:endParaRPr lang="en-US" sz="1800" dirty="0">
                        <a:effectLst/>
                        <a:latin typeface="Times New Roman" pitchFamily="18" charset="0"/>
                        <a:ea typeface="Calibri"/>
                        <a:cs typeface="Times New Roman" pitchFamily="18" charset="0"/>
                      </a:endParaRPr>
                    </a:p>
                  </a:txBody>
                  <a:tcPr marL="41471" marR="41471" marT="0" marB="0"/>
                </a:tc>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7.0988</a:t>
                      </a:r>
                      <a:endParaRPr lang="en-US" sz="1800" dirty="0">
                        <a:effectLst/>
                        <a:latin typeface="Times New Roman" pitchFamily="18" charset="0"/>
                        <a:ea typeface="Calibri"/>
                        <a:cs typeface="Times New Roman" pitchFamily="18" charset="0"/>
                      </a:endParaRPr>
                    </a:p>
                  </a:txBody>
                  <a:tcPr marL="41471" marR="41471"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7.7321</a:t>
                      </a:r>
                      <a:endParaRPr lang="en-US" sz="1800">
                        <a:effectLst/>
                        <a:latin typeface="Times New Roman" pitchFamily="18" charset="0"/>
                        <a:ea typeface="Calibri"/>
                        <a:cs typeface="Times New Roman" pitchFamily="18" charset="0"/>
                      </a:endParaRPr>
                    </a:p>
                  </a:txBody>
                  <a:tcPr marL="41471" marR="41471"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7.341</a:t>
                      </a:r>
                      <a:endParaRPr lang="en-US" sz="1800">
                        <a:effectLst/>
                        <a:latin typeface="Times New Roman" pitchFamily="18" charset="0"/>
                        <a:ea typeface="Calibri"/>
                        <a:cs typeface="Times New Roman" pitchFamily="18" charset="0"/>
                      </a:endParaRPr>
                    </a:p>
                  </a:txBody>
                  <a:tcPr marL="41471" marR="41471" marT="0" marB="0"/>
                </a:tc>
              </a:tr>
              <a:tr h="574331">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13.00 GHz</a:t>
                      </a:r>
                      <a:endParaRPr lang="en-US" sz="1800">
                        <a:effectLst/>
                        <a:latin typeface="Times New Roman" pitchFamily="18" charset="0"/>
                        <a:ea typeface="Calibri"/>
                        <a:cs typeface="Times New Roman" pitchFamily="18" charset="0"/>
                      </a:endParaRPr>
                    </a:p>
                  </a:txBody>
                  <a:tcPr marL="41471" marR="41471"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6.9523</a:t>
                      </a:r>
                      <a:endParaRPr lang="en-US" sz="1800">
                        <a:effectLst/>
                        <a:latin typeface="Times New Roman" pitchFamily="18" charset="0"/>
                        <a:ea typeface="Calibri"/>
                        <a:cs typeface="Times New Roman" pitchFamily="18" charset="0"/>
                      </a:endParaRPr>
                    </a:p>
                  </a:txBody>
                  <a:tcPr marL="41471" marR="41471"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6.0729</a:t>
                      </a:r>
                      <a:endParaRPr lang="en-US" sz="1800">
                        <a:effectLst/>
                        <a:latin typeface="Times New Roman" pitchFamily="18" charset="0"/>
                        <a:ea typeface="Calibri"/>
                        <a:cs typeface="Times New Roman" pitchFamily="18" charset="0"/>
                      </a:endParaRPr>
                    </a:p>
                  </a:txBody>
                  <a:tcPr marL="41471" marR="41471" marT="0" marB="0"/>
                </a:tc>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5.3215</a:t>
                      </a:r>
                      <a:endParaRPr lang="en-US" sz="1800" dirty="0">
                        <a:effectLst/>
                        <a:latin typeface="Times New Roman" pitchFamily="18" charset="0"/>
                        <a:ea typeface="Calibri"/>
                        <a:cs typeface="Times New Roman" pitchFamily="18" charset="0"/>
                      </a:endParaRPr>
                    </a:p>
                  </a:txBody>
                  <a:tcPr marL="41471" marR="41471" marT="0" marB="0"/>
                </a:tc>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6.7695</a:t>
                      </a:r>
                      <a:endParaRPr lang="en-US" sz="1800" dirty="0">
                        <a:effectLst/>
                        <a:latin typeface="Times New Roman" pitchFamily="18" charset="0"/>
                        <a:ea typeface="Calibri"/>
                        <a:cs typeface="Times New Roman" pitchFamily="18" charset="0"/>
                      </a:endParaRPr>
                    </a:p>
                  </a:txBody>
                  <a:tcPr marL="41471" marR="41471" marT="0" marB="0"/>
                </a:tc>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5.4407</a:t>
                      </a:r>
                      <a:endParaRPr lang="en-US" sz="1800" dirty="0">
                        <a:effectLst/>
                        <a:latin typeface="Times New Roman" pitchFamily="18" charset="0"/>
                        <a:ea typeface="Calibri"/>
                        <a:cs typeface="Times New Roman" pitchFamily="18" charset="0"/>
                      </a:endParaRPr>
                    </a:p>
                  </a:txBody>
                  <a:tcPr marL="41471" marR="41471" marT="0" marB="0"/>
                </a:tc>
              </a:tr>
            </a:tbl>
          </a:graphicData>
        </a:graphic>
      </p:graphicFrame>
      <p:pic>
        <p:nvPicPr>
          <p:cNvPr id="11265" name="Picture 1"/>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0" y="3286124"/>
            <a:ext cx="6143636" cy="357187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6" name="Slide Number Placeholder 5"/>
          <p:cNvSpPr>
            <a:spLocks noGrp="1"/>
          </p:cNvSpPr>
          <p:nvPr>
            <p:ph type="sldNum" sz="quarter" idx="11"/>
          </p:nvPr>
        </p:nvSpPr>
        <p:spPr/>
        <p:txBody>
          <a:bodyPr/>
          <a:lstStyle/>
          <a:p>
            <a:fld id="{C2C1A6A0-3F2F-4BAF-B319-837518E4456F}" type="slidenum">
              <a:rPr lang="en-US" smtClean="0"/>
              <a:pPr/>
              <a:t>51</a:t>
            </a:fld>
            <a:endParaRPr lang="en-US"/>
          </a:p>
        </p:txBody>
      </p:sp>
    </p:spTree>
    <p:extLst>
      <p:ext uri="{BB962C8B-B14F-4D97-AF65-F5344CB8AC3E}">
        <p14:creationId xmlns:p14="http://schemas.microsoft.com/office/powerpoint/2010/main" xmlns="" val="660572119"/>
      </p:ext>
    </p:extLst>
  </p:cSld>
  <p:clrMapOvr>
    <a:masterClrMapping/>
  </p:clrMapOvr>
  <p:transition>
    <p:strips dir="ld"/>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11" y="1714488"/>
            <a:ext cx="2286017" cy="1943112"/>
          </a:xfrm>
        </p:spPr>
        <p:txBody>
          <a:bodyPr>
            <a:noAutofit/>
          </a:bodyPr>
          <a:lstStyle/>
          <a:p>
            <a:r>
              <a:rPr lang="en-US" sz="2800" b="1" dirty="0" smtClean="0">
                <a:solidFill>
                  <a:schemeClr val="tx1"/>
                </a:solidFill>
              </a:rPr>
              <a:t>Dielectric Constant for 10% Moisture content</a:t>
            </a:r>
            <a:endParaRPr lang="en-US" sz="2800" b="1" dirty="0">
              <a:solidFill>
                <a:schemeClr val="tx1"/>
              </a:solidFill>
            </a:endParaRPr>
          </a:p>
        </p:txBody>
      </p:sp>
      <p:graphicFrame>
        <p:nvGraphicFramePr>
          <p:cNvPr id="5" name="Picture Placeholder 4"/>
          <p:cNvGraphicFramePr>
            <a:graphicFrameLocks noGrp="1"/>
          </p:cNvGraphicFramePr>
          <p:nvPr>
            <p:ph type="pic" idx="1"/>
            <p:extLst>
              <p:ext uri="{D42A27DB-BD31-4B8C-83A1-F6EECF244321}">
                <p14:modId xmlns:p14="http://schemas.microsoft.com/office/powerpoint/2010/main" xmlns="" val="3163847734"/>
              </p:ext>
            </p:extLst>
          </p:nvPr>
        </p:nvGraphicFramePr>
        <p:xfrm>
          <a:off x="0" y="2"/>
          <a:ext cx="6143636" cy="3233668"/>
        </p:xfrm>
        <a:graphic>
          <a:graphicData uri="http://schemas.openxmlformats.org/drawingml/2006/table">
            <a:tbl>
              <a:tblPr firstRow="1" firstCol="1" bandRow="1">
                <a:tableStyleId>{5C22544A-7EE6-4342-B048-85BDC9FD1C3A}</a:tableStyleId>
              </a:tblPr>
              <a:tblGrid>
                <a:gridCol w="1712265"/>
                <a:gridCol w="1053329"/>
                <a:gridCol w="885867"/>
                <a:gridCol w="885867"/>
                <a:gridCol w="803154"/>
                <a:gridCol w="803154"/>
              </a:tblGrid>
              <a:tr h="713492">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Frequencies/samples</a:t>
                      </a:r>
                      <a:endParaRPr lang="en-US" sz="1800" dirty="0">
                        <a:effectLst/>
                        <a:latin typeface="Times New Roman" pitchFamily="18" charset="0"/>
                        <a:ea typeface="Calibri"/>
                        <a:cs typeface="Times New Roman" pitchFamily="18" charset="0"/>
                      </a:endParaRPr>
                    </a:p>
                  </a:txBody>
                  <a:tcPr marL="40364" marR="40364"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Wheat</a:t>
                      </a:r>
                      <a:endParaRPr lang="en-US" sz="1800">
                        <a:effectLst/>
                        <a:latin typeface="Times New Roman" pitchFamily="18" charset="0"/>
                        <a:ea typeface="Calibri"/>
                        <a:cs typeface="Times New Roman" pitchFamily="18" charset="0"/>
                      </a:endParaRPr>
                    </a:p>
                  </a:txBody>
                  <a:tcPr marL="40364" marR="40364"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Rice</a:t>
                      </a:r>
                      <a:endParaRPr lang="en-US" sz="1800">
                        <a:effectLst/>
                        <a:latin typeface="Times New Roman" pitchFamily="18" charset="0"/>
                        <a:ea typeface="Calibri"/>
                        <a:cs typeface="Times New Roman" pitchFamily="18" charset="0"/>
                      </a:endParaRPr>
                    </a:p>
                  </a:txBody>
                  <a:tcPr marL="40364" marR="40364"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Arhar</a:t>
                      </a:r>
                      <a:endParaRPr lang="en-US" sz="1800">
                        <a:effectLst/>
                        <a:latin typeface="Times New Roman" pitchFamily="18" charset="0"/>
                        <a:ea typeface="Calibri"/>
                        <a:cs typeface="Times New Roman" pitchFamily="18" charset="0"/>
                      </a:endParaRPr>
                    </a:p>
                  </a:txBody>
                  <a:tcPr marL="40364" marR="40364"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Chana</a:t>
                      </a:r>
                      <a:endParaRPr lang="en-US" sz="1800">
                        <a:effectLst/>
                        <a:latin typeface="Times New Roman" pitchFamily="18" charset="0"/>
                        <a:ea typeface="Calibri"/>
                        <a:cs typeface="Times New Roman" pitchFamily="18" charset="0"/>
                      </a:endParaRPr>
                    </a:p>
                  </a:txBody>
                  <a:tcPr marL="40364" marR="40364" marT="0" marB="0"/>
                </a:tc>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Moong</a:t>
                      </a:r>
                      <a:endParaRPr lang="en-US" sz="1800" dirty="0">
                        <a:effectLst/>
                        <a:latin typeface="Times New Roman" pitchFamily="18" charset="0"/>
                        <a:ea typeface="Calibri"/>
                        <a:cs typeface="Times New Roman" pitchFamily="18" charset="0"/>
                      </a:endParaRPr>
                    </a:p>
                  </a:txBody>
                  <a:tcPr marL="40364" marR="40364" marT="0" marB="0"/>
                </a:tc>
              </a:tr>
              <a:tr h="602677">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5.30 GHz</a:t>
                      </a:r>
                      <a:endParaRPr lang="en-US" sz="1800" dirty="0">
                        <a:effectLst/>
                        <a:latin typeface="Times New Roman" pitchFamily="18" charset="0"/>
                        <a:ea typeface="Calibri"/>
                        <a:cs typeface="Times New Roman" pitchFamily="18" charset="0"/>
                      </a:endParaRPr>
                    </a:p>
                  </a:txBody>
                  <a:tcPr marL="40364" marR="40364" marT="0" marB="0"/>
                </a:tc>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10.1261</a:t>
                      </a:r>
                      <a:endParaRPr lang="en-US" sz="1800" dirty="0">
                        <a:effectLst/>
                        <a:latin typeface="Times New Roman" pitchFamily="18" charset="0"/>
                        <a:ea typeface="Calibri"/>
                        <a:cs typeface="Times New Roman" pitchFamily="18" charset="0"/>
                      </a:endParaRPr>
                    </a:p>
                  </a:txBody>
                  <a:tcPr marL="40364" marR="40364" marT="0" marB="0"/>
                </a:tc>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9.8401</a:t>
                      </a:r>
                      <a:endParaRPr lang="en-US" sz="1800" dirty="0">
                        <a:effectLst/>
                        <a:latin typeface="Times New Roman" pitchFamily="18" charset="0"/>
                        <a:ea typeface="Calibri"/>
                        <a:cs typeface="Times New Roman" pitchFamily="18" charset="0"/>
                      </a:endParaRPr>
                    </a:p>
                  </a:txBody>
                  <a:tcPr marL="40364" marR="40364"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9.8815</a:t>
                      </a:r>
                      <a:endParaRPr lang="en-US" sz="1800">
                        <a:effectLst/>
                        <a:latin typeface="Times New Roman" pitchFamily="18" charset="0"/>
                        <a:ea typeface="Calibri"/>
                        <a:cs typeface="Times New Roman" pitchFamily="18" charset="0"/>
                      </a:endParaRPr>
                    </a:p>
                  </a:txBody>
                  <a:tcPr marL="40364" marR="40364"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9.9625</a:t>
                      </a:r>
                      <a:endParaRPr lang="en-US" sz="1800">
                        <a:effectLst/>
                        <a:latin typeface="Times New Roman" pitchFamily="18" charset="0"/>
                        <a:ea typeface="Calibri"/>
                        <a:cs typeface="Times New Roman" pitchFamily="18" charset="0"/>
                      </a:endParaRPr>
                    </a:p>
                  </a:txBody>
                  <a:tcPr marL="40364" marR="40364"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9.8091</a:t>
                      </a:r>
                      <a:endParaRPr lang="en-US" sz="1800">
                        <a:effectLst/>
                        <a:latin typeface="Times New Roman" pitchFamily="18" charset="0"/>
                        <a:ea typeface="Calibri"/>
                        <a:cs typeface="Times New Roman" pitchFamily="18" charset="0"/>
                      </a:endParaRPr>
                    </a:p>
                  </a:txBody>
                  <a:tcPr marL="40364" marR="40364" marT="0" marB="0"/>
                </a:tc>
              </a:tr>
              <a:tr h="602677">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6.60 GHz</a:t>
                      </a:r>
                      <a:endParaRPr lang="en-US" sz="1800">
                        <a:effectLst/>
                        <a:latin typeface="Times New Roman" pitchFamily="18" charset="0"/>
                        <a:ea typeface="Calibri"/>
                        <a:cs typeface="Times New Roman" pitchFamily="18" charset="0"/>
                      </a:endParaRPr>
                    </a:p>
                  </a:txBody>
                  <a:tcPr marL="40364" marR="40364" marT="0" marB="0"/>
                </a:tc>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10.0115</a:t>
                      </a:r>
                      <a:endParaRPr lang="en-US" sz="1800" dirty="0">
                        <a:effectLst/>
                        <a:latin typeface="Times New Roman" pitchFamily="18" charset="0"/>
                        <a:ea typeface="Calibri"/>
                        <a:cs typeface="Times New Roman" pitchFamily="18" charset="0"/>
                      </a:endParaRPr>
                    </a:p>
                  </a:txBody>
                  <a:tcPr marL="40364" marR="40364" marT="0" marB="0"/>
                </a:tc>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9.9737</a:t>
                      </a:r>
                      <a:endParaRPr lang="en-US" sz="1800" dirty="0">
                        <a:effectLst/>
                        <a:latin typeface="Times New Roman" pitchFamily="18" charset="0"/>
                        <a:ea typeface="Calibri"/>
                        <a:cs typeface="Times New Roman" pitchFamily="18" charset="0"/>
                      </a:endParaRPr>
                    </a:p>
                  </a:txBody>
                  <a:tcPr marL="40364" marR="40364"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9.7513</a:t>
                      </a:r>
                      <a:endParaRPr lang="en-US" sz="1800">
                        <a:effectLst/>
                        <a:latin typeface="Times New Roman" pitchFamily="18" charset="0"/>
                        <a:ea typeface="Calibri"/>
                        <a:cs typeface="Times New Roman" pitchFamily="18" charset="0"/>
                      </a:endParaRPr>
                    </a:p>
                  </a:txBody>
                  <a:tcPr marL="40364" marR="40364"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9.988</a:t>
                      </a:r>
                      <a:endParaRPr lang="en-US" sz="1800">
                        <a:effectLst/>
                        <a:latin typeface="Times New Roman" pitchFamily="18" charset="0"/>
                        <a:ea typeface="Calibri"/>
                        <a:cs typeface="Times New Roman" pitchFamily="18" charset="0"/>
                      </a:endParaRPr>
                    </a:p>
                  </a:txBody>
                  <a:tcPr marL="40364" marR="40364"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9.5967</a:t>
                      </a:r>
                      <a:endParaRPr lang="en-US" sz="1800">
                        <a:effectLst/>
                        <a:latin typeface="Times New Roman" pitchFamily="18" charset="0"/>
                        <a:ea typeface="Calibri"/>
                        <a:cs typeface="Times New Roman" pitchFamily="18" charset="0"/>
                      </a:endParaRPr>
                    </a:p>
                  </a:txBody>
                  <a:tcPr marL="40364" marR="40364" marT="0" marB="0"/>
                </a:tc>
              </a:tr>
              <a:tr h="602677">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10.65 GHz</a:t>
                      </a:r>
                      <a:endParaRPr lang="en-US" sz="1800">
                        <a:effectLst/>
                        <a:latin typeface="Times New Roman" pitchFamily="18" charset="0"/>
                        <a:ea typeface="Calibri"/>
                        <a:cs typeface="Times New Roman" pitchFamily="18" charset="0"/>
                      </a:endParaRPr>
                    </a:p>
                  </a:txBody>
                  <a:tcPr marL="40364" marR="40364" marT="0" marB="0"/>
                </a:tc>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7.02804</a:t>
                      </a:r>
                      <a:endParaRPr lang="en-US" sz="1800" dirty="0">
                        <a:effectLst/>
                        <a:latin typeface="Times New Roman" pitchFamily="18" charset="0"/>
                        <a:ea typeface="Calibri"/>
                        <a:cs typeface="Times New Roman" pitchFamily="18" charset="0"/>
                      </a:endParaRPr>
                    </a:p>
                  </a:txBody>
                  <a:tcPr marL="40364" marR="40364" marT="0" marB="0"/>
                </a:tc>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7.1579</a:t>
                      </a:r>
                      <a:endParaRPr lang="en-US" sz="1800" dirty="0">
                        <a:effectLst/>
                        <a:latin typeface="Times New Roman" pitchFamily="18" charset="0"/>
                        <a:ea typeface="Calibri"/>
                        <a:cs typeface="Times New Roman" pitchFamily="18" charset="0"/>
                      </a:endParaRPr>
                    </a:p>
                  </a:txBody>
                  <a:tcPr marL="40364" marR="40364" marT="0" marB="0"/>
                </a:tc>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6.8751</a:t>
                      </a:r>
                      <a:endParaRPr lang="en-US" sz="1800" dirty="0">
                        <a:effectLst/>
                        <a:latin typeface="Times New Roman" pitchFamily="18" charset="0"/>
                        <a:ea typeface="Calibri"/>
                        <a:cs typeface="Times New Roman" pitchFamily="18" charset="0"/>
                      </a:endParaRPr>
                    </a:p>
                  </a:txBody>
                  <a:tcPr marL="40364" marR="40364"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7.2216</a:t>
                      </a:r>
                      <a:endParaRPr lang="en-US" sz="1800">
                        <a:effectLst/>
                        <a:latin typeface="Times New Roman" pitchFamily="18" charset="0"/>
                        <a:ea typeface="Calibri"/>
                        <a:cs typeface="Times New Roman" pitchFamily="18" charset="0"/>
                      </a:endParaRPr>
                    </a:p>
                  </a:txBody>
                  <a:tcPr marL="40364" marR="40364"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6.9611</a:t>
                      </a:r>
                      <a:endParaRPr lang="en-US" sz="1800">
                        <a:effectLst/>
                        <a:latin typeface="Times New Roman" pitchFamily="18" charset="0"/>
                        <a:ea typeface="Calibri"/>
                        <a:cs typeface="Times New Roman" pitchFamily="18" charset="0"/>
                      </a:endParaRPr>
                    </a:p>
                  </a:txBody>
                  <a:tcPr marL="40364" marR="40364" marT="0" marB="0"/>
                </a:tc>
              </a:tr>
              <a:tr h="602677">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13.00 GHz</a:t>
                      </a:r>
                      <a:endParaRPr lang="en-US" sz="1800">
                        <a:effectLst/>
                        <a:latin typeface="Times New Roman" pitchFamily="18" charset="0"/>
                        <a:ea typeface="Calibri"/>
                        <a:cs typeface="Times New Roman" pitchFamily="18" charset="0"/>
                      </a:endParaRPr>
                    </a:p>
                  </a:txBody>
                  <a:tcPr marL="40364" marR="40364"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5.0215</a:t>
                      </a:r>
                      <a:endParaRPr lang="en-US" sz="1800">
                        <a:effectLst/>
                        <a:latin typeface="Times New Roman" pitchFamily="18" charset="0"/>
                        <a:ea typeface="Calibri"/>
                        <a:cs typeface="Times New Roman" pitchFamily="18" charset="0"/>
                      </a:endParaRPr>
                    </a:p>
                  </a:txBody>
                  <a:tcPr marL="40364" marR="40364"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5.162</a:t>
                      </a:r>
                      <a:endParaRPr lang="en-US" sz="1800">
                        <a:effectLst/>
                        <a:latin typeface="Times New Roman" pitchFamily="18" charset="0"/>
                        <a:ea typeface="Calibri"/>
                        <a:cs typeface="Times New Roman" pitchFamily="18" charset="0"/>
                      </a:endParaRPr>
                    </a:p>
                  </a:txBody>
                  <a:tcPr marL="40364" marR="40364" marT="0" marB="0"/>
                </a:tc>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4.6231</a:t>
                      </a:r>
                      <a:endParaRPr lang="en-US" sz="1800" dirty="0">
                        <a:effectLst/>
                        <a:latin typeface="Times New Roman" pitchFamily="18" charset="0"/>
                        <a:ea typeface="Calibri"/>
                        <a:cs typeface="Times New Roman" pitchFamily="18" charset="0"/>
                      </a:endParaRPr>
                    </a:p>
                  </a:txBody>
                  <a:tcPr marL="40364" marR="40364" marT="0" marB="0"/>
                </a:tc>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6.2963</a:t>
                      </a:r>
                      <a:endParaRPr lang="en-US" sz="1800" dirty="0">
                        <a:effectLst/>
                        <a:latin typeface="Times New Roman" pitchFamily="18" charset="0"/>
                        <a:ea typeface="Calibri"/>
                        <a:cs typeface="Times New Roman" pitchFamily="18" charset="0"/>
                      </a:endParaRPr>
                    </a:p>
                  </a:txBody>
                  <a:tcPr marL="40364" marR="40364" marT="0" marB="0"/>
                </a:tc>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4.5621</a:t>
                      </a:r>
                      <a:endParaRPr lang="en-US" sz="1800" dirty="0">
                        <a:effectLst/>
                        <a:latin typeface="Times New Roman" pitchFamily="18" charset="0"/>
                        <a:ea typeface="Calibri"/>
                        <a:cs typeface="Times New Roman" pitchFamily="18" charset="0"/>
                      </a:endParaRPr>
                    </a:p>
                  </a:txBody>
                  <a:tcPr marL="40364" marR="40364" marT="0" marB="0"/>
                </a:tc>
              </a:tr>
            </a:tbl>
          </a:graphicData>
        </a:graphic>
      </p:graphicFrame>
      <p:pic>
        <p:nvPicPr>
          <p:cNvPr id="12289" name="Picture 1"/>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0" y="3200400"/>
            <a:ext cx="6215074" cy="3657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6" name="Slide Number Placeholder 5"/>
          <p:cNvSpPr>
            <a:spLocks noGrp="1"/>
          </p:cNvSpPr>
          <p:nvPr>
            <p:ph type="sldNum" sz="quarter" idx="11"/>
          </p:nvPr>
        </p:nvSpPr>
        <p:spPr/>
        <p:txBody>
          <a:bodyPr/>
          <a:lstStyle/>
          <a:p>
            <a:fld id="{C2C1A6A0-3F2F-4BAF-B319-837518E4456F}" type="slidenum">
              <a:rPr lang="en-US" smtClean="0"/>
              <a:pPr/>
              <a:t>52</a:t>
            </a:fld>
            <a:endParaRPr lang="en-US"/>
          </a:p>
        </p:txBody>
      </p:sp>
    </p:spTree>
    <p:extLst>
      <p:ext uri="{BB962C8B-B14F-4D97-AF65-F5344CB8AC3E}">
        <p14:creationId xmlns:p14="http://schemas.microsoft.com/office/powerpoint/2010/main" xmlns="" val="4236247122"/>
      </p:ext>
    </p:extLst>
  </p:cSld>
  <p:clrMapOvr>
    <a:masterClrMapping/>
  </p:clrMapOvr>
  <p:transition>
    <p:strips dir="ru"/>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286512" y="1142984"/>
            <a:ext cx="2357454" cy="2514616"/>
          </a:xfrm>
        </p:spPr>
        <p:txBody>
          <a:bodyPr>
            <a:noAutofit/>
          </a:bodyPr>
          <a:lstStyle/>
          <a:p>
            <a:r>
              <a:rPr lang="en-US" sz="2800" b="1" dirty="0" smtClean="0">
                <a:solidFill>
                  <a:schemeClr val="tx1"/>
                </a:solidFill>
              </a:rPr>
              <a:t>Dielectric Constant for 5% Moisture Content</a:t>
            </a:r>
            <a:endParaRPr lang="en-US" sz="2800" b="1" dirty="0">
              <a:solidFill>
                <a:schemeClr val="tx1"/>
              </a:solidFill>
            </a:endParaRPr>
          </a:p>
        </p:txBody>
      </p:sp>
      <p:graphicFrame>
        <p:nvGraphicFramePr>
          <p:cNvPr id="5" name="Content Placeholder 4"/>
          <p:cNvGraphicFramePr>
            <a:graphicFrameLocks noGrp="1"/>
          </p:cNvGraphicFramePr>
          <p:nvPr>
            <p:ph sz="quarter" idx="1"/>
            <p:extLst>
              <p:ext uri="{D42A27DB-BD31-4B8C-83A1-F6EECF244321}">
                <p14:modId xmlns:p14="http://schemas.microsoft.com/office/powerpoint/2010/main" xmlns="" val="2623712055"/>
              </p:ext>
            </p:extLst>
          </p:nvPr>
        </p:nvGraphicFramePr>
        <p:xfrm>
          <a:off x="-2" y="0"/>
          <a:ext cx="6143638" cy="3069104"/>
        </p:xfrm>
        <a:graphic>
          <a:graphicData uri="http://schemas.openxmlformats.org/drawingml/2006/table">
            <a:tbl>
              <a:tblPr firstRow="1" firstCol="1" bandRow="1">
                <a:tableStyleId>{5C22544A-7EE6-4342-B048-85BDC9FD1C3A}</a:tableStyleId>
              </a:tblPr>
              <a:tblGrid>
                <a:gridCol w="1634760"/>
                <a:gridCol w="943134"/>
                <a:gridCol w="943134"/>
                <a:gridCol w="943134"/>
                <a:gridCol w="880258"/>
                <a:gridCol w="799218"/>
              </a:tblGrid>
              <a:tr h="801854">
                <a:tc>
                  <a:txBody>
                    <a:bodyPr/>
                    <a:lstStyle/>
                    <a:p>
                      <a:pPr marL="0" marR="0">
                        <a:lnSpc>
                          <a:spcPct val="150000"/>
                        </a:lnSpc>
                        <a:spcBef>
                          <a:spcPts val="0"/>
                        </a:spcBef>
                        <a:spcAft>
                          <a:spcPts val="0"/>
                        </a:spcAft>
                      </a:pPr>
                      <a:r>
                        <a:rPr lang="en-US" sz="1800" dirty="0">
                          <a:effectLst/>
                          <a:latin typeface="Times New Roman" pitchFamily="18" charset="0"/>
                          <a:cs typeface="Times New Roman" pitchFamily="18" charset="0"/>
                        </a:rPr>
                        <a:t>Frequencies/samples</a:t>
                      </a:r>
                      <a:endParaRPr lang="en-US" sz="1800" dirty="0">
                        <a:effectLst/>
                        <a:latin typeface="Times New Roman" pitchFamily="18" charset="0"/>
                        <a:ea typeface="Calibri"/>
                        <a:cs typeface="Times New Roman" pitchFamily="18" charset="0"/>
                      </a:endParaRPr>
                    </a:p>
                  </a:txBody>
                  <a:tcPr marL="37959" marR="37959" marT="0" marB="0"/>
                </a:tc>
                <a:tc>
                  <a:txBody>
                    <a:bodyPr/>
                    <a:lstStyle/>
                    <a:p>
                      <a:pPr marL="0" marR="0">
                        <a:lnSpc>
                          <a:spcPct val="150000"/>
                        </a:lnSpc>
                        <a:spcBef>
                          <a:spcPts val="0"/>
                        </a:spcBef>
                        <a:spcAft>
                          <a:spcPts val="0"/>
                        </a:spcAft>
                      </a:pPr>
                      <a:r>
                        <a:rPr lang="en-US" sz="1800">
                          <a:effectLst/>
                          <a:latin typeface="Times New Roman" pitchFamily="18" charset="0"/>
                          <a:cs typeface="Times New Roman" pitchFamily="18" charset="0"/>
                        </a:rPr>
                        <a:t>Wheat</a:t>
                      </a:r>
                      <a:endParaRPr lang="en-US" sz="1800">
                        <a:effectLst/>
                        <a:latin typeface="Times New Roman" pitchFamily="18" charset="0"/>
                        <a:ea typeface="Calibri"/>
                        <a:cs typeface="Times New Roman" pitchFamily="18" charset="0"/>
                      </a:endParaRPr>
                    </a:p>
                  </a:txBody>
                  <a:tcPr marL="37959" marR="37959" marT="0" marB="0"/>
                </a:tc>
                <a:tc>
                  <a:txBody>
                    <a:bodyPr/>
                    <a:lstStyle/>
                    <a:p>
                      <a:pPr marL="0" marR="0">
                        <a:lnSpc>
                          <a:spcPct val="150000"/>
                        </a:lnSpc>
                        <a:spcBef>
                          <a:spcPts val="0"/>
                        </a:spcBef>
                        <a:spcAft>
                          <a:spcPts val="0"/>
                        </a:spcAft>
                      </a:pPr>
                      <a:r>
                        <a:rPr lang="en-US" sz="1800">
                          <a:effectLst/>
                          <a:latin typeface="Times New Roman" pitchFamily="18" charset="0"/>
                          <a:cs typeface="Times New Roman" pitchFamily="18" charset="0"/>
                        </a:rPr>
                        <a:t>Rice</a:t>
                      </a:r>
                      <a:endParaRPr lang="en-US" sz="1800">
                        <a:effectLst/>
                        <a:latin typeface="Times New Roman" pitchFamily="18" charset="0"/>
                        <a:ea typeface="Calibri"/>
                        <a:cs typeface="Times New Roman" pitchFamily="18" charset="0"/>
                      </a:endParaRPr>
                    </a:p>
                  </a:txBody>
                  <a:tcPr marL="37959" marR="37959" marT="0" marB="0"/>
                </a:tc>
                <a:tc>
                  <a:txBody>
                    <a:bodyPr/>
                    <a:lstStyle/>
                    <a:p>
                      <a:pPr marL="0" marR="0">
                        <a:lnSpc>
                          <a:spcPct val="150000"/>
                        </a:lnSpc>
                        <a:spcBef>
                          <a:spcPts val="0"/>
                        </a:spcBef>
                        <a:spcAft>
                          <a:spcPts val="0"/>
                        </a:spcAft>
                      </a:pPr>
                      <a:r>
                        <a:rPr lang="en-US" sz="1800">
                          <a:effectLst/>
                          <a:latin typeface="Times New Roman" pitchFamily="18" charset="0"/>
                          <a:cs typeface="Times New Roman" pitchFamily="18" charset="0"/>
                        </a:rPr>
                        <a:t>Arhar</a:t>
                      </a:r>
                      <a:endParaRPr lang="en-US" sz="1800">
                        <a:effectLst/>
                        <a:latin typeface="Times New Roman" pitchFamily="18" charset="0"/>
                        <a:ea typeface="Calibri"/>
                        <a:cs typeface="Times New Roman" pitchFamily="18" charset="0"/>
                      </a:endParaRPr>
                    </a:p>
                  </a:txBody>
                  <a:tcPr marL="37959" marR="37959" marT="0" marB="0"/>
                </a:tc>
                <a:tc>
                  <a:txBody>
                    <a:bodyPr/>
                    <a:lstStyle/>
                    <a:p>
                      <a:pPr marL="0" marR="0">
                        <a:lnSpc>
                          <a:spcPct val="150000"/>
                        </a:lnSpc>
                        <a:spcBef>
                          <a:spcPts val="0"/>
                        </a:spcBef>
                        <a:spcAft>
                          <a:spcPts val="0"/>
                        </a:spcAft>
                      </a:pPr>
                      <a:r>
                        <a:rPr lang="en-US" sz="1800">
                          <a:effectLst/>
                          <a:latin typeface="Times New Roman" pitchFamily="18" charset="0"/>
                          <a:cs typeface="Times New Roman" pitchFamily="18" charset="0"/>
                        </a:rPr>
                        <a:t>Chana</a:t>
                      </a:r>
                      <a:endParaRPr lang="en-US" sz="1800">
                        <a:effectLst/>
                        <a:latin typeface="Times New Roman" pitchFamily="18" charset="0"/>
                        <a:ea typeface="Calibri"/>
                        <a:cs typeface="Times New Roman" pitchFamily="18" charset="0"/>
                      </a:endParaRPr>
                    </a:p>
                  </a:txBody>
                  <a:tcPr marL="37959" marR="37959" marT="0" marB="0"/>
                </a:tc>
                <a:tc>
                  <a:txBody>
                    <a:bodyPr/>
                    <a:lstStyle/>
                    <a:p>
                      <a:pPr marL="0" marR="0">
                        <a:lnSpc>
                          <a:spcPct val="150000"/>
                        </a:lnSpc>
                        <a:spcBef>
                          <a:spcPts val="0"/>
                        </a:spcBef>
                        <a:spcAft>
                          <a:spcPts val="0"/>
                        </a:spcAft>
                      </a:pPr>
                      <a:r>
                        <a:rPr lang="en-US" sz="1800" dirty="0">
                          <a:effectLst/>
                          <a:latin typeface="Times New Roman" pitchFamily="18" charset="0"/>
                          <a:cs typeface="Times New Roman" pitchFamily="18" charset="0"/>
                        </a:rPr>
                        <a:t>Moong</a:t>
                      </a:r>
                      <a:endParaRPr lang="en-US" sz="1800" dirty="0">
                        <a:effectLst/>
                        <a:latin typeface="Times New Roman" pitchFamily="18" charset="0"/>
                        <a:ea typeface="Calibri"/>
                        <a:cs typeface="Times New Roman" pitchFamily="18" charset="0"/>
                      </a:endParaRPr>
                    </a:p>
                  </a:txBody>
                  <a:tcPr marL="37959" marR="37959" marT="0" marB="0"/>
                </a:tc>
              </a:tr>
              <a:tr h="561536">
                <a:tc>
                  <a:txBody>
                    <a:bodyPr/>
                    <a:lstStyle/>
                    <a:p>
                      <a:pPr marL="0" marR="0">
                        <a:lnSpc>
                          <a:spcPct val="150000"/>
                        </a:lnSpc>
                        <a:spcBef>
                          <a:spcPts val="0"/>
                        </a:spcBef>
                        <a:spcAft>
                          <a:spcPts val="0"/>
                        </a:spcAft>
                      </a:pPr>
                      <a:r>
                        <a:rPr lang="en-US" sz="1800">
                          <a:effectLst/>
                          <a:latin typeface="Times New Roman" pitchFamily="18" charset="0"/>
                          <a:cs typeface="Times New Roman" pitchFamily="18" charset="0"/>
                        </a:rPr>
                        <a:t>5.30 GHz</a:t>
                      </a:r>
                      <a:endParaRPr lang="en-US" sz="1800">
                        <a:effectLst/>
                        <a:latin typeface="Times New Roman" pitchFamily="18" charset="0"/>
                        <a:ea typeface="Calibri"/>
                        <a:cs typeface="Times New Roman" pitchFamily="18" charset="0"/>
                      </a:endParaRPr>
                    </a:p>
                  </a:txBody>
                  <a:tcPr marL="37959" marR="37959" marT="0" marB="0"/>
                </a:tc>
                <a:tc>
                  <a:txBody>
                    <a:bodyPr/>
                    <a:lstStyle/>
                    <a:p>
                      <a:pPr marL="0" marR="0" algn="r">
                        <a:lnSpc>
                          <a:spcPct val="150000"/>
                        </a:lnSpc>
                        <a:spcBef>
                          <a:spcPts val="0"/>
                        </a:spcBef>
                        <a:spcAft>
                          <a:spcPts val="0"/>
                        </a:spcAft>
                      </a:pPr>
                      <a:r>
                        <a:rPr lang="en-US" sz="1800">
                          <a:effectLst/>
                          <a:latin typeface="Times New Roman" pitchFamily="18" charset="0"/>
                          <a:cs typeface="Times New Roman" pitchFamily="18" charset="0"/>
                        </a:rPr>
                        <a:t>9.8105</a:t>
                      </a:r>
                      <a:endParaRPr lang="en-US" sz="1800">
                        <a:effectLst/>
                        <a:latin typeface="Times New Roman" pitchFamily="18" charset="0"/>
                        <a:ea typeface="Calibri"/>
                        <a:cs typeface="Times New Roman" pitchFamily="18" charset="0"/>
                      </a:endParaRPr>
                    </a:p>
                  </a:txBody>
                  <a:tcPr marL="37959" marR="37959" marT="0" marB="0"/>
                </a:tc>
                <a:tc>
                  <a:txBody>
                    <a:bodyPr/>
                    <a:lstStyle/>
                    <a:p>
                      <a:pPr marL="0" marR="0" algn="r">
                        <a:lnSpc>
                          <a:spcPct val="150000"/>
                        </a:lnSpc>
                        <a:spcBef>
                          <a:spcPts val="0"/>
                        </a:spcBef>
                        <a:spcAft>
                          <a:spcPts val="0"/>
                        </a:spcAft>
                      </a:pPr>
                      <a:r>
                        <a:rPr lang="en-US" sz="1800">
                          <a:effectLst/>
                          <a:latin typeface="Times New Roman" pitchFamily="18" charset="0"/>
                          <a:cs typeface="Times New Roman" pitchFamily="18" charset="0"/>
                        </a:rPr>
                        <a:t>9.1456</a:t>
                      </a:r>
                      <a:endParaRPr lang="en-US" sz="1800">
                        <a:effectLst/>
                        <a:latin typeface="Times New Roman" pitchFamily="18" charset="0"/>
                        <a:ea typeface="Calibri"/>
                        <a:cs typeface="Times New Roman" pitchFamily="18" charset="0"/>
                      </a:endParaRPr>
                    </a:p>
                  </a:txBody>
                  <a:tcPr marL="37959" marR="37959" marT="0" marB="0"/>
                </a:tc>
                <a:tc>
                  <a:txBody>
                    <a:bodyPr/>
                    <a:lstStyle/>
                    <a:p>
                      <a:pPr marL="0" marR="0" algn="r">
                        <a:lnSpc>
                          <a:spcPct val="150000"/>
                        </a:lnSpc>
                        <a:spcBef>
                          <a:spcPts val="0"/>
                        </a:spcBef>
                        <a:spcAft>
                          <a:spcPts val="0"/>
                        </a:spcAft>
                      </a:pPr>
                      <a:r>
                        <a:rPr lang="en-US" sz="1800">
                          <a:effectLst/>
                          <a:latin typeface="Times New Roman" pitchFamily="18" charset="0"/>
                          <a:cs typeface="Times New Roman" pitchFamily="18" charset="0"/>
                        </a:rPr>
                        <a:t>9.5325</a:t>
                      </a:r>
                      <a:endParaRPr lang="en-US" sz="1800">
                        <a:effectLst/>
                        <a:latin typeface="Times New Roman" pitchFamily="18" charset="0"/>
                        <a:ea typeface="Calibri"/>
                        <a:cs typeface="Times New Roman" pitchFamily="18" charset="0"/>
                      </a:endParaRPr>
                    </a:p>
                  </a:txBody>
                  <a:tcPr marL="37959" marR="37959" marT="0" marB="0"/>
                </a:tc>
                <a:tc>
                  <a:txBody>
                    <a:bodyPr/>
                    <a:lstStyle/>
                    <a:p>
                      <a:pPr marL="0" marR="0" algn="r">
                        <a:lnSpc>
                          <a:spcPct val="150000"/>
                        </a:lnSpc>
                        <a:spcBef>
                          <a:spcPts val="0"/>
                        </a:spcBef>
                        <a:spcAft>
                          <a:spcPts val="0"/>
                        </a:spcAft>
                      </a:pPr>
                      <a:r>
                        <a:rPr lang="en-US" sz="1800">
                          <a:effectLst/>
                          <a:latin typeface="Times New Roman" pitchFamily="18" charset="0"/>
                          <a:cs typeface="Times New Roman" pitchFamily="18" charset="0"/>
                        </a:rPr>
                        <a:t>9.5119</a:t>
                      </a:r>
                      <a:endParaRPr lang="en-US" sz="1800">
                        <a:effectLst/>
                        <a:latin typeface="Times New Roman" pitchFamily="18" charset="0"/>
                        <a:ea typeface="Calibri"/>
                        <a:cs typeface="Times New Roman" pitchFamily="18" charset="0"/>
                      </a:endParaRPr>
                    </a:p>
                  </a:txBody>
                  <a:tcPr marL="37959" marR="37959" marT="0" marB="0"/>
                </a:tc>
                <a:tc>
                  <a:txBody>
                    <a:bodyPr/>
                    <a:lstStyle/>
                    <a:p>
                      <a:pPr marL="0" marR="0" algn="r">
                        <a:lnSpc>
                          <a:spcPct val="150000"/>
                        </a:lnSpc>
                        <a:spcBef>
                          <a:spcPts val="0"/>
                        </a:spcBef>
                        <a:spcAft>
                          <a:spcPts val="0"/>
                        </a:spcAft>
                      </a:pPr>
                      <a:r>
                        <a:rPr lang="en-US" sz="1800">
                          <a:effectLst/>
                          <a:latin typeface="Times New Roman" pitchFamily="18" charset="0"/>
                          <a:cs typeface="Times New Roman" pitchFamily="18" charset="0"/>
                        </a:rPr>
                        <a:t>9.0552</a:t>
                      </a:r>
                      <a:endParaRPr lang="en-US" sz="1800">
                        <a:effectLst/>
                        <a:latin typeface="Times New Roman" pitchFamily="18" charset="0"/>
                        <a:ea typeface="Calibri"/>
                        <a:cs typeface="Times New Roman" pitchFamily="18" charset="0"/>
                      </a:endParaRPr>
                    </a:p>
                  </a:txBody>
                  <a:tcPr marL="37959" marR="37959" marT="0" marB="0"/>
                </a:tc>
              </a:tr>
              <a:tr h="561536">
                <a:tc>
                  <a:txBody>
                    <a:bodyPr/>
                    <a:lstStyle/>
                    <a:p>
                      <a:pPr marL="0" marR="0">
                        <a:lnSpc>
                          <a:spcPct val="150000"/>
                        </a:lnSpc>
                        <a:spcBef>
                          <a:spcPts val="0"/>
                        </a:spcBef>
                        <a:spcAft>
                          <a:spcPts val="0"/>
                        </a:spcAft>
                      </a:pPr>
                      <a:r>
                        <a:rPr lang="en-US" sz="1800" dirty="0">
                          <a:effectLst/>
                          <a:latin typeface="Times New Roman" pitchFamily="18" charset="0"/>
                          <a:cs typeface="Times New Roman" pitchFamily="18" charset="0"/>
                        </a:rPr>
                        <a:t>6.6 GHz</a:t>
                      </a:r>
                      <a:endParaRPr lang="en-US" sz="1800" dirty="0">
                        <a:effectLst/>
                        <a:latin typeface="Times New Roman" pitchFamily="18" charset="0"/>
                        <a:ea typeface="Calibri"/>
                        <a:cs typeface="Times New Roman" pitchFamily="18" charset="0"/>
                      </a:endParaRPr>
                    </a:p>
                  </a:txBody>
                  <a:tcPr marL="37959" marR="37959" marT="0" marB="0"/>
                </a:tc>
                <a:tc>
                  <a:txBody>
                    <a:bodyPr/>
                    <a:lstStyle/>
                    <a:p>
                      <a:pPr marL="0" marR="0" algn="r">
                        <a:lnSpc>
                          <a:spcPct val="150000"/>
                        </a:lnSpc>
                        <a:spcBef>
                          <a:spcPts val="0"/>
                        </a:spcBef>
                        <a:spcAft>
                          <a:spcPts val="0"/>
                        </a:spcAft>
                      </a:pPr>
                      <a:r>
                        <a:rPr lang="en-US" sz="1800">
                          <a:effectLst/>
                          <a:latin typeface="Times New Roman" pitchFamily="18" charset="0"/>
                          <a:cs typeface="Times New Roman" pitchFamily="18" charset="0"/>
                        </a:rPr>
                        <a:t>9.862</a:t>
                      </a:r>
                      <a:endParaRPr lang="en-US" sz="1800">
                        <a:effectLst/>
                        <a:latin typeface="Times New Roman" pitchFamily="18" charset="0"/>
                        <a:ea typeface="Calibri"/>
                        <a:cs typeface="Times New Roman" pitchFamily="18" charset="0"/>
                      </a:endParaRPr>
                    </a:p>
                  </a:txBody>
                  <a:tcPr marL="37959" marR="37959" marT="0" marB="0"/>
                </a:tc>
                <a:tc>
                  <a:txBody>
                    <a:bodyPr/>
                    <a:lstStyle/>
                    <a:p>
                      <a:pPr marL="0" marR="0" algn="r">
                        <a:lnSpc>
                          <a:spcPct val="150000"/>
                        </a:lnSpc>
                        <a:spcBef>
                          <a:spcPts val="0"/>
                        </a:spcBef>
                        <a:spcAft>
                          <a:spcPts val="0"/>
                        </a:spcAft>
                      </a:pPr>
                      <a:r>
                        <a:rPr lang="en-US" sz="1800">
                          <a:effectLst/>
                          <a:latin typeface="Times New Roman" pitchFamily="18" charset="0"/>
                          <a:cs typeface="Times New Roman" pitchFamily="18" charset="0"/>
                        </a:rPr>
                        <a:t>8.9872</a:t>
                      </a:r>
                      <a:endParaRPr lang="en-US" sz="1800">
                        <a:effectLst/>
                        <a:latin typeface="Times New Roman" pitchFamily="18" charset="0"/>
                        <a:ea typeface="Calibri"/>
                        <a:cs typeface="Times New Roman" pitchFamily="18" charset="0"/>
                      </a:endParaRPr>
                    </a:p>
                  </a:txBody>
                  <a:tcPr marL="37959" marR="37959" marT="0" marB="0"/>
                </a:tc>
                <a:tc>
                  <a:txBody>
                    <a:bodyPr/>
                    <a:lstStyle/>
                    <a:p>
                      <a:pPr marL="0" marR="0" algn="r">
                        <a:lnSpc>
                          <a:spcPct val="150000"/>
                        </a:lnSpc>
                        <a:spcBef>
                          <a:spcPts val="0"/>
                        </a:spcBef>
                        <a:spcAft>
                          <a:spcPts val="0"/>
                        </a:spcAft>
                      </a:pPr>
                      <a:r>
                        <a:rPr lang="en-US" sz="1800">
                          <a:effectLst/>
                          <a:latin typeface="Times New Roman" pitchFamily="18" charset="0"/>
                          <a:cs typeface="Times New Roman" pitchFamily="18" charset="0"/>
                        </a:rPr>
                        <a:t>9.3705</a:t>
                      </a:r>
                      <a:endParaRPr lang="en-US" sz="1800">
                        <a:effectLst/>
                        <a:latin typeface="Times New Roman" pitchFamily="18" charset="0"/>
                        <a:ea typeface="Calibri"/>
                        <a:cs typeface="Times New Roman" pitchFamily="18" charset="0"/>
                      </a:endParaRPr>
                    </a:p>
                  </a:txBody>
                  <a:tcPr marL="37959" marR="37959" marT="0" marB="0"/>
                </a:tc>
                <a:tc>
                  <a:txBody>
                    <a:bodyPr/>
                    <a:lstStyle/>
                    <a:p>
                      <a:pPr marL="0" marR="0" algn="r">
                        <a:lnSpc>
                          <a:spcPct val="150000"/>
                        </a:lnSpc>
                        <a:spcBef>
                          <a:spcPts val="0"/>
                        </a:spcBef>
                        <a:spcAft>
                          <a:spcPts val="0"/>
                        </a:spcAft>
                      </a:pPr>
                      <a:r>
                        <a:rPr lang="en-US" sz="1800">
                          <a:effectLst/>
                          <a:latin typeface="Times New Roman" pitchFamily="18" charset="0"/>
                          <a:cs typeface="Times New Roman" pitchFamily="18" charset="0"/>
                        </a:rPr>
                        <a:t>9.4492</a:t>
                      </a:r>
                      <a:endParaRPr lang="en-US" sz="1800">
                        <a:effectLst/>
                        <a:latin typeface="Times New Roman" pitchFamily="18" charset="0"/>
                        <a:ea typeface="Calibri"/>
                        <a:cs typeface="Times New Roman" pitchFamily="18" charset="0"/>
                      </a:endParaRPr>
                    </a:p>
                  </a:txBody>
                  <a:tcPr marL="37959" marR="37959" marT="0" marB="0"/>
                </a:tc>
                <a:tc>
                  <a:txBody>
                    <a:bodyPr/>
                    <a:lstStyle/>
                    <a:p>
                      <a:pPr marL="0" marR="0" algn="r">
                        <a:lnSpc>
                          <a:spcPct val="150000"/>
                        </a:lnSpc>
                        <a:spcBef>
                          <a:spcPts val="0"/>
                        </a:spcBef>
                        <a:spcAft>
                          <a:spcPts val="0"/>
                        </a:spcAft>
                      </a:pPr>
                      <a:r>
                        <a:rPr lang="en-US" sz="1800">
                          <a:effectLst/>
                          <a:latin typeface="Times New Roman" pitchFamily="18" charset="0"/>
                          <a:cs typeface="Times New Roman" pitchFamily="18" charset="0"/>
                        </a:rPr>
                        <a:t>8.8903</a:t>
                      </a:r>
                      <a:endParaRPr lang="en-US" sz="1800">
                        <a:effectLst/>
                        <a:latin typeface="Times New Roman" pitchFamily="18" charset="0"/>
                        <a:ea typeface="Calibri"/>
                        <a:cs typeface="Times New Roman" pitchFamily="18" charset="0"/>
                      </a:endParaRPr>
                    </a:p>
                  </a:txBody>
                  <a:tcPr marL="37959" marR="37959" marT="0" marB="0"/>
                </a:tc>
              </a:tr>
              <a:tr h="561536">
                <a:tc>
                  <a:txBody>
                    <a:bodyPr/>
                    <a:lstStyle/>
                    <a:p>
                      <a:pPr marL="0" marR="0">
                        <a:lnSpc>
                          <a:spcPct val="150000"/>
                        </a:lnSpc>
                        <a:spcBef>
                          <a:spcPts val="0"/>
                        </a:spcBef>
                        <a:spcAft>
                          <a:spcPts val="0"/>
                        </a:spcAft>
                      </a:pPr>
                      <a:r>
                        <a:rPr lang="en-US" sz="1800">
                          <a:effectLst/>
                          <a:latin typeface="Times New Roman" pitchFamily="18" charset="0"/>
                          <a:cs typeface="Times New Roman" pitchFamily="18" charset="0"/>
                        </a:rPr>
                        <a:t>10.65 GHz</a:t>
                      </a:r>
                      <a:endParaRPr lang="en-US" sz="1800">
                        <a:effectLst/>
                        <a:latin typeface="Times New Roman" pitchFamily="18" charset="0"/>
                        <a:ea typeface="Calibri"/>
                        <a:cs typeface="Times New Roman" pitchFamily="18" charset="0"/>
                      </a:endParaRPr>
                    </a:p>
                  </a:txBody>
                  <a:tcPr marL="37959" marR="37959" marT="0" marB="0"/>
                </a:tc>
                <a:tc>
                  <a:txBody>
                    <a:bodyPr/>
                    <a:lstStyle/>
                    <a:p>
                      <a:pPr marL="0" marR="0" algn="r">
                        <a:lnSpc>
                          <a:spcPct val="150000"/>
                        </a:lnSpc>
                        <a:spcBef>
                          <a:spcPts val="0"/>
                        </a:spcBef>
                        <a:spcAft>
                          <a:spcPts val="0"/>
                        </a:spcAft>
                      </a:pPr>
                      <a:r>
                        <a:rPr lang="en-US" sz="1800">
                          <a:effectLst/>
                          <a:latin typeface="Times New Roman" pitchFamily="18" charset="0"/>
                          <a:cs typeface="Times New Roman" pitchFamily="18" charset="0"/>
                        </a:rPr>
                        <a:t>7.9403</a:t>
                      </a:r>
                      <a:endParaRPr lang="en-US" sz="1800">
                        <a:effectLst/>
                        <a:latin typeface="Times New Roman" pitchFamily="18" charset="0"/>
                        <a:ea typeface="Calibri"/>
                        <a:cs typeface="Times New Roman" pitchFamily="18" charset="0"/>
                      </a:endParaRPr>
                    </a:p>
                  </a:txBody>
                  <a:tcPr marL="37959" marR="37959" marT="0" marB="0"/>
                </a:tc>
                <a:tc>
                  <a:txBody>
                    <a:bodyPr/>
                    <a:lstStyle/>
                    <a:p>
                      <a:pPr marL="0" marR="0" algn="r">
                        <a:lnSpc>
                          <a:spcPct val="150000"/>
                        </a:lnSpc>
                        <a:spcBef>
                          <a:spcPts val="0"/>
                        </a:spcBef>
                        <a:spcAft>
                          <a:spcPts val="0"/>
                        </a:spcAft>
                      </a:pPr>
                      <a:r>
                        <a:rPr lang="en-US" sz="1800">
                          <a:effectLst/>
                          <a:latin typeface="Times New Roman" pitchFamily="18" charset="0"/>
                          <a:cs typeface="Times New Roman" pitchFamily="18" charset="0"/>
                        </a:rPr>
                        <a:t>6.8216</a:t>
                      </a:r>
                      <a:endParaRPr lang="en-US" sz="1800">
                        <a:effectLst/>
                        <a:latin typeface="Times New Roman" pitchFamily="18" charset="0"/>
                        <a:ea typeface="Calibri"/>
                        <a:cs typeface="Times New Roman" pitchFamily="18" charset="0"/>
                      </a:endParaRPr>
                    </a:p>
                  </a:txBody>
                  <a:tcPr marL="37959" marR="37959" marT="0" marB="0"/>
                </a:tc>
                <a:tc>
                  <a:txBody>
                    <a:bodyPr/>
                    <a:lstStyle/>
                    <a:p>
                      <a:pPr marL="0" marR="0" algn="r">
                        <a:lnSpc>
                          <a:spcPct val="150000"/>
                        </a:lnSpc>
                        <a:spcBef>
                          <a:spcPts val="0"/>
                        </a:spcBef>
                        <a:spcAft>
                          <a:spcPts val="0"/>
                        </a:spcAft>
                      </a:pPr>
                      <a:r>
                        <a:rPr lang="en-US" sz="1800" dirty="0">
                          <a:effectLst/>
                          <a:latin typeface="Times New Roman" pitchFamily="18" charset="0"/>
                          <a:cs typeface="Times New Roman" pitchFamily="18" charset="0"/>
                        </a:rPr>
                        <a:t>6.4856</a:t>
                      </a:r>
                      <a:endParaRPr lang="en-US" sz="1800" dirty="0">
                        <a:effectLst/>
                        <a:latin typeface="Times New Roman" pitchFamily="18" charset="0"/>
                        <a:ea typeface="Calibri"/>
                        <a:cs typeface="Times New Roman" pitchFamily="18" charset="0"/>
                      </a:endParaRPr>
                    </a:p>
                  </a:txBody>
                  <a:tcPr marL="37959" marR="37959" marT="0" marB="0"/>
                </a:tc>
                <a:tc>
                  <a:txBody>
                    <a:bodyPr/>
                    <a:lstStyle/>
                    <a:p>
                      <a:pPr marL="0" marR="0" algn="r">
                        <a:lnSpc>
                          <a:spcPct val="150000"/>
                        </a:lnSpc>
                        <a:spcBef>
                          <a:spcPts val="0"/>
                        </a:spcBef>
                        <a:spcAft>
                          <a:spcPts val="0"/>
                        </a:spcAft>
                      </a:pPr>
                      <a:r>
                        <a:rPr lang="en-US" sz="1800">
                          <a:effectLst/>
                          <a:latin typeface="Times New Roman" pitchFamily="18" charset="0"/>
                          <a:cs typeface="Times New Roman" pitchFamily="18" charset="0"/>
                        </a:rPr>
                        <a:t>6.831</a:t>
                      </a:r>
                      <a:endParaRPr lang="en-US" sz="1800">
                        <a:effectLst/>
                        <a:latin typeface="Times New Roman" pitchFamily="18" charset="0"/>
                        <a:ea typeface="Calibri"/>
                        <a:cs typeface="Times New Roman" pitchFamily="18" charset="0"/>
                      </a:endParaRPr>
                    </a:p>
                  </a:txBody>
                  <a:tcPr marL="37959" marR="37959" marT="0" marB="0"/>
                </a:tc>
                <a:tc>
                  <a:txBody>
                    <a:bodyPr/>
                    <a:lstStyle/>
                    <a:p>
                      <a:pPr marL="0" marR="0" algn="r">
                        <a:lnSpc>
                          <a:spcPct val="150000"/>
                        </a:lnSpc>
                        <a:spcBef>
                          <a:spcPts val="0"/>
                        </a:spcBef>
                        <a:spcAft>
                          <a:spcPts val="0"/>
                        </a:spcAft>
                      </a:pPr>
                      <a:r>
                        <a:rPr lang="en-US" sz="1800">
                          <a:effectLst/>
                          <a:latin typeface="Times New Roman" pitchFamily="18" charset="0"/>
                          <a:cs typeface="Times New Roman" pitchFamily="18" charset="0"/>
                        </a:rPr>
                        <a:t>6.3457</a:t>
                      </a:r>
                      <a:endParaRPr lang="en-US" sz="1800">
                        <a:effectLst/>
                        <a:latin typeface="Times New Roman" pitchFamily="18" charset="0"/>
                        <a:ea typeface="Calibri"/>
                        <a:cs typeface="Times New Roman" pitchFamily="18" charset="0"/>
                      </a:endParaRPr>
                    </a:p>
                  </a:txBody>
                  <a:tcPr marL="37959" marR="37959" marT="0" marB="0"/>
                </a:tc>
              </a:tr>
              <a:tr h="561536">
                <a:tc>
                  <a:txBody>
                    <a:bodyPr/>
                    <a:lstStyle/>
                    <a:p>
                      <a:pPr marL="0" marR="0">
                        <a:lnSpc>
                          <a:spcPct val="150000"/>
                        </a:lnSpc>
                        <a:spcBef>
                          <a:spcPts val="0"/>
                        </a:spcBef>
                        <a:spcAft>
                          <a:spcPts val="0"/>
                        </a:spcAft>
                      </a:pPr>
                      <a:r>
                        <a:rPr lang="en-US" sz="1800">
                          <a:effectLst/>
                          <a:latin typeface="Times New Roman" pitchFamily="18" charset="0"/>
                          <a:cs typeface="Times New Roman" pitchFamily="18" charset="0"/>
                        </a:rPr>
                        <a:t>13.00 GHz</a:t>
                      </a:r>
                      <a:endParaRPr lang="en-US" sz="1800">
                        <a:effectLst/>
                        <a:latin typeface="Times New Roman" pitchFamily="18" charset="0"/>
                        <a:ea typeface="Calibri"/>
                        <a:cs typeface="Times New Roman" pitchFamily="18" charset="0"/>
                      </a:endParaRPr>
                    </a:p>
                  </a:txBody>
                  <a:tcPr marL="37959" marR="37959" marT="0" marB="0"/>
                </a:tc>
                <a:tc>
                  <a:txBody>
                    <a:bodyPr/>
                    <a:lstStyle/>
                    <a:p>
                      <a:pPr marL="0" marR="0" algn="r">
                        <a:lnSpc>
                          <a:spcPct val="150000"/>
                        </a:lnSpc>
                        <a:spcBef>
                          <a:spcPts val="0"/>
                        </a:spcBef>
                        <a:spcAft>
                          <a:spcPts val="0"/>
                        </a:spcAft>
                      </a:pPr>
                      <a:r>
                        <a:rPr lang="en-US" sz="1800">
                          <a:effectLst/>
                          <a:latin typeface="Times New Roman" pitchFamily="18" charset="0"/>
                          <a:cs typeface="Times New Roman" pitchFamily="18" charset="0"/>
                        </a:rPr>
                        <a:t>4.9619</a:t>
                      </a:r>
                      <a:endParaRPr lang="en-US" sz="1800">
                        <a:effectLst/>
                        <a:latin typeface="Times New Roman" pitchFamily="18" charset="0"/>
                        <a:ea typeface="Calibri"/>
                        <a:cs typeface="Times New Roman" pitchFamily="18" charset="0"/>
                      </a:endParaRPr>
                    </a:p>
                  </a:txBody>
                  <a:tcPr marL="37959" marR="37959" marT="0" marB="0"/>
                </a:tc>
                <a:tc>
                  <a:txBody>
                    <a:bodyPr/>
                    <a:lstStyle/>
                    <a:p>
                      <a:pPr marL="0" marR="0" algn="r">
                        <a:lnSpc>
                          <a:spcPct val="150000"/>
                        </a:lnSpc>
                        <a:spcBef>
                          <a:spcPts val="0"/>
                        </a:spcBef>
                        <a:spcAft>
                          <a:spcPts val="0"/>
                        </a:spcAft>
                      </a:pPr>
                      <a:r>
                        <a:rPr lang="en-US" sz="1800" dirty="0">
                          <a:effectLst/>
                          <a:latin typeface="Times New Roman" pitchFamily="18" charset="0"/>
                          <a:cs typeface="Times New Roman" pitchFamily="18" charset="0"/>
                        </a:rPr>
                        <a:t>4.5009</a:t>
                      </a:r>
                      <a:endParaRPr lang="en-US" sz="1800" dirty="0">
                        <a:effectLst/>
                        <a:latin typeface="Times New Roman" pitchFamily="18" charset="0"/>
                        <a:ea typeface="Calibri"/>
                        <a:cs typeface="Times New Roman" pitchFamily="18" charset="0"/>
                      </a:endParaRPr>
                    </a:p>
                  </a:txBody>
                  <a:tcPr marL="37959" marR="37959" marT="0" marB="0"/>
                </a:tc>
                <a:tc>
                  <a:txBody>
                    <a:bodyPr/>
                    <a:lstStyle/>
                    <a:p>
                      <a:pPr marL="0" marR="0" algn="r">
                        <a:lnSpc>
                          <a:spcPct val="150000"/>
                        </a:lnSpc>
                        <a:spcBef>
                          <a:spcPts val="0"/>
                        </a:spcBef>
                        <a:spcAft>
                          <a:spcPts val="0"/>
                        </a:spcAft>
                      </a:pPr>
                      <a:r>
                        <a:rPr lang="en-US" sz="1800">
                          <a:effectLst/>
                          <a:latin typeface="Times New Roman" pitchFamily="18" charset="0"/>
                          <a:cs typeface="Times New Roman" pitchFamily="18" charset="0"/>
                        </a:rPr>
                        <a:t>4.5698</a:t>
                      </a:r>
                      <a:endParaRPr lang="en-US" sz="1800">
                        <a:effectLst/>
                        <a:latin typeface="Times New Roman" pitchFamily="18" charset="0"/>
                        <a:ea typeface="Calibri"/>
                        <a:cs typeface="Times New Roman" pitchFamily="18" charset="0"/>
                      </a:endParaRPr>
                    </a:p>
                  </a:txBody>
                  <a:tcPr marL="37959" marR="37959" marT="0" marB="0"/>
                </a:tc>
                <a:tc>
                  <a:txBody>
                    <a:bodyPr/>
                    <a:lstStyle/>
                    <a:p>
                      <a:pPr marL="0" marR="0" algn="r">
                        <a:lnSpc>
                          <a:spcPct val="150000"/>
                        </a:lnSpc>
                        <a:spcBef>
                          <a:spcPts val="0"/>
                        </a:spcBef>
                        <a:spcAft>
                          <a:spcPts val="0"/>
                        </a:spcAft>
                      </a:pPr>
                      <a:r>
                        <a:rPr lang="en-US" sz="1800">
                          <a:effectLst/>
                          <a:latin typeface="Times New Roman" pitchFamily="18" charset="0"/>
                          <a:cs typeface="Times New Roman" pitchFamily="18" charset="0"/>
                        </a:rPr>
                        <a:t>5.6257</a:t>
                      </a:r>
                      <a:endParaRPr lang="en-US" sz="1800">
                        <a:effectLst/>
                        <a:latin typeface="Times New Roman" pitchFamily="18" charset="0"/>
                        <a:ea typeface="Calibri"/>
                        <a:cs typeface="Times New Roman" pitchFamily="18" charset="0"/>
                      </a:endParaRPr>
                    </a:p>
                  </a:txBody>
                  <a:tcPr marL="37959" marR="37959" marT="0" marB="0"/>
                </a:tc>
                <a:tc>
                  <a:txBody>
                    <a:bodyPr/>
                    <a:lstStyle/>
                    <a:p>
                      <a:pPr marL="0" marR="0" algn="r">
                        <a:lnSpc>
                          <a:spcPct val="150000"/>
                        </a:lnSpc>
                        <a:spcBef>
                          <a:spcPts val="0"/>
                        </a:spcBef>
                        <a:spcAft>
                          <a:spcPts val="0"/>
                        </a:spcAft>
                      </a:pPr>
                      <a:r>
                        <a:rPr lang="en-US" sz="1800" dirty="0">
                          <a:effectLst/>
                          <a:latin typeface="Times New Roman" pitchFamily="18" charset="0"/>
                          <a:cs typeface="Times New Roman" pitchFamily="18" charset="0"/>
                        </a:rPr>
                        <a:t>4.0057</a:t>
                      </a:r>
                      <a:endParaRPr lang="en-US" sz="1800" dirty="0">
                        <a:effectLst/>
                        <a:latin typeface="Times New Roman" pitchFamily="18" charset="0"/>
                        <a:ea typeface="Calibri"/>
                        <a:cs typeface="Times New Roman" pitchFamily="18" charset="0"/>
                      </a:endParaRPr>
                    </a:p>
                  </a:txBody>
                  <a:tcPr marL="37959" marR="37959" marT="0" marB="0"/>
                </a:tc>
              </a:tr>
            </a:tbl>
          </a:graphicData>
        </a:graphic>
      </p:graphicFrame>
      <p:pic>
        <p:nvPicPr>
          <p:cNvPr id="13313" name="Picture 1"/>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0" y="3048000"/>
            <a:ext cx="6143636" cy="3810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6" name="Slide Number Placeholder 5"/>
          <p:cNvSpPr>
            <a:spLocks noGrp="1"/>
          </p:cNvSpPr>
          <p:nvPr>
            <p:ph type="sldNum" sz="quarter" idx="15"/>
          </p:nvPr>
        </p:nvSpPr>
        <p:spPr/>
        <p:txBody>
          <a:bodyPr/>
          <a:lstStyle/>
          <a:p>
            <a:fld id="{C2C1A6A0-3F2F-4BAF-B319-837518E4456F}" type="slidenum">
              <a:rPr lang="en-US" smtClean="0"/>
              <a:pPr/>
              <a:t>53</a:t>
            </a:fld>
            <a:endParaRPr lang="en-US"/>
          </a:p>
        </p:txBody>
      </p:sp>
    </p:spTree>
    <p:extLst>
      <p:ext uri="{BB962C8B-B14F-4D97-AF65-F5344CB8AC3E}">
        <p14:creationId xmlns:p14="http://schemas.microsoft.com/office/powerpoint/2010/main" xmlns="" val="1141195349"/>
      </p:ext>
    </p:extLst>
  </p:cSld>
  <p:clrMapOvr>
    <a:masterClrMapping/>
  </p:clrMapOvr>
  <p:transition>
    <p:strips dir="ld"/>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57949" y="3200400"/>
            <a:ext cx="2286017" cy="457200"/>
          </a:xfrm>
        </p:spPr>
        <p:txBody>
          <a:bodyPr>
            <a:noAutofit/>
          </a:bodyPr>
          <a:lstStyle/>
          <a:p>
            <a:r>
              <a:rPr lang="en-US" sz="2800" b="1" dirty="0" smtClean="0">
                <a:solidFill>
                  <a:schemeClr val="tx1"/>
                </a:solidFill>
              </a:rPr>
              <a:t>Dielectric Constant for 2% </a:t>
            </a:r>
            <a:r>
              <a:rPr lang="en-US" sz="2800" b="1" dirty="0">
                <a:solidFill>
                  <a:schemeClr val="tx1"/>
                </a:solidFill>
              </a:rPr>
              <a:t>M</a:t>
            </a:r>
            <a:r>
              <a:rPr lang="en-US" sz="2800" b="1" dirty="0" smtClean="0">
                <a:solidFill>
                  <a:schemeClr val="tx1"/>
                </a:solidFill>
              </a:rPr>
              <a:t>oisture Content</a:t>
            </a:r>
            <a:endParaRPr lang="en-US" sz="2800" b="1" dirty="0">
              <a:solidFill>
                <a:schemeClr val="tx1"/>
              </a:solidFill>
            </a:endParaRPr>
          </a:p>
        </p:txBody>
      </p:sp>
      <p:graphicFrame>
        <p:nvGraphicFramePr>
          <p:cNvPr id="5" name="Picture Placeholder 4"/>
          <p:cNvGraphicFramePr>
            <a:graphicFrameLocks noGrp="1"/>
          </p:cNvGraphicFramePr>
          <p:nvPr>
            <p:ph type="pic" idx="1"/>
            <p:extLst>
              <p:ext uri="{D42A27DB-BD31-4B8C-83A1-F6EECF244321}">
                <p14:modId xmlns:p14="http://schemas.microsoft.com/office/powerpoint/2010/main" xmlns="" val="346976672"/>
              </p:ext>
            </p:extLst>
          </p:nvPr>
        </p:nvGraphicFramePr>
        <p:xfrm>
          <a:off x="0" y="0"/>
          <a:ext cx="6215075" cy="3190229"/>
        </p:xfrm>
        <a:graphic>
          <a:graphicData uri="http://schemas.openxmlformats.org/drawingml/2006/table">
            <a:tbl>
              <a:tblPr>
                <a:tableStyleId>{5C22544A-7EE6-4342-B048-85BDC9FD1C3A}</a:tableStyleId>
              </a:tblPr>
              <a:tblGrid>
                <a:gridCol w="1214414"/>
                <a:gridCol w="972565"/>
                <a:gridCol w="1045504"/>
                <a:gridCol w="1020819"/>
                <a:gridCol w="939502"/>
                <a:gridCol w="1022271"/>
              </a:tblGrid>
              <a:tr h="859109">
                <a:tc>
                  <a:txBody>
                    <a:bodyPr/>
                    <a:lstStyle/>
                    <a:p>
                      <a:pPr marL="0" marR="0" algn="ctr">
                        <a:lnSpc>
                          <a:spcPct val="150000"/>
                        </a:lnSpc>
                        <a:spcBef>
                          <a:spcPts val="0"/>
                        </a:spcBef>
                        <a:spcAft>
                          <a:spcPts val="0"/>
                        </a:spcAft>
                      </a:pPr>
                      <a:r>
                        <a:rPr lang="en-US" sz="1800" b="1" dirty="0">
                          <a:solidFill>
                            <a:schemeClr val="bg1"/>
                          </a:solidFill>
                          <a:effectLst/>
                          <a:latin typeface="Times New Roman" pitchFamily="18" charset="0"/>
                          <a:cs typeface="Times New Roman" pitchFamily="18" charset="0"/>
                        </a:rPr>
                        <a:t>Frequencies/Samples</a:t>
                      </a:r>
                      <a:endParaRPr lang="en-US" sz="1800" b="1" dirty="0">
                        <a:solidFill>
                          <a:schemeClr val="bg1"/>
                        </a:solidFill>
                        <a:effectLst/>
                        <a:latin typeface="Times New Roman" pitchFamily="18" charset="0"/>
                        <a:ea typeface="Calibri"/>
                        <a:cs typeface="Times New Roman" pitchFamily="18" charset="0"/>
                      </a:endParaRPr>
                    </a:p>
                  </a:txBody>
                  <a:tcPr marL="11789" marR="11789" marT="0" marB="0">
                    <a:solidFill>
                      <a:schemeClr val="accent1"/>
                    </a:solidFill>
                  </a:tcPr>
                </a:tc>
                <a:tc>
                  <a:txBody>
                    <a:bodyPr/>
                    <a:lstStyle/>
                    <a:p>
                      <a:pPr marL="0" marR="0" algn="ctr">
                        <a:lnSpc>
                          <a:spcPct val="150000"/>
                        </a:lnSpc>
                        <a:spcBef>
                          <a:spcPts val="0"/>
                        </a:spcBef>
                        <a:spcAft>
                          <a:spcPts val="0"/>
                        </a:spcAft>
                      </a:pPr>
                      <a:r>
                        <a:rPr lang="en-US" sz="1800" b="1" dirty="0">
                          <a:solidFill>
                            <a:schemeClr val="bg1"/>
                          </a:solidFill>
                          <a:effectLst/>
                          <a:latin typeface="Times New Roman" pitchFamily="18" charset="0"/>
                          <a:cs typeface="Times New Roman" pitchFamily="18" charset="0"/>
                        </a:rPr>
                        <a:t>Wheat</a:t>
                      </a:r>
                      <a:endParaRPr lang="en-US" sz="1800" b="1" dirty="0">
                        <a:solidFill>
                          <a:schemeClr val="bg1"/>
                        </a:solidFill>
                        <a:effectLst/>
                        <a:latin typeface="Times New Roman" pitchFamily="18" charset="0"/>
                        <a:ea typeface="Calibri"/>
                        <a:cs typeface="Times New Roman" pitchFamily="18" charset="0"/>
                      </a:endParaRPr>
                    </a:p>
                  </a:txBody>
                  <a:tcPr marL="11789" marR="11789" marT="0" marB="0">
                    <a:solidFill>
                      <a:schemeClr val="accent1"/>
                    </a:solidFill>
                  </a:tcPr>
                </a:tc>
                <a:tc>
                  <a:txBody>
                    <a:bodyPr/>
                    <a:lstStyle/>
                    <a:p>
                      <a:pPr marL="0" marR="0" algn="ctr">
                        <a:lnSpc>
                          <a:spcPct val="150000"/>
                        </a:lnSpc>
                        <a:spcBef>
                          <a:spcPts val="0"/>
                        </a:spcBef>
                        <a:spcAft>
                          <a:spcPts val="0"/>
                        </a:spcAft>
                      </a:pPr>
                      <a:r>
                        <a:rPr lang="en-US" sz="1800" b="1" dirty="0">
                          <a:solidFill>
                            <a:schemeClr val="bg1"/>
                          </a:solidFill>
                          <a:effectLst/>
                          <a:latin typeface="Times New Roman" pitchFamily="18" charset="0"/>
                          <a:cs typeface="Times New Roman" pitchFamily="18" charset="0"/>
                        </a:rPr>
                        <a:t>Rice</a:t>
                      </a:r>
                      <a:endParaRPr lang="en-US" sz="1800" b="1" dirty="0">
                        <a:solidFill>
                          <a:schemeClr val="bg1"/>
                        </a:solidFill>
                        <a:effectLst/>
                        <a:latin typeface="Times New Roman" pitchFamily="18" charset="0"/>
                        <a:ea typeface="Calibri"/>
                        <a:cs typeface="Times New Roman" pitchFamily="18" charset="0"/>
                      </a:endParaRPr>
                    </a:p>
                  </a:txBody>
                  <a:tcPr marL="11789" marR="11789" marT="0" marB="0">
                    <a:solidFill>
                      <a:schemeClr val="accent1"/>
                    </a:solidFill>
                  </a:tcPr>
                </a:tc>
                <a:tc>
                  <a:txBody>
                    <a:bodyPr/>
                    <a:lstStyle/>
                    <a:p>
                      <a:pPr marL="0" marR="0" algn="ctr">
                        <a:lnSpc>
                          <a:spcPct val="150000"/>
                        </a:lnSpc>
                        <a:spcBef>
                          <a:spcPts val="0"/>
                        </a:spcBef>
                        <a:spcAft>
                          <a:spcPts val="0"/>
                        </a:spcAft>
                      </a:pPr>
                      <a:r>
                        <a:rPr lang="en-US" sz="1800" b="1" dirty="0">
                          <a:solidFill>
                            <a:schemeClr val="bg1"/>
                          </a:solidFill>
                          <a:effectLst/>
                          <a:latin typeface="Times New Roman" pitchFamily="18" charset="0"/>
                          <a:cs typeface="Times New Roman" pitchFamily="18" charset="0"/>
                        </a:rPr>
                        <a:t>Arhar</a:t>
                      </a:r>
                      <a:endParaRPr lang="en-US" sz="1800" b="1" dirty="0">
                        <a:solidFill>
                          <a:schemeClr val="bg1"/>
                        </a:solidFill>
                        <a:effectLst/>
                        <a:latin typeface="Times New Roman" pitchFamily="18" charset="0"/>
                        <a:ea typeface="Calibri"/>
                        <a:cs typeface="Times New Roman" pitchFamily="18" charset="0"/>
                      </a:endParaRPr>
                    </a:p>
                  </a:txBody>
                  <a:tcPr marL="11789" marR="11789" marT="0" marB="0">
                    <a:solidFill>
                      <a:schemeClr val="accent1"/>
                    </a:solidFill>
                  </a:tcPr>
                </a:tc>
                <a:tc>
                  <a:txBody>
                    <a:bodyPr/>
                    <a:lstStyle/>
                    <a:p>
                      <a:pPr marL="0" marR="0" algn="ctr">
                        <a:lnSpc>
                          <a:spcPct val="150000"/>
                        </a:lnSpc>
                        <a:spcBef>
                          <a:spcPts val="0"/>
                        </a:spcBef>
                        <a:spcAft>
                          <a:spcPts val="0"/>
                        </a:spcAft>
                      </a:pPr>
                      <a:r>
                        <a:rPr lang="en-US" sz="1800" b="1" dirty="0">
                          <a:solidFill>
                            <a:schemeClr val="bg1"/>
                          </a:solidFill>
                          <a:effectLst/>
                          <a:latin typeface="Times New Roman" pitchFamily="18" charset="0"/>
                          <a:cs typeface="Times New Roman" pitchFamily="18" charset="0"/>
                        </a:rPr>
                        <a:t>Chana</a:t>
                      </a:r>
                      <a:endParaRPr lang="en-US" sz="1800" b="1" dirty="0">
                        <a:solidFill>
                          <a:schemeClr val="bg1"/>
                        </a:solidFill>
                        <a:effectLst/>
                        <a:latin typeface="Times New Roman" pitchFamily="18" charset="0"/>
                        <a:ea typeface="Calibri"/>
                        <a:cs typeface="Times New Roman" pitchFamily="18" charset="0"/>
                      </a:endParaRPr>
                    </a:p>
                  </a:txBody>
                  <a:tcPr marL="11789" marR="11789" marT="0" marB="0">
                    <a:solidFill>
                      <a:schemeClr val="accent1"/>
                    </a:solidFill>
                  </a:tcPr>
                </a:tc>
                <a:tc>
                  <a:txBody>
                    <a:bodyPr/>
                    <a:lstStyle/>
                    <a:p>
                      <a:pPr marL="0" marR="0" algn="ctr">
                        <a:lnSpc>
                          <a:spcPct val="150000"/>
                        </a:lnSpc>
                        <a:spcBef>
                          <a:spcPts val="0"/>
                        </a:spcBef>
                        <a:spcAft>
                          <a:spcPts val="0"/>
                        </a:spcAft>
                      </a:pPr>
                      <a:r>
                        <a:rPr lang="en-US" sz="1800" b="1" dirty="0">
                          <a:solidFill>
                            <a:schemeClr val="bg1"/>
                          </a:solidFill>
                          <a:effectLst/>
                          <a:latin typeface="Times New Roman" pitchFamily="18" charset="0"/>
                          <a:cs typeface="Times New Roman" pitchFamily="18" charset="0"/>
                        </a:rPr>
                        <a:t>Moong</a:t>
                      </a:r>
                      <a:endParaRPr lang="en-US" sz="1800" b="1" dirty="0">
                        <a:solidFill>
                          <a:schemeClr val="bg1"/>
                        </a:solidFill>
                        <a:effectLst/>
                        <a:latin typeface="Times New Roman" pitchFamily="18" charset="0"/>
                        <a:ea typeface="Calibri"/>
                        <a:cs typeface="Times New Roman" pitchFamily="18" charset="0"/>
                      </a:endParaRPr>
                    </a:p>
                  </a:txBody>
                  <a:tcPr marL="11789" marR="11789" marT="0" marB="0">
                    <a:solidFill>
                      <a:schemeClr val="accent1"/>
                    </a:solidFill>
                  </a:tcPr>
                </a:tc>
              </a:tr>
              <a:tr h="582780">
                <a:tc>
                  <a:txBody>
                    <a:bodyPr/>
                    <a:lstStyle/>
                    <a:p>
                      <a:pPr marL="0" marR="0" algn="ctr">
                        <a:lnSpc>
                          <a:spcPct val="150000"/>
                        </a:lnSpc>
                        <a:spcBef>
                          <a:spcPts val="0"/>
                        </a:spcBef>
                        <a:spcAft>
                          <a:spcPts val="0"/>
                        </a:spcAft>
                      </a:pPr>
                      <a:r>
                        <a:rPr lang="en-US" sz="1800" b="1" dirty="0">
                          <a:solidFill>
                            <a:schemeClr val="bg1"/>
                          </a:solidFill>
                          <a:effectLst/>
                          <a:latin typeface="Times New Roman" pitchFamily="18" charset="0"/>
                          <a:cs typeface="Times New Roman" pitchFamily="18" charset="0"/>
                        </a:rPr>
                        <a:t>5.30 GHz</a:t>
                      </a:r>
                      <a:endParaRPr lang="en-US" sz="1800" b="1" dirty="0">
                        <a:solidFill>
                          <a:schemeClr val="bg1"/>
                        </a:solidFill>
                        <a:effectLst/>
                        <a:latin typeface="Times New Roman" pitchFamily="18" charset="0"/>
                        <a:ea typeface="Calibri"/>
                        <a:cs typeface="Times New Roman" pitchFamily="18" charset="0"/>
                      </a:endParaRPr>
                    </a:p>
                  </a:txBody>
                  <a:tcPr marL="11789" marR="11789" marT="0" marB="0">
                    <a:solidFill>
                      <a:schemeClr val="accent1"/>
                    </a:solidFill>
                  </a:tcPr>
                </a:tc>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9.0255</a:t>
                      </a:r>
                      <a:endParaRPr lang="en-US" sz="1800" dirty="0">
                        <a:effectLst/>
                        <a:latin typeface="Times New Roman" pitchFamily="18" charset="0"/>
                        <a:ea typeface="Calibri"/>
                        <a:cs typeface="Times New Roman" pitchFamily="18" charset="0"/>
                      </a:endParaRPr>
                    </a:p>
                  </a:txBody>
                  <a:tcPr marL="11789" marR="11789" marT="0" marB="0"/>
                </a:tc>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8.9112</a:t>
                      </a:r>
                      <a:endParaRPr lang="en-US" sz="1800" dirty="0">
                        <a:effectLst/>
                        <a:latin typeface="Times New Roman" pitchFamily="18" charset="0"/>
                        <a:ea typeface="Calibri"/>
                        <a:cs typeface="Times New Roman" pitchFamily="18" charset="0"/>
                      </a:endParaRPr>
                    </a:p>
                  </a:txBody>
                  <a:tcPr marL="11789" marR="11789"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9.0856</a:t>
                      </a:r>
                      <a:endParaRPr lang="en-US" sz="1800">
                        <a:effectLst/>
                        <a:latin typeface="Times New Roman" pitchFamily="18" charset="0"/>
                        <a:ea typeface="Calibri"/>
                        <a:cs typeface="Times New Roman" pitchFamily="18" charset="0"/>
                      </a:endParaRPr>
                    </a:p>
                  </a:txBody>
                  <a:tcPr marL="11789" marR="11789"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8.9456</a:t>
                      </a:r>
                      <a:endParaRPr lang="en-US" sz="1800">
                        <a:effectLst/>
                        <a:latin typeface="Times New Roman" pitchFamily="18" charset="0"/>
                        <a:ea typeface="Calibri"/>
                        <a:cs typeface="Times New Roman" pitchFamily="18" charset="0"/>
                      </a:endParaRPr>
                    </a:p>
                  </a:txBody>
                  <a:tcPr marL="11789" marR="11789"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8.9196</a:t>
                      </a:r>
                      <a:endParaRPr lang="en-US" sz="1800">
                        <a:effectLst/>
                        <a:latin typeface="Times New Roman" pitchFamily="18" charset="0"/>
                        <a:ea typeface="Calibri"/>
                        <a:cs typeface="Times New Roman" pitchFamily="18" charset="0"/>
                      </a:endParaRPr>
                    </a:p>
                  </a:txBody>
                  <a:tcPr marL="11789" marR="11789" marT="0" marB="0"/>
                </a:tc>
              </a:tr>
              <a:tr h="582780">
                <a:tc>
                  <a:txBody>
                    <a:bodyPr/>
                    <a:lstStyle/>
                    <a:p>
                      <a:pPr marL="0" marR="0" algn="ctr">
                        <a:lnSpc>
                          <a:spcPct val="150000"/>
                        </a:lnSpc>
                        <a:spcBef>
                          <a:spcPts val="0"/>
                        </a:spcBef>
                        <a:spcAft>
                          <a:spcPts val="0"/>
                        </a:spcAft>
                      </a:pPr>
                      <a:r>
                        <a:rPr lang="en-US" sz="1800" b="1" dirty="0">
                          <a:solidFill>
                            <a:schemeClr val="bg1"/>
                          </a:solidFill>
                          <a:effectLst/>
                          <a:latin typeface="Times New Roman" pitchFamily="18" charset="0"/>
                          <a:cs typeface="Times New Roman" pitchFamily="18" charset="0"/>
                        </a:rPr>
                        <a:t>6.60 GHz</a:t>
                      </a:r>
                      <a:endParaRPr lang="en-US" sz="1800" b="1" dirty="0">
                        <a:solidFill>
                          <a:schemeClr val="bg1"/>
                        </a:solidFill>
                        <a:effectLst/>
                        <a:latin typeface="Times New Roman" pitchFamily="18" charset="0"/>
                        <a:ea typeface="Calibri"/>
                        <a:cs typeface="Times New Roman" pitchFamily="18" charset="0"/>
                      </a:endParaRPr>
                    </a:p>
                  </a:txBody>
                  <a:tcPr marL="11789" marR="11789" marT="0" marB="0">
                    <a:solidFill>
                      <a:schemeClr val="accent1"/>
                    </a:solidFill>
                  </a:tcPr>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9.0255</a:t>
                      </a:r>
                      <a:endParaRPr lang="en-US" sz="1800">
                        <a:effectLst/>
                        <a:latin typeface="Times New Roman" pitchFamily="18" charset="0"/>
                        <a:ea typeface="Calibri"/>
                        <a:cs typeface="Times New Roman" pitchFamily="18" charset="0"/>
                      </a:endParaRPr>
                    </a:p>
                  </a:txBody>
                  <a:tcPr marL="11789" marR="11789" marT="0" marB="0"/>
                </a:tc>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8.8562</a:t>
                      </a:r>
                      <a:endParaRPr lang="en-US" sz="1800" dirty="0">
                        <a:effectLst/>
                        <a:latin typeface="Times New Roman" pitchFamily="18" charset="0"/>
                        <a:ea typeface="Calibri"/>
                        <a:cs typeface="Times New Roman" pitchFamily="18" charset="0"/>
                      </a:endParaRPr>
                    </a:p>
                  </a:txBody>
                  <a:tcPr marL="11789" marR="11789" marT="0" marB="0"/>
                </a:tc>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8.2975</a:t>
                      </a:r>
                      <a:endParaRPr lang="en-US" sz="1800" dirty="0">
                        <a:effectLst/>
                        <a:latin typeface="Times New Roman" pitchFamily="18" charset="0"/>
                        <a:ea typeface="Calibri"/>
                        <a:cs typeface="Times New Roman" pitchFamily="18" charset="0"/>
                      </a:endParaRPr>
                    </a:p>
                  </a:txBody>
                  <a:tcPr marL="11789" marR="11789"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8.3864</a:t>
                      </a:r>
                      <a:endParaRPr lang="en-US" sz="1800">
                        <a:effectLst/>
                        <a:latin typeface="Times New Roman" pitchFamily="18" charset="0"/>
                        <a:ea typeface="Calibri"/>
                        <a:cs typeface="Times New Roman" pitchFamily="18" charset="0"/>
                      </a:endParaRPr>
                    </a:p>
                  </a:txBody>
                  <a:tcPr marL="11789" marR="11789"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8.3203</a:t>
                      </a:r>
                      <a:endParaRPr lang="en-US" sz="1800">
                        <a:effectLst/>
                        <a:latin typeface="Times New Roman" pitchFamily="18" charset="0"/>
                        <a:ea typeface="Calibri"/>
                        <a:cs typeface="Times New Roman" pitchFamily="18" charset="0"/>
                      </a:endParaRPr>
                    </a:p>
                  </a:txBody>
                  <a:tcPr marL="11789" marR="11789" marT="0" marB="0"/>
                </a:tc>
              </a:tr>
              <a:tr h="582780">
                <a:tc>
                  <a:txBody>
                    <a:bodyPr/>
                    <a:lstStyle/>
                    <a:p>
                      <a:pPr marL="0" marR="0" algn="ctr">
                        <a:lnSpc>
                          <a:spcPct val="150000"/>
                        </a:lnSpc>
                        <a:spcBef>
                          <a:spcPts val="0"/>
                        </a:spcBef>
                        <a:spcAft>
                          <a:spcPts val="0"/>
                        </a:spcAft>
                      </a:pPr>
                      <a:r>
                        <a:rPr lang="en-US" sz="1800" b="1" dirty="0">
                          <a:solidFill>
                            <a:schemeClr val="bg1"/>
                          </a:solidFill>
                          <a:effectLst/>
                          <a:latin typeface="Times New Roman" pitchFamily="18" charset="0"/>
                          <a:cs typeface="Times New Roman" pitchFamily="18" charset="0"/>
                        </a:rPr>
                        <a:t>10.65 GHz</a:t>
                      </a:r>
                      <a:endParaRPr lang="en-US" sz="1800" b="1" dirty="0">
                        <a:solidFill>
                          <a:schemeClr val="bg1"/>
                        </a:solidFill>
                        <a:effectLst/>
                        <a:latin typeface="Times New Roman" pitchFamily="18" charset="0"/>
                        <a:ea typeface="Calibri"/>
                        <a:cs typeface="Times New Roman" pitchFamily="18" charset="0"/>
                      </a:endParaRPr>
                    </a:p>
                  </a:txBody>
                  <a:tcPr marL="11789" marR="11789" marT="0" marB="0">
                    <a:solidFill>
                      <a:schemeClr val="accent1"/>
                    </a:solidFill>
                  </a:tcPr>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6.4713</a:t>
                      </a:r>
                      <a:endParaRPr lang="en-US" sz="1800">
                        <a:effectLst/>
                        <a:latin typeface="Times New Roman" pitchFamily="18" charset="0"/>
                        <a:ea typeface="Calibri"/>
                        <a:cs typeface="Times New Roman" pitchFamily="18" charset="0"/>
                      </a:endParaRPr>
                    </a:p>
                  </a:txBody>
                  <a:tcPr marL="11789" marR="11789"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6.1925</a:t>
                      </a:r>
                      <a:endParaRPr lang="en-US" sz="1800">
                        <a:effectLst/>
                        <a:latin typeface="Times New Roman" pitchFamily="18" charset="0"/>
                        <a:ea typeface="Calibri"/>
                        <a:cs typeface="Times New Roman" pitchFamily="18" charset="0"/>
                      </a:endParaRPr>
                    </a:p>
                  </a:txBody>
                  <a:tcPr marL="11789" marR="11789" marT="0" marB="0"/>
                </a:tc>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6.0111</a:t>
                      </a:r>
                      <a:endParaRPr lang="en-US" sz="1800" dirty="0">
                        <a:effectLst/>
                        <a:latin typeface="Times New Roman" pitchFamily="18" charset="0"/>
                        <a:ea typeface="Calibri"/>
                        <a:cs typeface="Times New Roman" pitchFamily="18" charset="0"/>
                      </a:endParaRPr>
                    </a:p>
                  </a:txBody>
                  <a:tcPr marL="11789" marR="11789" marT="0" marB="0"/>
                </a:tc>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6.3419</a:t>
                      </a:r>
                      <a:endParaRPr lang="en-US" sz="1800" dirty="0">
                        <a:effectLst/>
                        <a:latin typeface="Times New Roman" pitchFamily="18" charset="0"/>
                        <a:ea typeface="Calibri"/>
                        <a:cs typeface="Times New Roman" pitchFamily="18" charset="0"/>
                      </a:endParaRPr>
                    </a:p>
                  </a:txBody>
                  <a:tcPr marL="11789" marR="11789"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6.1928</a:t>
                      </a:r>
                      <a:endParaRPr lang="en-US" sz="1800">
                        <a:effectLst/>
                        <a:latin typeface="Times New Roman" pitchFamily="18" charset="0"/>
                        <a:ea typeface="Calibri"/>
                        <a:cs typeface="Times New Roman" pitchFamily="18" charset="0"/>
                      </a:endParaRPr>
                    </a:p>
                  </a:txBody>
                  <a:tcPr marL="11789" marR="11789" marT="0" marB="0"/>
                </a:tc>
              </a:tr>
              <a:tr h="582780">
                <a:tc>
                  <a:txBody>
                    <a:bodyPr/>
                    <a:lstStyle/>
                    <a:p>
                      <a:pPr marL="0" marR="0" algn="ctr">
                        <a:lnSpc>
                          <a:spcPct val="150000"/>
                        </a:lnSpc>
                        <a:spcBef>
                          <a:spcPts val="0"/>
                        </a:spcBef>
                        <a:spcAft>
                          <a:spcPts val="0"/>
                        </a:spcAft>
                      </a:pPr>
                      <a:r>
                        <a:rPr lang="en-US" sz="1800" b="1" dirty="0">
                          <a:solidFill>
                            <a:schemeClr val="bg1"/>
                          </a:solidFill>
                          <a:effectLst/>
                          <a:latin typeface="Times New Roman" pitchFamily="18" charset="0"/>
                          <a:cs typeface="Times New Roman" pitchFamily="18" charset="0"/>
                        </a:rPr>
                        <a:t>13.0 GHz</a:t>
                      </a:r>
                      <a:endParaRPr lang="en-US" sz="1800" b="1" dirty="0">
                        <a:solidFill>
                          <a:schemeClr val="bg1"/>
                        </a:solidFill>
                        <a:effectLst/>
                        <a:latin typeface="Times New Roman" pitchFamily="18" charset="0"/>
                        <a:ea typeface="Calibri"/>
                        <a:cs typeface="Times New Roman" pitchFamily="18" charset="0"/>
                      </a:endParaRPr>
                    </a:p>
                  </a:txBody>
                  <a:tcPr marL="11789" marR="11789" marT="0" marB="0">
                    <a:solidFill>
                      <a:schemeClr val="accent1"/>
                    </a:solidFill>
                  </a:tcPr>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4.1477</a:t>
                      </a:r>
                      <a:endParaRPr lang="en-US" sz="1800">
                        <a:effectLst/>
                        <a:latin typeface="Times New Roman" pitchFamily="18" charset="0"/>
                        <a:ea typeface="Calibri"/>
                        <a:cs typeface="Times New Roman" pitchFamily="18" charset="0"/>
                      </a:endParaRPr>
                    </a:p>
                  </a:txBody>
                  <a:tcPr marL="11789" marR="11789"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4.0502</a:t>
                      </a:r>
                      <a:endParaRPr lang="en-US" sz="1800">
                        <a:effectLst/>
                        <a:latin typeface="Times New Roman" pitchFamily="18" charset="0"/>
                        <a:ea typeface="Calibri"/>
                        <a:cs typeface="Times New Roman" pitchFamily="18" charset="0"/>
                      </a:endParaRPr>
                    </a:p>
                  </a:txBody>
                  <a:tcPr marL="11789" marR="11789"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3.9826</a:t>
                      </a:r>
                      <a:endParaRPr lang="en-US" sz="1800">
                        <a:effectLst/>
                        <a:latin typeface="Times New Roman" pitchFamily="18" charset="0"/>
                        <a:ea typeface="Calibri"/>
                        <a:cs typeface="Times New Roman" pitchFamily="18" charset="0"/>
                      </a:endParaRPr>
                    </a:p>
                  </a:txBody>
                  <a:tcPr marL="11789" marR="11789"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4.8206</a:t>
                      </a:r>
                      <a:endParaRPr lang="en-US" sz="1800">
                        <a:effectLst/>
                        <a:latin typeface="Times New Roman" pitchFamily="18" charset="0"/>
                        <a:ea typeface="Calibri"/>
                        <a:cs typeface="Times New Roman" pitchFamily="18" charset="0"/>
                      </a:endParaRPr>
                    </a:p>
                  </a:txBody>
                  <a:tcPr marL="11789" marR="11789" marT="0" marB="0"/>
                </a:tc>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3.9905</a:t>
                      </a:r>
                      <a:endParaRPr lang="en-US" sz="1800" dirty="0">
                        <a:effectLst/>
                        <a:latin typeface="Times New Roman" pitchFamily="18" charset="0"/>
                        <a:ea typeface="Calibri"/>
                        <a:cs typeface="Times New Roman" pitchFamily="18" charset="0"/>
                      </a:endParaRPr>
                    </a:p>
                  </a:txBody>
                  <a:tcPr marL="11789" marR="11789" marT="0" marB="0"/>
                </a:tc>
              </a:tr>
            </a:tbl>
          </a:graphicData>
        </a:graphic>
      </p:graphicFrame>
      <p:pic>
        <p:nvPicPr>
          <p:cNvPr id="14337" name="Picture 1"/>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0" y="3200400"/>
            <a:ext cx="6143636" cy="3657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6" name="Slide Number Placeholder 5"/>
          <p:cNvSpPr>
            <a:spLocks noGrp="1"/>
          </p:cNvSpPr>
          <p:nvPr>
            <p:ph type="sldNum" sz="quarter" idx="11"/>
          </p:nvPr>
        </p:nvSpPr>
        <p:spPr/>
        <p:txBody>
          <a:bodyPr/>
          <a:lstStyle/>
          <a:p>
            <a:fld id="{C2C1A6A0-3F2F-4BAF-B319-837518E4456F}" type="slidenum">
              <a:rPr lang="en-US" smtClean="0"/>
              <a:pPr/>
              <a:t>54</a:t>
            </a:fld>
            <a:endParaRPr lang="en-US"/>
          </a:p>
        </p:txBody>
      </p:sp>
    </p:spTree>
    <p:extLst>
      <p:ext uri="{BB962C8B-B14F-4D97-AF65-F5344CB8AC3E}">
        <p14:creationId xmlns:p14="http://schemas.microsoft.com/office/powerpoint/2010/main" xmlns="" val="734727987"/>
      </p:ext>
    </p:extLst>
  </p:cSld>
  <p:clrMapOvr>
    <a:masterClrMapping/>
  </p:clrMapOvr>
  <p:transition>
    <p:strips dir="ru"/>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429388" y="2357430"/>
            <a:ext cx="2000264" cy="2000264"/>
          </a:xfrm>
        </p:spPr>
        <p:txBody>
          <a:bodyPr>
            <a:noAutofit/>
          </a:bodyPr>
          <a:lstStyle/>
          <a:p>
            <a:r>
              <a:rPr lang="en-US" sz="2800" b="1" dirty="0">
                <a:solidFill>
                  <a:schemeClr val="tx1"/>
                </a:solidFill>
              </a:rPr>
              <a:t>L</a:t>
            </a:r>
            <a:r>
              <a:rPr lang="en-US" sz="2800" b="1" dirty="0" smtClean="0">
                <a:solidFill>
                  <a:schemeClr val="tx1"/>
                </a:solidFill>
              </a:rPr>
              <a:t>oss Factor for 20%</a:t>
            </a:r>
            <a:br>
              <a:rPr lang="en-US" sz="2800" b="1" dirty="0" smtClean="0">
                <a:solidFill>
                  <a:schemeClr val="tx1"/>
                </a:solidFill>
              </a:rPr>
            </a:br>
            <a:r>
              <a:rPr lang="en-US" sz="2800" b="1" dirty="0" smtClean="0">
                <a:solidFill>
                  <a:schemeClr val="tx1"/>
                </a:solidFill>
              </a:rPr>
              <a:t>Moisture Content </a:t>
            </a:r>
            <a:br>
              <a:rPr lang="en-US" sz="2800" b="1" dirty="0" smtClean="0">
                <a:solidFill>
                  <a:schemeClr val="tx1"/>
                </a:solidFill>
              </a:rPr>
            </a:br>
            <a:endParaRPr lang="en-US" sz="2800" b="1" dirty="0">
              <a:solidFill>
                <a:schemeClr val="tx1"/>
              </a:solidFill>
            </a:endParaRPr>
          </a:p>
        </p:txBody>
      </p:sp>
      <p:graphicFrame>
        <p:nvGraphicFramePr>
          <p:cNvPr id="5" name="Content Placeholder 4"/>
          <p:cNvGraphicFramePr>
            <a:graphicFrameLocks noGrp="1"/>
          </p:cNvGraphicFramePr>
          <p:nvPr>
            <p:ph sz="quarter" idx="1"/>
            <p:extLst>
              <p:ext uri="{D42A27DB-BD31-4B8C-83A1-F6EECF244321}">
                <p14:modId xmlns:p14="http://schemas.microsoft.com/office/powerpoint/2010/main" xmlns="" val="2162544164"/>
              </p:ext>
            </p:extLst>
          </p:nvPr>
        </p:nvGraphicFramePr>
        <p:xfrm>
          <a:off x="1" y="0"/>
          <a:ext cx="6143636" cy="3567684"/>
        </p:xfrm>
        <a:graphic>
          <a:graphicData uri="http://schemas.openxmlformats.org/drawingml/2006/table">
            <a:tbl>
              <a:tblPr firstRow="1" firstCol="1" bandRow="1">
                <a:tableStyleId>{5C22544A-7EE6-4342-B048-85BDC9FD1C3A}</a:tableStyleId>
              </a:tblPr>
              <a:tblGrid>
                <a:gridCol w="1138738"/>
                <a:gridCol w="1040131"/>
                <a:gridCol w="995501"/>
                <a:gridCol w="1084762"/>
                <a:gridCol w="942252"/>
                <a:gridCol w="942252"/>
              </a:tblGrid>
              <a:tr h="655320">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Frequencies/Samples</a:t>
                      </a:r>
                      <a:endParaRPr lang="en-US" sz="1800">
                        <a:effectLst/>
                        <a:latin typeface="Times New Roman" pitchFamily="18" charset="0"/>
                        <a:ea typeface="Calibri"/>
                        <a:cs typeface="Times New Roman" pitchFamily="18" charset="0"/>
                      </a:endParaRPr>
                    </a:p>
                  </a:txBody>
                  <a:tcPr marL="39688" marR="39688"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Wheat</a:t>
                      </a:r>
                      <a:endParaRPr lang="en-US" sz="1800">
                        <a:effectLst/>
                        <a:latin typeface="Times New Roman" pitchFamily="18" charset="0"/>
                        <a:ea typeface="Calibri"/>
                        <a:cs typeface="Times New Roman" pitchFamily="18" charset="0"/>
                      </a:endParaRPr>
                    </a:p>
                  </a:txBody>
                  <a:tcPr marL="39688" marR="39688"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Rice</a:t>
                      </a:r>
                      <a:endParaRPr lang="en-US" sz="1800">
                        <a:effectLst/>
                        <a:latin typeface="Times New Roman" pitchFamily="18" charset="0"/>
                        <a:ea typeface="Calibri"/>
                        <a:cs typeface="Times New Roman" pitchFamily="18" charset="0"/>
                      </a:endParaRPr>
                    </a:p>
                  </a:txBody>
                  <a:tcPr marL="39688" marR="39688"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Arhar</a:t>
                      </a:r>
                      <a:endParaRPr lang="en-US" sz="1800">
                        <a:effectLst/>
                        <a:latin typeface="Times New Roman" pitchFamily="18" charset="0"/>
                        <a:ea typeface="Calibri"/>
                        <a:cs typeface="Times New Roman" pitchFamily="18" charset="0"/>
                      </a:endParaRPr>
                    </a:p>
                  </a:txBody>
                  <a:tcPr marL="39688" marR="39688"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Chana</a:t>
                      </a:r>
                      <a:endParaRPr lang="en-US" sz="1800">
                        <a:effectLst/>
                        <a:latin typeface="Times New Roman" pitchFamily="18" charset="0"/>
                        <a:ea typeface="Calibri"/>
                        <a:cs typeface="Times New Roman" pitchFamily="18" charset="0"/>
                      </a:endParaRPr>
                    </a:p>
                  </a:txBody>
                  <a:tcPr marL="39688" marR="39688"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Moong</a:t>
                      </a:r>
                      <a:endParaRPr lang="en-US" sz="1800">
                        <a:effectLst/>
                        <a:latin typeface="Times New Roman" pitchFamily="18" charset="0"/>
                        <a:ea typeface="Calibri"/>
                        <a:cs typeface="Times New Roman" pitchFamily="18" charset="0"/>
                      </a:endParaRPr>
                    </a:p>
                  </a:txBody>
                  <a:tcPr marL="39688" marR="39688" marT="0" marB="0"/>
                </a:tc>
              </a:tr>
              <a:tr h="655320">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5.30 GHz</a:t>
                      </a:r>
                      <a:endParaRPr lang="en-US" sz="1800">
                        <a:effectLst/>
                        <a:latin typeface="Times New Roman" pitchFamily="18" charset="0"/>
                        <a:ea typeface="Calibri"/>
                        <a:cs typeface="Times New Roman" pitchFamily="18" charset="0"/>
                      </a:endParaRPr>
                    </a:p>
                  </a:txBody>
                  <a:tcPr marL="39688" marR="39688"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1.7851</a:t>
                      </a:r>
                      <a:endParaRPr lang="en-US" sz="1800">
                        <a:effectLst/>
                        <a:latin typeface="Times New Roman" pitchFamily="18" charset="0"/>
                        <a:ea typeface="Calibri"/>
                        <a:cs typeface="Times New Roman" pitchFamily="18" charset="0"/>
                      </a:endParaRPr>
                    </a:p>
                  </a:txBody>
                  <a:tcPr marL="39688" marR="39688"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1.6123</a:t>
                      </a:r>
                      <a:endParaRPr lang="en-US" sz="1800">
                        <a:effectLst/>
                        <a:latin typeface="Times New Roman" pitchFamily="18" charset="0"/>
                        <a:ea typeface="Calibri"/>
                        <a:cs typeface="Times New Roman" pitchFamily="18" charset="0"/>
                      </a:endParaRPr>
                    </a:p>
                  </a:txBody>
                  <a:tcPr marL="39688" marR="39688"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1.5103</a:t>
                      </a:r>
                      <a:endParaRPr lang="en-US" sz="1800">
                        <a:effectLst/>
                        <a:latin typeface="Times New Roman" pitchFamily="18" charset="0"/>
                        <a:ea typeface="Calibri"/>
                        <a:cs typeface="Times New Roman" pitchFamily="18" charset="0"/>
                      </a:endParaRPr>
                    </a:p>
                  </a:txBody>
                  <a:tcPr marL="39688" marR="39688"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1.1961</a:t>
                      </a:r>
                      <a:endParaRPr lang="en-US" sz="1800">
                        <a:effectLst/>
                        <a:latin typeface="Times New Roman" pitchFamily="18" charset="0"/>
                        <a:ea typeface="Calibri"/>
                        <a:cs typeface="Times New Roman" pitchFamily="18" charset="0"/>
                      </a:endParaRPr>
                    </a:p>
                  </a:txBody>
                  <a:tcPr marL="39688" marR="39688"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1.3577</a:t>
                      </a:r>
                      <a:endParaRPr lang="en-US" sz="1800">
                        <a:effectLst/>
                        <a:latin typeface="Times New Roman" pitchFamily="18" charset="0"/>
                        <a:ea typeface="Calibri"/>
                        <a:cs typeface="Times New Roman" pitchFamily="18" charset="0"/>
                      </a:endParaRPr>
                    </a:p>
                  </a:txBody>
                  <a:tcPr marL="39688" marR="39688" marT="0" marB="0"/>
                </a:tc>
              </a:tr>
              <a:tr h="655320">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6.60 GHz</a:t>
                      </a:r>
                      <a:endParaRPr lang="en-US" sz="1800">
                        <a:effectLst/>
                        <a:latin typeface="Times New Roman" pitchFamily="18" charset="0"/>
                        <a:ea typeface="Calibri"/>
                        <a:cs typeface="Times New Roman" pitchFamily="18" charset="0"/>
                      </a:endParaRPr>
                    </a:p>
                  </a:txBody>
                  <a:tcPr marL="39688" marR="39688"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1.9614</a:t>
                      </a:r>
                      <a:endParaRPr lang="en-US" sz="1800">
                        <a:effectLst/>
                        <a:latin typeface="Times New Roman" pitchFamily="18" charset="0"/>
                        <a:ea typeface="Calibri"/>
                        <a:cs typeface="Times New Roman" pitchFamily="18" charset="0"/>
                      </a:endParaRPr>
                    </a:p>
                  </a:txBody>
                  <a:tcPr marL="39688" marR="39688"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2.0115</a:t>
                      </a:r>
                      <a:endParaRPr lang="en-US" sz="1800">
                        <a:effectLst/>
                        <a:latin typeface="Times New Roman" pitchFamily="18" charset="0"/>
                        <a:ea typeface="Calibri"/>
                        <a:cs typeface="Times New Roman" pitchFamily="18" charset="0"/>
                      </a:endParaRPr>
                    </a:p>
                  </a:txBody>
                  <a:tcPr marL="39688" marR="39688"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1.6679</a:t>
                      </a:r>
                      <a:endParaRPr lang="en-US" sz="1800">
                        <a:effectLst/>
                        <a:latin typeface="Times New Roman" pitchFamily="18" charset="0"/>
                        <a:ea typeface="Calibri"/>
                        <a:cs typeface="Times New Roman" pitchFamily="18" charset="0"/>
                      </a:endParaRPr>
                    </a:p>
                  </a:txBody>
                  <a:tcPr marL="39688" marR="39688"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2.0573</a:t>
                      </a:r>
                      <a:endParaRPr lang="en-US" sz="1800">
                        <a:effectLst/>
                        <a:latin typeface="Times New Roman" pitchFamily="18" charset="0"/>
                        <a:ea typeface="Calibri"/>
                        <a:cs typeface="Times New Roman" pitchFamily="18" charset="0"/>
                      </a:endParaRPr>
                    </a:p>
                  </a:txBody>
                  <a:tcPr marL="39688" marR="39688"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1.9764</a:t>
                      </a:r>
                      <a:endParaRPr lang="en-US" sz="1800">
                        <a:effectLst/>
                        <a:latin typeface="Times New Roman" pitchFamily="18" charset="0"/>
                        <a:ea typeface="Calibri"/>
                        <a:cs typeface="Times New Roman" pitchFamily="18" charset="0"/>
                      </a:endParaRPr>
                    </a:p>
                  </a:txBody>
                  <a:tcPr marL="39688" marR="39688" marT="0" marB="0"/>
                </a:tc>
              </a:tr>
              <a:tr h="655320">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10.65 GHz</a:t>
                      </a:r>
                      <a:endParaRPr lang="en-US" sz="1800">
                        <a:effectLst/>
                        <a:latin typeface="Times New Roman" pitchFamily="18" charset="0"/>
                        <a:ea typeface="Calibri"/>
                        <a:cs typeface="Times New Roman" pitchFamily="18" charset="0"/>
                      </a:endParaRPr>
                    </a:p>
                  </a:txBody>
                  <a:tcPr marL="39688" marR="39688"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2.9903</a:t>
                      </a:r>
                      <a:endParaRPr lang="en-US" sz="1800">
                        <a:effectLst/>
                        <a:latin typeface="Times New Roman" pitchFamily="18" charset="0"/>
                        <a:ea typeface="Calibri"/>
                        <a:cs typeface="Times New Roman" pitchFamily="18" charset="0"/>
                      </a:endParaRPr>
                    </a:p>
                  </a:txBody>
                  <a:tcPr marL="39688" marR="39688"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2.9621</a:t>
                      </a:r>
                      <a:endParaRPr lang="en-US" sz="1800">
                        <a:effectLst/>
                        <a:latin typeface="Times New Roman" pitchFamily="18" charset="0"/>
                        <a:ea typeface="Calibri"/>
                        <a:cs typeface="Times New Roman" pitchFamily="18" charset="0"/>
                      </a:endParaRPr>
                    </a:p>
                  </a:txBody>
                  <a:tcPr marL="39688" marR="39688"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2.0915</a:t>
                      </a:r>
                      <a:endParaRPr lang="en-US" sz="1800">
                        <a:effectLst/>
                        <a:latin typeface="Times New Roman" pitchFamily="18" charset="0"/>
                        <a:ea typeface="Calibri"/>
                        <a:cs typeface="Times New Roman" pitchFamily="18" charset="0"/>
                      </a:endParaRPr>
                    </a:p>
                  </a:txBody>
                  <a:tcPr marL="39688" marR="39688"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2.6214</a:t>
                      </a:r>
                      <a:endParaRPr lang="en-US" sz="1800">
                        <a:effectLst/>
                        <a:latin typeface="Times New Roman" pitchFamily="18" charset="0"/>
                        <a:ea typeface="Calibri"/>
                        <a:cs typeface="Times New Roman" pitchFamily="18" charset="0"/>
                      </a:endParaRPr>
                    </a:p>
                  </a:txBody>
                  <a:tcPr marL="39688" marR="39688"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2.3551</a:t>
                      </a:r>
                      <a:endParaRPr lang="en-US" sz="1800">
                        <a:effectLst/>
                        <a:latin typeface="Times New Roman" pitchFamily="18" charset="0"/>
                        <a:ea typeface="Calibri"/>
                        <a:cs typeface="Times New Roman" pitchFamily="18" charset="0"/>
                      </a:endParaRPr>
                    </a:p>
                  </a:txBody>
                  <a:tcPr marL="39688" marR="39688" marT="0" marB="0"/>
                </a:tc>
              </a:tr>
              <a:tr h="655320">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13.00 GHz</a:t>
                      </a:r>
                      <a:endParaRPr lang="en-US" sz="1800">
                        <a:effectLst/>
                        <a:latin typeface="Times New Roman" pitchFamily="18" charset="0"/>
                        <a:ea typeface="Calibri"/>
                        <a:cs typeface="Times New Roman" pitchFamily="18" charset="0"/>
                      </a:endParaRPr>
                    </a:p>
                  </a:txBody>
                  <a:tcPr marL="39688" marR="39688"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3.1287</a:t>
                      </a:r>
                      <a:endParaRPr lang="en-US" sz="1800">
                        <a:effectLst/>
                        <a:latin typeface="Times New Roman" pitchFamily="18" charset="0"/>
                        <a:ea typeface="Calibri"/>
                        <a:cs typeface="Times New Roman" pitchFamily="18" charset="0"/>
                      </a:endParaRPr>
                    </a:p>
                  </a:txBody>
                  <a:tcPr marL="39688" marR="39688"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3.0488</a:t>
                      </a:r>
                      <a:endParaRPr lang="en-US" sz="1800">
                        <a:effectLst/>
                        <a:latin typeface="Times New Roman" pitchFamily="18" charset="0"/>
                        <a:ea typeface="Calibri"/>
                        <a:cs typeface="Times New Roman" pitchFamily="18" charset="0"/>
                      </a:endParaRPr>
                    </a:p>
                  </a:txBody>
                  <a:tcPr marL="39688" marR="39688"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2.2209</a:t>
                      </a:r>
                      <a:endParaRPr lang="en-US" sz="1800">
                        <a:effectLst/>
                        <a:latin typeface="Times New Roman" pitchFamily="18" charset="0"/>
                        <a:ea typeface="Calibri"/>
                        <a:cs typeface="Times New Roman" pitchFamily="18" charset="0"/>
                      </a:endParaRPr>
                    </a:p>
                  </a:txBody>
                  <a:tcPr marL="39688" marR="39688"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2.8941</a:t>
                      </a:r>
                      <a:endParaRPr lang="en-US" sz="1800">
                        <a:effectLst/>
                        <a:latin typeface="Times New Roman" pitchFamily="18" charset="0"/>
                        <a:ea typeface="Calibri"/>
                        <a:cs typeface="Times New Roman" pitchFamily="18" charset="0"/>
                      </a:endParaRPr>
                    </a:p>
                  </a:txBody>
                  <a:tcPr marL="39688" marR="39688" marT="0" marB="0"/>
                </a:tc>
                <a:tc>
                  <a:txBody>
                    <a:bodyPr/>
                    <a:lstStyle/>
                    <a:p>
                      <a:pPr marL="0" marR="0" algn="ctr">
                        <a:lnSpc>
                          <a:spcPct val="115000"/>
                        </a:lnSpc>
                        <a:spcBef>
                          <a:spcPts val="0"/>
                        </a:spcBef>
                        <a:spcAft>
                          <a:spcPts val="0"/>
                        </a:spcAft>
                      </a:pPr>
                      <a:r>
                        <a:rPr lang="en-IN" sz="1800" dirty="0">
                          <a:effectLst/>
                          <a:latin typeface="Times New Roman" pitchFamily="18" charset="0"/>
                          <a:cs typeface="Times New Roman" pitchFamily="18" charset="0"/>
                        </a:rPr>
                        <a:t>2.8201</a:t>
                      </a:r>
                      <a:endParaRPr lang="en-US" sz="1800" dirty="0">
                        <a:effectLst/>
                        <a:latin typeface="Times New Roman" pitchFamily="18" charset="0"/>
                        <a:ea typeface="Calibri"/>
                        <a:cs typeface="Times New Roman" pitchFamily="18" charset="0"/>
                      </a:endParaRPr>
                    </a:p>
                  </a:txBody>
                  <a:tcPr marL="39688" marR="39688" marT="0" marB="0"/>
                </a:tc>
              </a:tr>
            </a:tbl>
          </a:graphicData>
        </a:graphic>
      </p:graphicFrame>
      <p:pic>
        <p:nvPicPr>
          <p:cNvPr id="15361" name="Picture 1"/>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0" y="3571876"/>
            <a:ext cx="6215074" cy="328612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6" name="Slide Number Placeholder 5"/>
          <p:cNvSpPr>
            <a:spLocks noGrp="1"/>
          </p:cNvSpPr>
          <p:nvPr>
            <p:ph type="sldNum" sz="quarter" idx="15"/>
          </p:nvPr>
        </p:nvSpPr>
        <p:spPr/>
        <p:txBody>
          <a:bodyPr/>
          <a:lstStyle/>
          <a:p>
            <a:fld id="{C2C1A6A0-3F2F-4BAF-B319-837518E4456F}" type="slidenum">
              <a:rPr lang="en-US" smtClean="0"/>
              <a:pPr/>
              <a:t>55</a:t>
            </a:fld>
            <a:endParaRPr lang="en-US"/>
          </a:p>
        </p:txBody>
      </p:sp>
    </p:spTree>
    <p:extLst>
      <p:ext uri="{BB962C8B-B14F-4D97-AF65-F5344CB8AC3E}">
        <p14:creationId xmlns:p14="http://schemas.microsoft.com/office/powerpoint/2010/main" xmlns="" val="3912874972"/>
      </p:ext>
    </p:extLst>
  </p:cSld>
  <p:clrMapOvr>
    <a:masterClrMapping/>
  </p:clrMapOvr>
  <p:transition>
    <p:strips dir="ld"/>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57949" y="3200400"/>
            <a:ext cx="2286017" cy="457200"/>
          </a:xfrm>
        </p:spPr>
        <p:txBody>
          <a:bodyPr>
            <a:noAutofit/>
          </a:bodyPr>
          <a:lstStyle/>
          <a:p>
            <a:r>
              <a:rPr lang="en-US" sz="2800" b="1" dirty="0" smtClean="0">
                <a:solidFill>
                  <a:schemeClr val="tx1"/>
                </a:solidFill>
              </a:rPr>
              <a:t>Loss Factor for</a:t>
            </a:r>
            <a:br>
              <a:rPr lang="en-US" sz="2800" b="1" dirty="0" smtClean="0">
                <a:solidFill>
                  <a:schemeClr val="tx1"/>
                </a:solidFill>
              </a:rPr>
            </a:br>
            <a:r>
              <a:rPr lang="en-US" sz="2800" b="1" dirty="0" smtClean="0">
                <a:solidFill>
                  <a:schemeClr val="tx1"/>
                </a:solidFill>
              </a:rPr>
              <a:t>10%</a:t>
            </a:r>
            <a:br>
              <a:rPr lang="en-US" sz="2800" b="1" dirty="0" smtClean="0">
                <a:solidFill>
                  <a:schemeClr val="tx1"/>
                </a:solidFill>
              </a:rPr>
            </a:br>
            <a:r>
              <a:rPr lang="en-US" sz="2800" b="1" dirty="0" smtClean="0">
                <a:solidFill>
                  <a:schemeClr val="tx1"/>
                </a:solidFill>
              </a:rPr>
              <a:t>Moisture Content</a:t>
            </a:r>
            <a:endParaRPr lang="en-US" sz="2800" b="1" dirty="0">
              <a:solidFill>
                <a:schemeClr val="tx1"/>
              </a:solidFill>
            </a:endParaRPr>
          </a:p>
        </p:txBody>
      </p:sp>
      <p:graphicFrame>
        <p:nvGraphicFramePr>
          <p:cNvPr id="5" name="Picture Placeholder 4"/>
          <p:cNvGraphicFramePr>
            <a:graphicFrameLocks noGrp="1"/>
          </p:cNvGraphicFramePr>
          <p:nvPr>
            <p:ph type="pic" idx="1"/>
            <p:extLst>
              <p:ext uri="{D42A27DB-BD31-4B8C-83A1-F6EECF244321}">
                <p14:modId xmlns:p14="http://schemas.microsoft.com/office/powerpoint/2010/main" xmlns="" val="1090859692"/>
              </p:ext>
            </p:extLst>
          </p:nvPr>
        </p:nvGraphicFramePr>
        <p:xfrm>
          <a:off x="-1" y="0"/>
          <a:ext cx="6143637" cy="3200403"/>
        </p:xfrm>
        <a:graphic>
          <a:graphicData uri="http://schemas.openxmlformats.org/drawingml/2006/table">
            <a:tbl>
              <a:tblPr firstRow="1" firstCol="1" bandRow="1">
                <a:tableStyleId>{5C22544A-7EE6-4342-B048-85BDC9FD1C3A}</a:tableStyleId>
              </a:tblPr>
              <a:tblGrid>
                <a:gridCol w="1574635"/>
                <a:gridCol w="949630"/>
                <a:gridCol w="949630"/>
                <a:gridCol w="949630"/>
                <a:gridCol w="860056"/>
                <a:gridCol w="860056"/>
              </a:tblGrid>
              <a:tr h="652211">
                <a:tc>
                  <a:txBody>
                    <a:bodyPr/>
                    <a:lstStyle/>
                    <a:p>
                      <a:pPr marL="0" marR="0" algn="ctr">
                        <a:lnSpc>
                          <a:spcPct val="115000"/>
                        </a:lnSpc>
                        <a:spcBef>
                          <a:spcPts val="0"/>
                        </a:spcBef>
                        <a:spcAft>
                          <a:spcPts val="0"/>
                        </a:spcAft>
                      </a:pPr>
                      <a:r>
                        <a:rPr lang="en-IN" sz="1800" dirty="0">
                          <a:effectLst/>
                          <a:latin typeface="Times New Roman" pitchFamily="18" charset="0"/>
                          <a:cs typeface="Times New Roman" pitchFamily="18" charset="0"/>
                        </a:rPr>
                        <a:t>Frequencies/Samples</a:t>
                      </a:r>
                      <a:endParaRPr lang="en-US" sz="1800" dirty="0">
                        <a:effectLst/>
                        <a:latin typeface="Times New Roman" pitchFamily="18" charset="0"/>
                        <a:ea typeface="Calibri"/>
                        <a:cs typeface="Times New Roman" pitchFamily="18" charset="0"/>
                      </a:endParaRPr>
                    </a:p>
                  </a:txBody>
                  <a:tcPr marL="39771" marR="39771"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Wheat</a:t>
                      </a:r>
                      <a:endParaRPr lang="en-US" sz="1800">
                        <a:effectLst/>
                        <a:latin typeface="Times New Roman" pitchFamily="18" charset="0"/>
                        <a:ea typeface="Calibri"/>
                        <a:cs typeface="Times New Roman" pitchFamily="18" charset="0"/>
                      </a:endParaRPr>
                    </a:p>
                  </a:txBody>
                  <a:tcPr marL="39771" marR="39771"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Rice</a:t>
                      </a:r>
                      <a:endParaRPr lang="en-US" sz="1800">
                        <a:effectLst/>
                        <a:latin typeface="Times New Roman" pitchFamily="18" charset="0"/>
                        <a:ea typeface="Calibri"/>
                        <a:cs typeface="Times New Roman" pitchFamily="18" charset="0"/>
                      </a:endParaRPr>
                    </a:p>
                  </a:txBody>
                  <a:tcPr marL="39771" marR="39771"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Arhar</a:t>
                      </a:r>
                      <a:endParaRPr lang="en-US" sz="1800">
                        <a:effectLst/>
                        <a:latin typeface="Times New Roman" pitchFamily="18" charset="0"/>
                        <a:ea typeface="Calibri"/>
                        <a:cs typeface="Times New Roman" pitchFamily="18" charset="0"/>
                      </a:endParaRPr>
                    </a:p>
                  </a:txBody>
                  <a:tcPr marL="39771" marR="39771"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Chana</a:t>
                      </a:r>
                      <a:endParaRPr lang="en-US" sz="1800">
                        <a:effectLst/>
                        <a:latin typeface="Times New Roman" pitchFamily="18" charset="0"/>
                        <a:ea typeface="Calibri"/>
                        <a:cs typeface="Times New Roman" pitchFamily="18" charset="0"/>
                      </a:endParaRPr>
                    </a:p>
                  </a:txBody>
                  <a:tcPr marL="39771" marR="39771"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Moong</a:t>
                      </a:r>
                      <a:endParaRPr lang="en-US" sz="1800">
                        <a:effectLst/>
                        <a:latin typeface="Times New Roman" pitchFamily="18" charset="0"/>
                        <a:ea typeface="Calibri"/>
                        <a:cs typeface="Times New Roman" pitchFamily="18" charset="0"/>
                      </a:endParaRPr>
                    </a:p>
                  </a:txBody>
                  <a:tcPr marL="39771" marR="39771" marT="0" marB="0"/>
                </a:tc>
              </a:tr>
              <a:tr h="637048">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5.30 GHz</a:t>
                      </a:r>
                      <a:endParaRPr lang="en-US" sz="1800">
                        <a:effectLst/>
                        <a:latin typeface="Times New Roman" pitchFamily="18" charset="0"/>
                        <a:ea typeface="Calibri"/>
                        <a:cs typeface="Times New Roman" pitchFamily="18" charset="0"/>
                      </a:endParaRPr>
                    </a:p>
                  </a:txBody>
                  <a:tcPr marL="39771" marR="39771"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1.2613</a:t>
                      </a:r>
                      <a:endParaRPr lang="en-US" sz="1800">
                        <a:effectLst/>
                        <a:latin typeface="Times New Roman" pitchFamily="18" charset="0"/>
                        <a:ea typeface="Calibri"/>
                        <a:cs typeface="Times New Roman" pitchFamily="18" charset="0"/>
                      </a:endParaRPr>
                    </a:p>
                  </a:txBody>
                  <a:tcPr marL="39771" marR="39771"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1.2305</a:t>
                      </a:r>
                      <a:endParaRPr lang="en-US" sz="1800">
                        <a:effectLst/>
                        <a:latin typeface="Times New Roman" pitchFamily="18" charset="0"/>
                        <a:ea typeface="Calibri"/>
                        <a:cs typeface="Times New Roman" pitchFamily="18" charset="0"/>
                      </a:endParaRPr>
                    </a:p>
                  </a:txBody>
                  <a:tcPr marL="39771" marR="39771"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1.0325</a:t>
                      </a:r>
                      <a:endParaRPr lang="en-US" sz="1800">
                        <a:effectLst/>
                        <a:latin typeface="Times New Roman" pitchFamily="18" charset="0"/>
                        <a:ea typeface="Calibri"/>
                        <a:cs typeface="Times New Roman" pitchFamily="18" charset="0"/>
                      </a:endParaRPr>
                    </a:p>
                  </a:txBody>
                  <a:tcPr marL="39771" marR="39771"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0.8462</a:t>
                      </a:r>
                      <a:endParaRPr lang="en-US" sz="1800">
                        <a:effectLst/>
                        <a:latin typeface="Times New Roman" pitchFamily="18" charset="0"/>
                        <a:ea typeface="Calibri"/>
                        <a:cs typeface="Times New Roman" pitchFamily="18" charset="0"/>
                      </a:endParaRPr>
                    </a:p>
                  </a:txBody>
                  <a:tcPr marL="39771" marR="39771"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1.1985</a:t>
                      </a:r>
                      <a:endParaRPr lang="en-US" sz="1800">
                        <a:effectLst/>
                        <a:latin typeface="Times New Roman" pitchFamily="18" charset="0"/>
                        <a:ea typeface="Calibri"/>
                        <a:cs typeface="Times New Roman" pitchFamily="18" charset="0"/>
                      </a:endParaRPr>
                    </a:p>
                  </a:txBody>
                  <a:tcPr marL="39771" marR="39771" marT="0" marB="0"/>
                </a:tc>
              </a:tr>
              <a:tr h="637048">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6.60 GHz</a:t>
                      </a:r>
                      <a:endParaRPr lang="en-US" sz="1800">
                        <a:effectLst/>
                        <a:latin typeface="Times New Roman" pitchFamily="18" charset="0"/>
                        <a:ea typeface="Calibri"/>
                        <a:cs typeface="Times New Roman" pitchFamily="18" charset="0"/>
                      </a:endParaRPr>
                    </a:p>
                  </a:txBody>
                  <a:tcPr marL="39771" marR="39771"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1.465</a:t>
                      </a:r>
                      <a:endParaRPr lang="en-US" sz="1800">
                        <a:effectLst/>
                        <a:latin typeface="Times New Roman" pitchFamily="18" charset="0"/>
                        <a:ea typeface="Calibri"/>
                        <a:cs typeface="Times New Roman" pitchFamily="18" charset="0"/>
                      </a:endParaRPr>
                    </a:p>
                  </a:txBody>
                  <a:tcPr marL="39771" marR="39771"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1.8644</a:t>
                      </a:r>
                      <a:endParaRPr lang="en-US" sz="1800">
                        <a:effectLst/>
                        <a:latin typeface="Times New Roman" pitchFamily="18" charset="0"/>
                        <a:ea typeface="Calibri"/>
                        <a:cs typeface="Times New Roman" pitchFamily="18" charset="0"/>
                      </a:endParaRPr>
                    </a:p>
                  </a:txBody>
                  <a:tcPr marL="39771" marR="39771" marT="0" marB="0"/>
                </a:tc>
                <a:tc>
                  <a:txBody>
                    <a:bodyPr/>
                    <a:lstStyle/>
                    <a:p>
                      <a:pPr marL="0" marR="0" algn="ctr">
                        <a:lnSpc>
                          <a:spcPct val="115000"/>
                        </a:lnSpc>
                        <a:spcBef>
                          <a:spcPts val="0"/>
                        </a:spcBef>
                        <a:spcAft>
                          <a:spcPts val="0"/>
                        </a:spcAft>
                      </a:pPr>
                      <a:r>
                        <a:rPr lang="en-IN" sz="1800" dirty="0">
                          <a:effectLst/>
                          <a:latin typeface="Times New Roman" pitchFamily="18" charset="0"/>
                          <a:cs typeface="Times New Roman" pitchFamily="18" charset="0"/>
                        </a:rPr>
                        <a:t>1.1213</a:t>
                      </a:r>
                      <a:endParaRPr lang="en-US" sz="1800" dirty="0">
                        <a:effectLst/>
                        <a:latin typeface="Times New Roman" pitchFamily="18" charset="0"/>
                        <a:ea typeface="Calibri"/>
                        <a:cs typeface="Times New Roman" pitchFamily="18" charset="0"/>
                      </a:endParaRPr>
                    </a:p>
                  </a:txBody>
                  <a:tcPr marL="39771" marR="39771"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1.8154</a:t>
                      </a:r>
                      <a:endParaRPr lang="en-US" sz="1800">
                        <a:effectLst/>
                        <a:latin typeface="Times New Roman" pitchFamily="18" charset="0"/>
                        <a:ea typeface="Calibri"/>
                        <a:cs typeface="Times New Roman" pitchFamily="18" charset="0"/>
                      </a:endParaRPr>
                    </a:p>
                  </a:txBody>
                  <a:tcPr marL="39771" marR="39771"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1.5028</a:t>
                      </a:r>
                      <a:endParaRPr lang="en-US" sz="1800">
                        <a:effectLst/>
                        <a:latin typeface="Times New Roman" pitchFamily="18" charset="0"/>
                        <a:ea typeface="Calibri"/>
                        <a:cs typeface="Times New Roman" pitchFamily="18" charset="0"/>
                      </a:endParaRPr>
                    </a:p>
                  </a:txBody>
                  <a:tcPr marL="39771" marR="39771" marT="0" marB="0"/>
                </a:tc>
              </a:tr>
              <a:tr h="637048">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10.65 GHz</a:t>
                      </a:r>
                      <a:endParaRPr lang="en-US" sz="1800">
                        <a:effectLst/>
                        <a:latin typeface="Times New Roman" pitchFamily="18" charset="0"/>
                        <a:ea typeface="Calibri"/>
                        <a:cs typeface="Times New Roman" pitchFamily="18" charset="0"/>
                      </a:endParaRPr>
                    </a:p>
                  </a:txBody>
                  <a:tcPr marL="39771" marR="39771"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2.0321</a:t>
                      </a:r>
                      <a:endParaRPr lang="en-US" sz="1800">
                        <a:effectLst/>
                        <a:latin typeface="Times New Roman" pitchFamily="18" charset="0"/>
                        <a:ea typeface="Calibri"/>
                        <a:cs typeface="Times New Roman" pitchFamily="18" charset="0"/>
                      </a:endParaRPr>
                    </a:p>
                  </a:txBody>
                  <a:tcPr marL="39771" marR="39771"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2.1156</a:t>
                      </a:r>
                      <a:endParaRPr lang="en-US" sz="1800">
                        <a:effectLst/>
                        <a:latin typeface="Times New Roman" pitchFamily="18" charset="0"/>
                        <a:ea typeface="Calibri"/>
                        <a:cs typeface="Times New Roman" pitchFamily="18" charset="0"/>
                      </a:endParaRPr>
                    </a:p>
                  </a:txBody>
                  <a:tcPr marL="39771" marR="39771"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1.8854</a:t>
                      </a:r>
                      <a:endParaRPr lang="en-US" sz="1800">
                        <a:effectLst/>
                        <a:latin typeface="Times New Roman" pitchFamily="18" charset="0"/>
                        <a:ea typeface="Calibri"/>
                        <a:cs typeface="Times New Roman" pitchFamily="18" charset="0"/>
                      </a:endParaRPr>
                    </a:p>
                  </a:txBody>
                  <a:tcPr marL="39771" marR="39771"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2.1392</a:t>
                      </a:r>
                      <a:endParaRPr lang="en-US" sz="1800">
                        <a:effectLst/>
                        <a:latin typeface="Times New Roman" pitchFamily="18" charset="0"/>
                        <a:ea typeface="Calibri"/>
                        <a:cs typeface="Times New Roman" pitchFamily="18" charset="0"/>
                      </a:endParaRPr>
                    </a:p>
                  </a:txBody>
                  <a:tcPr marL="39771" marR="39771"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1.8816</a:t>
                      </a:r>
                      <a:endParaRPr lang="en-US" sz="1800">
                        <a:effectLst/>
                        <a:latin typeface="Times New Roman" pitchFamily="18" charset="0"/>
                        <a:ea typeface="Calibri"/>
                        <a:cs typeface="Times New Roman" pitchFamily="18" charset="0"/>
                      </a:endParaRPr>
                    </a:p>
                  </a:txBody>
                  <a:tcPr marL="39771" marR="39771" marT="0" marB="0"/>
                </a:tc>
              </a:tr>
              <a:tr h="637048">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13.00 GHz</a:t>
                      </a:r>
                      <a:endParaRPr lang="en-US" sz="1800">
                        <a:effectLst/>
                        <a:latin typeface="Times New Roman" pitchFamily="18" charset="0"/>
                        <a:ea typeface="Calibri"/>
                        <a:cs typeface="Times New Roman" pitchFamily="18" charset="0"/>
                      </a:endParaRPr>
                    </a:p>
                  </a:txBody>
                  <a:tcPr marL="39771" marR="39771"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2.642</a:t>
                      </a:r>
                      <a:endParaRPr lang="en-US" sz="1800">
                        <a:effectLst/>
                        <a:latin typeface="Times New Roman" pitchFamily="18" charset="0"/>
                        <a:ea typeface="Calibri"/>
                        <a:cs typeface="Times New Roman" pitchFamily="18" charset="0"/>
                      </a:endParaRPr>
                    </a:p>
                  </a:txBody>
                  <a:tcPr marL="39771" marR="39771"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2.2946</a:t>
                      </a:r>
                      <a:endParaRPr lang="en-US" sz="1800">
                        <a:effectLst/>
                        <a:latin typeface="Times New Roman" pitchFamily="18" charset="0"/>
                        <a:ea typeface="Calibri"/>
                        <a:cs typeface="Times New Roman" pitchFamily="18" charset="0"/>
                      </a:endParaRPr>
                    </a:p>
                  </a:txBody>
                  <a:tcPr marL="39771" marR="39771"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2.0512</a:t>
                      </a:r>
                      <a:endParaRPr lang="en-US" sz="1800">
                        <a:effectLst/>
                        <a:latin typeface="Times New Roman" pitchFamily="18" charset="0"/>
                        <a:ea typeface="Calibri"/>
                        <a:cs typeface="Times New Roman" pitchFamily="18" charset="0"/>
                      </a:endParaRPr>
                    </a:p>
                  </a:txBody>
                  <a:tcPr marL="39771" marR="39771"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2.6031</a:t>
                      </a:r>
                      <a:endParaRPr lang="en-US" sz="1800">
                        <a:effectLst/>
                        <a:latin typeface="Times New Roman" pitchFamily="18" charset="0"/>
                        <a:ea typeface="Calibri"/>
                        <a:cs typeface="Times New Roman" pitchFamily="18" charset="0"/>
                      </a:endParaRPr>
                    </a:p>
                  </a:txBody>
                  <a:tcPr marL="39771" marR="39771" marT="0" marB="0"/>
                </a:tc>
                <a:tc>
                  <a:txBody>
                    <a:bodyPr/>
                    <a:lstStyle/>
                    <a:p>
                      <a:pPr marL="0" marR="0" algn="ctr">
                        <a:lnSpc>
                          <a:spcPct val="115000"/>
                        </a:lnSpc>
                        <a:spcBef>
                          <a:spcPts val="0"/>
                        </a:spcBef>
                        <a:spcAft>
                          <a:spcPts val="0"/>
                        </a:spcAft>
                      </a:pPr>
                      <a:r>
                        <a:rPr lang="en-IN" sz="1800" dirty="0">
                          <a:effectLst/>
                          <a:latin typeface="Times New Roman" pitchFamily="18" charset="0"/>
                          <a:cs typeface="Times New Roman" pitchFamily="18" charset="0"/>
                        </a:rPr>
                        <a:t>2.1078</a:t>
                      </a:r>
                      <a:endParaRPr lang="en-US" sz="1800" dirty="0">
                        <a:effectLst/>
                        <a:latin typeface="Times New Roman" pitchFamily="18" charset="0"/>
                        <a:ea typeface="Calibri"/>
                        <a:cs typeface="Times New Roman" pitchFamily="18" charset="0"/>
                      </a:endParaRPr>
                    </a:p>
                  </a:txBody>
                  <a:tcPr marL="39771" marR="39771" marT="0" marB="0"/>
                </a:tc>
              </a:tr>
            </a:tbl>
          </a:graphicData>
        </a:graphic>
      </p:graphicFrame>
      <p:pic>
        <p:nvPicPr>
          <p:cNvPr id="16385" name="Picture 1"/>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0" y="3214686"/>
            <a:ext cx="6215073" cy="364331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6" name="Slide Number Placeholder 5"/>
          <p:cNvSpPr>
            <a:spLocks noGrp="1"/>
          </p:cNvSpPr>
          <p:nvPr>
            <p:ph type="sldNum" sz="quarter" idx="11"/>
          </p:nvPr>
        </p:nvSpPr>
        <p:spPr/>
        <p:txBody>
          <a:bodyPr/>
          <a:lstStyle/>
          <a:p>
            <a:fld id="{C2C1A6A0-3F2F-4BAF-B319-837518E4456F}" type="slidenum">
              <a:rPr lang="en-US" smtClean="0"/>
              <a:pPr/>
              <a:t>56</a:t>
            </a:fld>
            <a:endParaRPr lang="en-US"/>
          </a:p>
        </p:txBody>
      </p:sp>
    </p:spTree>
    <p:extLst>
      <p:ext uri="{BB962C8B-B14F-4D97-AF65-F5344CB8AC3E}">
        <p14:creationId xmlns:p14="http://schemas.microsoft.com/office/powerpoint/2010/main" xmlns="" val="2196061574"/>
      </p:ext>
    </p:extLst>
  </p:cSld>
  <p:clrMapOvr>
    <a:masterClrMapping/>
  </p:clrMapOvr>
  <p:transition>
    <p:strips dir="ru"/>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57950" y="3195050"/>
            <a:ext cx="2286016" cy="457200"/>
          </a:xfrm>
        </p:spPr>
        <p:txBody>
          <a:bodyPr>
            <a:noAutofit/>
          </a:bodyPr>
          <a:lstStyle/>
          <a:p>
            <a:r>
              <a:rPr lang="en-US" sz="2800" b="1" dirty="0" smtClean="0">
                <a:solidFill>
                  <a:schemeClr val="tx1"/>
                </a:solidFill>
              </a:rPr>
              <a:t>Loss Factor for 5% Moisture Content </a:t>
            </a:r>
            <a:endParaRPr lang="en-US" sz="2800" b="1" dirty="0">
              <a:solidFill>
                <a:schemeClr val="tx1"/>
              </a:solidFill>
            </a:endParaRPr>
          </a:p>
        </p:txBody>
      </p:sp>
      <p:graphicFrame>
        <p:nvGraphicFramePr>
          <p:cNvPr id="8" name="Picture Placeholder 7"/>
          <p:cNvGraphicFramePr>
            <a:graphicFrameLocks noGrp="1"/>
          </p:cNvGraphicFramePr>
          <p:nvPr>
            <p:ph type="pic" idx="1"/>
            <p:extLst>
              <p:ext uri="{D42A27DB-BD31-4B8C-83A1-F6EECF244321}">
                <p14:modId xmlns:p14="http://schemas.microsoft.com/office/powerpoint/2010/main" xmlns="" val="3845704613"/>
              </p:ext>
            </p:extLst>
          </p:nvPr>
        </p:nvGraphicFramePr>
        <p:xfrm>
          <a:off x="-1" y="2"/>
          <a:ext cx="6143637" cy="3309935"/>
        </p:xfrm>
        <a:graphic>
          <a:graphicData uri="http://schemas.openxmlformats.org/drawingml/2006/table">
            <a:tbl>
              <a:tblPr firstRow="1" firstCol="1" bandRow="1">
                <a:tableStyleId>{5C22544A-7EE6-4342-B048-85BDC9FD1C3A}</a:tableStyleId>
              </a:tblPr>
              <a:tblGrid>
                <a:gridCol w="1577061"/>
                <a:gridCol w="949158"/>
                <a:gridCol w="949158"/>
                <a:gridCol w="949158"/>
                <a:gridCol w="859551"/>
                <a:gridCol w="859551"/>
              </a:tblGrid>
              <a:tr h="661987">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Frequencies/Samples</a:t>
                      </a:r>
                      <a:endParaRPr lang="en-US" sz="1800">
                        <a:effectLst/>
                        <a:latin typeface="Times New Roman" pitchFamily="18" charset="0"/>
                        <a:ea typeface="Calibri"/>
                        <a:cs typeface="Times New Roman" pitchFamily="18" charset="0"/>
                      </a:endParaRPr>
                    </a:p>
                  </a:txBody>
                  <a:tcPr marL="39195" marR="39195"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Wheat</a:t>
                      </a:r>
                      <a:endParaRPr lang="en-US" sz="1800">
                        <a:effectLst/>
                        <a:latin typeface="Times New Roman" pitchFamily="18" charset="0"/>
                        <a:ea typeface="Calibri"/>
                        <a:cs typeface="Times New Roman" pitchFamily="18" charset="0"/>
                      </a:endParaRPr>
                    </a:p>
                  </a:txBody>
                  <a:tcPr marL="39195" marR="39195"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Rice</a:t>
                      </a:r>
                      <a:endParaRPr lang="en-US" sz="1800">
                        <a:effectLst/>
                        <a:latin typeface="Times New Roman" pitchFamily="18" charset="0"/>
                        <a:ea typeface="Calibri"/>
                        <a:cs typeface="Times New Roman" pitchFamily="18" charset="0"/>
                      </a:endParaRPr>
                    </a:p>
                  </a:txBody>
                  <a:tcPr marL="39195" marR="39195"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Arhar</a:t>
                      </a:r>
                      <a:endParaRPr lang="en-US" sz="1800">
                        <a:effectLst/>
                        <a:latin typeface="Times New Roman" pitchFamily="18" charset="0"/>
                        <a:ea typeface="Calibri"/>
                        <a:cs typeface="Times New Roman" pitchFamily="18" charset="0"/>
                      </a:endParaRPr>
                    </a:p>
                  </a:txBody>
                  <a:tcPr marL="39195" marR="39195"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Chana</a:t>
                      </a:r>
                      <a:endParaRPr lang="en-US" sz="1800">
                        <a:effectLst/>
                        <a:latin typeface="Times New Roman" pitchFamily="18" charset="0"/>
                        <a:ea typeface="Calibri"/>
                        <a:cs typeface="Times New Roman" pitchFamily="18" charset="0"/>
                      </a:endParaRPr>
                    </a:p>
                  </a:txBody>
                  <a:tcPr marL="39195" marR="39195"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Moong</a:t>
                      </a:r>
                      <a:endParaRPr lang="en-US" sz="1800">
                        <a:effectLst/>
                        <a:latin typeface="Times New Roman" pitchFamily="18" charset="0"/>
                        <a:ea typeface="Calibri"/>
                        <a:cs typeface="Times New Roman" pitchFamily="18" charset="0"/>
                      </a:endParaRPr>
                    </a:p>
                  </a:txBody>
                  <a:tcPr marL="39195" marR="39195" marT="0" marB="0"/>
                </a:tc>
              </a:tr>
              <a:tr h="661987">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5.30 GHz</a:t>
                      </a:r>
                      <a:endParaRPr lang="en-US" sz="1800">
                        <a:effectLst/>
                        <a:latin typeface="Times New Roman" pitchFamily="18" charset="0"/>
                        <a:ea typeface="Calibri"/>
                        <a:cs typeface="Times New Roman" pitchFamily="18" charset="0"/>
                      </a:endParaRPr>
                    </a:p>
                  </a:txBody>
                  <a:tcPr marL="39195" marR="39195"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0.6933</a:t>
                      </a:r>
                      <a:endParaRPr lang="en-US" sz="1800">
                        <a:effectLst/>
                        <a:latin typeface="Times New Roman" pitchFamily="18" charset="0"/>
                        <a:ea typeface="Calibri"/>
                        <a:cs typeface="Times New Roman" pitchFamily="18" charset="0"/>
                      </a:endParaRPr>
                    </a:p>
                  </a:txBody>
                  <a:tcPr marL="39195" marR="39195"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0.9156</a:t>
                      </a:r>
                      <a:endParaRPr lang="en-US" sz="1800">
                        <a:effectLst/>
                        <a:latin typeface="Times New Roman" pitchFamily="18" charset="0"/>
                        <a:ea typeface="Calibri"/>
                        <a:cs typeface="Times New Roman" pitchFamily="18" charset="0"/>
                      </a:endParaRPr>
                    </a:p>
                  </a:txBody>
                  <a:tcPr marL="39195" marR="39195"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0.5213</a:t>
                      </a:r>
                      <a:endParaRPr lang="en-US" sz="1800">
                        <a:effectLst/>
                        <a:latin typeface="Times New Roman" pitchFamily="18" charset="0"/>
                        <a:ea typeface="Calibri"/>
                        <a:cs typeface="Times New Roman" pitchFamily="18" charset="0"/>
                      </a:endParaRPr>
                    </a:p>
                  </a:txBody>
                  <a:tcPr marL="39195" marR="39195"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9.5119</a:t>
                      </a:r>
                      <a:endParaRPr lang="en-US" sz="1800">
                        <a:effectLst/>
                        <a:latin typeface="Times New Roman" pitchFamily="18" charset="0"/>
                        <a:ea typeface="Calibri"/>
                        <a:cs typeface="Times New Roman" pitchFamily="18" charset="0"/>
                      </a:endParaRPr>
                    </a:p>
                  </a:txBody>
                  <a:tcPr marL="39195" marR="39195"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9.0552</a:t>
                      </a:r>
                      <a:endParaRPr lang="en-US" sz="1800">
                        <a:effectLst/>
                        <a:latin typeface="Times New Roman" pitchFamily="18" charset="0"/>
                        <a:ea typeface="Calibri"/>
                        <a:cs typeface="Times New Roman" pitchFamily="18" charset="0"/>
                      </a:endParaRPr>
                    </a:p>
                  </a:txBody>
                  <a:tcPr marL="39195" marR="39195" marT="0" marB="0"/>
                </a:tc>
              </a:tr>
              <a:tr h="661987">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6.6 GHz</a:t>
                      </a:r>
                      <a:endParaRPr lang="en-US" sz="1800">
                        <a:effectLst/>
                        <a:latin typeface="Times New Roman" pitchFamily="18" charset="0"/>
                        <a:ea typeface="Calibri"/>
                        <a:cs typeface="Times New Roman" pitchFamily="18" charset="0"/>
                      </a:endParaRPr>
                    </a:p>
                  </a:txBody>
                  <a:tcPr marL="39195" marR="39195"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0.9523</a:t>
                      </a:r>
                      <a:endParaRPr lang="en-US" sz="1800">
                        <a:effectLst/>
                        <a:latin typeface="Times New Roman" pitchFamily="18" charset="0"/>
                        <a:ea typeface="Calibri"/>
                        <a:cs typeface="Times New Roman" pitchFamily="18" charset="0"/>
                      </a:endParaRPr>
                    </a:p>
                  </a:txBody>
                  <a:tcPr marL="39195" marR="39195"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1.5319</a:t>
                      </a:r>
                      <a:endParaRPr lang="en-US" sz="1800">
                        <a:effectLst/>
                        <a:latin typeface="Times New Roman" pitchFamily="18" charset="0"/>
                        <a:ea typeface="Calibri"/>
                        <a:cs typeface="Times New Roman" pitchFamily="18" charset="0"/>
                      </a:endParaRPr>
                    </a:p>
                  </a:txBody>
                  <a:tcPr marL="39195" marR="39195"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0.7428</a:t>
                      </a:r>
                      <a:endParaRPr lang="en-US" sz="1800">
                        <a:effectLst/>
                        <a:latin typeface="Times New Roman" pitchFamily="18" charset="0"/>
                        <a:ea typeface="Calibri"/>
                        <a:cs typeface="Times New Roman" pitchFamily="18" charset="0"/>
                      </a:endParaRPr>
                    </a:p>
                  </a:txBody>
                  <a:tcPr marL="39195" marR="39195"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9.4492</a:t>
                      </a:r>
                      <a:endParaRPr lang="en-US" sz="1800">
                        <a:effectLst/>
                        <a:latin typeface="Times New Roman" pitchFamily="18" charset="0"/>
                        <a:ea typeface="Calibri"/>
                        <a:cs typeface="Times New Roman" pitchFamily="18" charset="0"/>
                      </a:endParaRPr>
                    </a:p>
                  </a:txBody>
                  <a:tcPr marL="39195" marR="39195"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8.8903</a:t>
                      </a:r>
                      <a:endParaRPr lang="en-US" sz="1800">
                        <a:effectLst/>
                        <a:latin typeface="Times New Roman" pitchFamily="18" charset="0"/>
                        <a:ea typeface="Calibri"/>
                        <a:cs typeface="Times New Roman" pitchFamily="18" charset="0"/>
                      </a:endParaRPr>
                    </a:p>
                  </a:txBody>
                  <a:tcPr marL="39195" marR="39195" marT="0" marB="0"/>
                </a:tc>
              </a:tr>
              <a:tr h="661987">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10.65 GHz</a:t>
                      </a:r>
                      <a:endParaRPr lang="en-US" sz="1800">
                        <a:effectLst/>
                        <a:latin typeface="Times New Roman" pitchFamily="18" charset="0"/>
                        <a:ea typeface="Calibri"/>
                        <a:cs typeface="Times New Roman" pitchFamily="18" charset="0"/>
                      </a:endParaRPr>
                    </a:p>
                  </a:txBody>
                  <a:tcPr marL="39195" marR="39195"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1.8406</a:t>
                      </a:r>
                      <a:endParaRPr lang="en-US" sz="1800">
                        <a:effectLst/>
                        <a:latin typeface="Times New Roman" pitchFamily="18" charset="0"/>
                        <a:ea typeface="Calibri"/>
                        <a:cs typeface="Times New Roman" pitchFamily="18" charset="0"/>
                      </a:endParaRPr>
                    </a:p>
                  </a:txBody>
                  <a:tcPr marL="39195" marR="39195"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1.7553</a:t>
                      </a:r>
                      <a:endParaRPr lang="en-US" sz="1800">
                        <a:effectLst/>
                        <a:latin typeface="Times New Roman" pitchFamily="18" charset="0"/>
                        <a:ea typeface="Calibri"/>
                        <a:cs typeface="Times New Roman" pitchFamily="18" charset="0"/>
                      </a:endParaRPr>
                    </a:p>
                  </a:txBody>
                  <a:tcPr marL="39195" marR="39195"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1.4261</a:t>
                      </a:r>
                      <a:endParaRPr lang="en-US" sz="1800">
                        <a:effectLst/>
                        <a:latin typeface="Times New Roman" pitchFamily="18" charset="0"/>
                        <a:ea typeface="Calibri"/>
                        <a:cs typeface="Times New Roman" pitchFamily="18" charset="0"/>
                      </a:endParaRPr>
                    </a:p>
                  </a:txBody>
                  <a:tcPr marL="39195" marR="39195"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6.831</a:t>
                      </a:r>
                      <a:endParaRPr lang="en-US" sz="1800">
                        <a:effectLst/>
                        <a:latin typeface="Times New Roman" pitchFamily="18" charset="0"/>
                        <a:ea typeface="Calibri"/>
                        <a:cs typeface="Times New Roman" pitchFamily="18" charset="0"/>
                      </a:endParaRPr>
                    </a:p>
                  </a:txBody>
                  <a:tcPr marL="39195" marR="39195"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6.3457</a:t>
                      </a:r>
                      <a:endParaRPr lang="en-US" sz="1800">
                        <a:effectLst/>
                        <a:latin typeface="Times New Roman" pitchFamily="18" charset="0"/>
                        <a:ea typeface="Calibri"/>
                        <a:cs typeface="Times New Roman" pitchFamily="18" charset="0"/>
                      </a:endParaRPr>
                    </a:p>
                  </a:txBody>
                  <a:tcPr marL="39195" marR="39195" marT="0" marB="0"/>
                </a:tc>
              </a:tr>
              <a:tr h="661987">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13.00 GHz</a:t>
                      </a:r>
                      <a:endParaRPr lang="en-US" sz="1800">
                        <a:effectLst/>
                        <a:latin typeface="Times New Roman" pitchFamily="18" charset="0"/>
                        <a:ea typeface="Calibri"/>
                        <a:cs typeface="Times New Roman" pitchFamily="18" charset="0"/>
                      </a:endParaRPr>
                    </a:p>
                  </a:txBody>
                  <a:tcPr marL="39195" marR="39195"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1.6231</a:t>
                      </a:r>
                      <a:endParaRPr lang="en-US" sz="1800">
                        <a:effectLst/>
                        <a:latin typeface="Times New Roman" pitchFamily="18" charset="0"/>
                        <a:ea typeface="Calibri"/>
                        <a:cs typeface="Times New Roman" pitchFamily="18" charset="0"/>
                      </a:endParaRPr>
                    </a:p>
                  </a:txBody>
                  <a:tcPr marL="39195" marR="39195"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1.8932</a:t>
                      </a:r>
                      <a:endParaRPr lang="en-US" sz="1800">
                        <a:effectLst/>
                        <a:latin typeface="Times New Roman" pitchFamily="18" charset="0"/>
                        <a:ea typeface="Calibri"/>
                        <a:cs typeface="Times New Roman" pitchFamily="18" charset="0"/>
                      </a:endParaRPr>
                    </a:p>
                  </a:txBody>
                  <a:tcPr marL="39195" marR="39195"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1.9418</a:t>
                      </a:r>
                      <a:endParaRPr lang="en-US" sz="1800">
                        <a:effectLst/>
                        <a:latin typeface="Times New Roman" pitchFamily="18" charset="0"/>
                        <a:ea typeface="Calibri"/>
                        <a:cs typeface="Times New Roman" pitchFamily="18" charset="0"/>
                      </a:endParaRPr>
                    </a:p>
                  </a:txBody>
                  <a:tcPr marL="39195" marR="39195" marT="0" marB="0"/>
                </a:tc>
                <a:tc>
                  <a:txBody>
                    <a:bodyPr/>
                    <a:lstStyle/>
                    <a:p>
                      <a:pPr marL="0" marR="0" algn="ctr">
                        <a:lnSpc>
                          <a:spcPct val="115000"/>
                        </a:lnSpc>
                        <a:spcBef>
                          <a:spcPts val="0"/>
                        </a:spcBef>
                        <a:spcAft>
                          <a:spcPts val="0"/>
                        </a:spcAft>
                      </a:pPr>
                      <a:r>
                        <a:rPr lang="en-IN" sz="1800">
                          <a:effectLst/>
                          <a:latin typeface="Times New Roman" pitchFamily="18" charset="0"/>
                          <a:cs typeface="Times New Roman" pitchFamily="18" charset="0"/>
                        </a:rPr>
                        <a:t>5.6257</a:t>
                      </a:r>
                      <a:endParaRPr lang="en-US" sz="1800">
                        <a:effectLst/>
                        <a:latin typeface="Times New Roman" pitchFamily="18" charset="0"/>
                        <a:ea typeface="Calibri"/>
                        <a:cs typeface="Times New Roman" pitchFamily="18" charset="0"/>
                      </a:endParaRPr>
                    </a:p>
                  </a:txBody>
                  <a:tcPr marL="39195" marR="39195" marT="0" marB="0"/>
                </a:tc>
                <a:tc>
                  <a:txBody>
                    <a:bodyPr/>
                    <a:lstStyle/>
                    <a:p>
                      <a:pPr marL="0" marR="0" algn="ctr">
                        <a:lnSpc>
                          <a:spcPct val="115000"/>
                        </a:lnSpc>
                        <a:spcBef>
                          <a:spcPts val="0"/>
                        </a:spcBef>
                        <a:spcAft>
                          <a:spcPts val="0"/>
                        </a:spcAft>
                      </a:pPr>
                      <a:r>
                        <a:rPr lang="en-IN" sz="1800" dirty="0">
                          <a:effectLst/>
                          <a:latin typeface="Times New Roman" pitchFamily="18" charset="0"/>
                          <a:cs typeface="Times New Roman" pitchFamily="18" charset="0"/>
                        </a:rPr>
                        <a:t>4.0057</a:t>
                      </a:r>
                      <a:endParaRPr lang="en-US" sz="1800" dirty="0">
                        <a:effectLst/>
                        <a:latin typeface="Times New Roman" pitchFamily="18" charset="0"/>
                        <a:ea typeface="Calibri"/>
                        <a:cs typeface="Times New Roman" pitchFamily="18" charset="0"/>
                      </a:endParaRPr>
                    </a:p>
                  </a:txBody>
                  <a:tcPr marL="39195" marR="39195" marT="0" marB="0"/>
                </a:tc>
              </a:tr>
            </a:tbl>
          </a:graphicData>
        </a:graphic>
      </p:graphicFrame>
      <p:sp>
        <p:nvSpPr>
          <p:cNvPr id="6" name="Rectangle 1"/>
          <p:cNvSpPr>
            <a:spLocks noChangeArrowheads="1"/>
          </p:cNvSpPr>
          <p:nvPr/>
        </p:nvSpPr>
        <p:spPr bwMode="auto">
          <a:xfrm>
            <a:off x="1004888" y="2852738"/>
            <a:ext cx="91440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endParaRPr>
          </a:p>
        </p:txBody>
      </p:sp>
      <p:sp>
        <p:nvSpPr>
          <p:cNvPr id="9" name="Rectangle 2"/>
          <p:cNvSpPr>
            <a:spLocks noChangeArrowheads="1"/>
          </p:cNvSpPr>
          <p:nvPr/>
        </p:nvSpPr>
        <p:spPr bwMode="auto">
          <a:xfrm>
            <a:off x="1004888" y="2808288"/>
            <a:ext cx="91440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ea typeface="Calibri" pitchFamily="34"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endParaRPr>
          </a:p>
        </p:txBody>
      </p:sp>
      <p:pic>
        <p:nvPicPr>
          <p:cNvPr id="17411" name="Picture 3"/>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0" y="3286124"/>
            <a:ext cx="6215074" cy="357187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7" name="Slide Number Placeholder 6"/>
          <p:cNvSpPr>
            <a:spLocks noGrp="1"/>
          </p:cNvSpPr>
          <p:nvPr>
            <p:ph type="sldNum" sz="quarter" idx="11"/>
          </p:nvPr>
        </p:nvSpPr>
        <p:spPr/>
        <p:txBody>
          <a:bodyPr/>
          <a:lstStyle/>
          <a:p>
            <a:fld id="{C2C1A6A0-3F2F-4BAF-B319-837518E4456F}" type="slidenum">
              <a:rPr lang="en-US" smtClean="0"/>
              <a:pPr/>
              <a:t>57</a:t>
            </a:fld>
            <a:endParaRPr lang="en-US"/>
          </a:p>
        </p:txBody>
      </p:sp>
    </p:spTree>
    <p:extLst>
      <p:ext uri="{BB962C8B-B14F-4D97-AF65-F5344CB8AC3E}">
        <p14:creationId xmlns:p14="http://schemas.microsoft.com/office/powerpoint/2010/main" xmlns="" val="3521553081"/>
      </p:ext>
    </p:extLst>
  </p:cSld>
  <p:clrMapOvr>
    <a:masterClrMapping/>
  </p:clrMapOvr>
  <p:transition>
    <p:strips dir="ld"/>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00825" y="3200400"/>
            <a:ext cx="2071703" cy="457200"/>
          </a:xfrm>
        </p:spPr>
        <p:txBody>
          <a:bodyPr>
            <a:noAutofit/>
          </a:bodyPr>
          <a:lstStyle/>
          <a:p>
            <a:r>
              <a:rPr lang="en-US" sz="2800" b="1" dirty="0" smtClean="0">
                <a:solidFill>
                  <a:schemeClr val="tx1"/>
                </a:solidFill>
              </a:rPr>
              <a:t>Loss Factor for 2% Moisture Content </a:t>
            </a:r>
            <a:endParaRPr lang="en-US" sz="2800" b="1" dirty="0">
              <a:solidFill>
                <a:schemeClr val="tx1"/>
              </a:solidFill>
            </a:endParaRPr>
          </a:p>
        </p:txBody>
      </p:sp>
      <p:graphicFrame>
        <p:nvGraphicFramePr>
          <p:cNvPr id="5" name="Picture Placeholder 4"/>
          <p:cNvGraphicFramePr>
            <a:graphicFrameLocks noGrp="1"/>
          </p:cNvGraphicFramePr>
          <p:nvPr>
            <p:ph type="pic" idx="1"/>
            <p:extLst>
              <p:ext uri="{D42A27DB-BD31-4B8C-83A1-F6EECF244321}">
                <p14:modId xmlns:p14="http://schemas.microsoft.com/office/powerpoint/2010/main" xmlns="" val="3644947845"/>
              </p:ext>
            </p:extLst>
          </p:nvPr>
        </p:nvGraphicFramePr>
        <p:xfrm>
          <a:off x="0" y="1"/>
          <a:ext cx="6143634" cy="2879303"/>
        </p:xfrm>
        <a:graphic>
          <a:graphicData uri="http://schemas.openxmlformats.org/drawingml/2006/table">
            <a:tbl>
              <a:tblPr firstRow="1" firstCol="1" bandRow="1">
                <a:tableStyleId>{5C22544A-7EE6-4342-B048-85BDC9FD1C3A}</a:tableStyleId>
              </a:tblPr>
              <a:tblGrid>
                <a:gridCol w="1214414"/>
                <a:gridCol w="1071570"/>
                <a:gridCol w="928694"/>
                <a:gridCol w="1000132"/>
                <a:gridCol w="1071570"/>
                <a:gridCol w="857254"/>
              </a:tblGrid>
              <a:tr h="968246">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Frequencies/Samples</a:t>
                      </a:r>
                      <a:endParaRPr lang="en-US" sz="1800" dirty="0">
                        <a:effectLst/>
                        <a:latin typeface="Times New Roman" pitchFamily="18" charset="0"/>
                        <a:ea typeface="Calibri"/>
                        <a:cs typeface="Times New Roman" pitchFamily="18" charset="0"/>
                      </a:endParaRPr>
                    </a:p>
                  </a:txBody>
                  <a:tcPr marL="37509" marR="37509"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Wheat</a:t>
                      </a:r>
                      <a:endParaRPr lang="en-US" sz="1800">
                        <a:effectLst/>
                        <a:latin typeface="Times New Roman" pitchFamily="18" charset="0"/>
                        <a:ea typeface="Calibri"/>
                        <a:cs typeface="Times New Roman" pitchFamily="18" charset="0"/>
                      </a:endParaRPr>
                    </a:p>
                  </a:txBody>
                  <a:tcPr marL="37509" marR="37509"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Rice</a:t>
                      </a:r>
                      <a:endParaRPr lang="en-US" sz="1800">
                        <a:effectLst/>
                        <a:latin typeface="Times New Roman" pitchFamily="18" charset="0"/>
                        <a:ea typeface="Calibri"/>
                        <a:cs typeface="Times New Roman" pitchFamily="18" charset="0"/>
                      </a:endParaRPr>
                    </a:p>
                  </a:txBody>
                  <a:tcPr marL="37509" marR="37509"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Arhar</a:t>
                      </a:r>
                      <a:endParaRPr lang="en-US" sz="1800">
                        <a:effectLst/>
                        <a:latin typeface="Times New Roman" pitchFamily="18" charset="0"/>
                        <a:ea typeface="Calibri"/>
                        <a:cs typeface="Times New Roman" pitchFamily="18" charset="0"/>
                      </a:endParaRPr>
                    </a:p>
                  </a:txBody>
                  <a:tcPr marL="37509" marR="37509"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Chana</a:t>
                      </a:r>
                      <a:endParaRPr lang="en-US" sz="1800">
                        <a:effectLst/>
                        <a:latin typeface="Times New Roman" pitchFamily="18" charset="0"/>
                        <a:ea typeface="Calibri"/>
                        <a:cs typeface="Times New Roman" pitchFamily="18" charset="0"/>
                      </a:endParaRPr>
                    </a:p>
                  </a:txBody>
                  <a:tcPr marL="37509" marR="37509" marT="0" marB="0"/>
                </a:tc>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Moong</a:t>
                      </a:r>
                      <a:endParaRPr lang="en-US" sz="1800" dirty="0">
                        <a:effectLst/>
                        <a:latin typeface="Times New Roman" pitchFamily="18" charset="0"/>
                        <a:ea typeface="Calibri"/>
                        <a:cs typeface="Times New Roman" pitchFamily="18" charset="0"/>
                      </a:endParaRPr>
                    </a:p>
                  </a:txBody>
                  <a:tcPr marL="37509" marR="37509" marT="0" marB="0"/>
                </a:tc>
              </a:tr>
              <a:tr h="400577">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5.30 GHz</a:t>
                      </a:r>
                      <a:endParaRPr lang="en-US" sz="1800">
                        <a:effectLst/>
                        <a:latin typeface="Times New Roman" pitchFamily="18" charset="0"/>
                        <a:ea typeface="Calibri"/>
                        <a:cs typeface="Times New Roman" pitchFamily="18" charset="0"/>
                      </a:endParaRPr>
                    </a:p>
                  </a:txBody>
                  <a:tcPr marL="37509" marR="37509"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0.2832</a:t>
                      </a:r>
                      <a:endParaRPr lang="en-US" sz="1800">
                        <a:effectLst/>
                        <a:latin typeface="Times New Roman" pitchFamily="18" charset="0"/>
                        <a:ea typeface="Calibri"/>
                        <a:cs typeface="Times New Roman" pitchFamily="18" charset="0"/>
                      </a:endParaRPr>
                    </a:p>
                  </a:txBody>
                  <a:tcPr marL="37509" marR="37509"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0.2059</a:t>
                      </a:r>
                      <a:endParaRPr lang="en-US" sz="1800">
                        <a:effectLst/>
                        <a:latin typeface="Times New Roman" pitchFamily="18" charset="0"/>
                        <a:ea typeface="Calibri"/>
                        <a:cs typeface="Times New Roman" pitchFamily="18" charset="0"/>
                      </a:endParaRPr>
                    </a:p>
                  </a:txBody>
                  <a:tcPr marL="37509" marR="37509"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0.2856</a:t>
                      </a:r>
                      <a:endParaRPr lang="en-US" sz="1800">
                        <a:effectLst/>
                        <a:latin typeface="Times New Roman" pitchFamily="18" charset="0"/>
                        <a:ea typeface="Calibri"/>
                        <a:cs typeface="Times New Roman" pitchFamily="18" charset="0"/>
                      </a:endParaRPr>
                    </a:p>
                  </a:txBody>
                  <a:tcPr marL="37509" marR="37509"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0.3251</a:t>
                      </a:r>
                      <a:endParaRPr lang="en-US" sz="1800">
                        <a:effectLst/>
                        <a:latin typeface="Times New Roman" pitchFamily="18" charset="0"/>
                        <a:ea typeface="Calibri"/>
                        <a:cs typeface="Times New Roman" pitchFamily="18" charset="0"/>
                      </a:endParaRPr>
                    </a:p>
                  </a:txBody>
                  <a:tcPr marL="37509" marR="37509"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.5194</a:t>
                      </a:r>
                      <a:endParaRPr lang="en-US" sz="1800">
                        <a:effectLst/>
                        <a:latin typeface="Times New Roman" pitchFamily="18" charset="0"/>
                        <a:ea typeface="Calibri"/>
                        <a:cs typeface="Times New Roman" pitchFamily="18" charset="0"/>
                      </a:endParaRPr>
                    </a:p>
                  </a:txBody>
                  <a:tcPr marL="37509" marR="37509" marT="0" marB="0"/>
                </a:tc>
              </a:tr>
              <a:tr h="400577">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6.60 GHz</a:t>
                      </a:r>
                      <a:endParaRPr lang="en-US" sz="1800">
                        <a:effectLst/>
                        <a:latin typeface="Times New Roman" pitchFamily="18" charset="0"/>
                        <a:ea typeface="Calibri"/>
                        <a:cs typeface="Times New Roman" pitchFamily="18" charset="0"/>
                      </a:endParaRPr>
                    </a:p>
                  </a:txBody>
                  <a:tcPr marL="37509" marR="37509"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0.5017</a:t>
                      </a:r>
                      <a:endParaRPr lang="en-US" sz="1800">
                        <a:effectLst/>
                        <a:latin typeface="Times New Roman" pitchFamily="18" charset="0"/>
                        <a:ea typeface="Calibri"/>
                        <a:cs typeface="Times New Roman" pitchFamily="18" charset="0"/>
                      </a:endParaRPr>
                    </a:p>
                  </a:txBody>
                  <a:tcPr marL="37509" marR="37509"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1.2886</a:t>
                      </a:r>
                      <a:endParaRPr lang="en-US" sz="1800">
                        <a:effectLst/>
                        <a:latin typeface="Times New Roman" pitchFamily="18" charset="0"/>
                        <a:ea typeface="Calibri"/>
                        <a:cs typeface="Times New Roman" pitchFamily="18" charset="0"/>
                      </a:endParaRPr>
                    </a:p>
                  </a:txBody>
                  <a:tcPr marL="37509" marR="37509"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0.3012</a:t>
                      </a:r>
                      <a:endParaRPr lang="en-US" sz="1800">
                        <a:effectLst/>
                        <a:latin typeface="Times New Roman" pitchFamily="18" charset="0"/>
                        <a:ea typeface="Calibri"/>
                        <a:cs typeface="Times New Roman" pitchFamily="18" charset="0"/>
                      </a:endParaRPr>
                    </a:p>
                  </a:txBody>
                  <a:tcPr marL="37509" marR="37509"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0.8305</a:t>
                      </a:r>
                      <a:endParaRPr lang="en-US" sz="1800">
                        <a:effectLst/>
                        <a:latin typeface="Times New Roman" pitchFamily="18" charset="0"/>
                        <a:ea typeface="Calibri"/>
                        <a:cs typeface="Times New Roman" pitchFamily="18" charset="0"/>
                      </a:endParaRPr>
                    </a:p>
                  </a:txBody>
                  <a:tcPr marL="37509" marR="37509"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.5298</a:t>
                      </a:r>
                      <a:endParaRPr lang="en-US" sz="1800">
                        <a:effectLst/>
                        <a:latin typeface="Times New Roman" pitchFamily="18" charset="0"/>
                        <a:ea typeface="Calibri"/>
                        <a:cs typeface="Times New Roman" pitchFamily="18" charset="0"/>
                      </a:endParaRPr>
                    </a:p>
                  </a:txBody>
                  <a:tcPr marL="37509" marR="37509" marT="0" marB="0"/>
                </a:tc>
              </a:tr>
              <a:tr h="456019">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10.65 GHz</a:t>
                      </a:r>
                      <a:endParaRPr lang="en-US" sz="1800">
                        <a:effectLst/>
                        <a:latin typeface="Times New Roman" pitchFamily="18" charset="0"/>
                        <a:ea typeface="Calibri"/>
                        <a:cs typeface="Times New Roman" pitchFamily="18" charset="0"/>
                      </a:endParaRPr>
                    </a:p>
                  </a:txBody>
                  <a:tcPr marL="37509" marR="37509" marT="0" marB="0"/>
                </a:tc>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1.0521</a:t>
                      </a:r>
                      <a:endParaRPr lang="en-US" sz="1800" dirty="0">
                        <a:effectLst/>
                        <a:latin typeface="Times New Roman" pitchFamily="18" charset="0"/>
                        <a:ea typeface="Calibri"/>
                        <a:cs typeface="Times New Roman" pitchFamily="18" charset="0"/>
                      </a:endParaRPr>
                    </a:p>
                  </a:txBody>
                  <a:tcPr marL="37509" marR="37509" marT="0" marB="0"/>
                </a:tc>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1.4125</a:t>
                      </a:r>
                      <a:endParaRPr lang="en-US" sz="1800" dirty="0">
                        <a:effectLst/>
                        <a:latin typeface="Times New Roman" pitchFamily="18" charset="0"/>
                        <a:ea typeface="Calibri"/>
                        <a:cs typeface="Times New Roman" pitchFamily="18" charset="0"/>
                      </a:endParaRPr>
                    </a:p>
                  </a:txBody>
                  <a:tcPr marL="37509" marR="37509"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1.0196</a:t>
                      </a:r>
                      <a:endParaRPr lang="en-US" sz="1800">
                        <a:effectLst/>
                        <a:latin typeface="Times New Roman" pitchFamily="18" charset="0"/>
                        <a:ea typeface="Calibri"/>
                        <a:cs typeface="Times New Roman" pitchFamily="18" charset="0"/>
                      </a:endParaRPr>
                    </a:p>
                  </a:txBody>
                  <a:tcPr marL="37509" marR="37509"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1.1924</a:t>
                      </a:r>
                      <a:endParaRPr lang="en-US" sz="1800">
                        <a:effectLst/>
                        <a:latin typeface="Times New Roman" pitchFamily="18" charset="0"/>
                        <a:ea typeface="Calibri"/>
                        <a:cs typeface="Times New Roman" pitchFamily="18" charset="0"/>
                      </a:endParaRPr>
                    </a:p>
                  </a:txBody>
                  <a:tcPr marL="37509" marR="37509"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.6128</a:t>
                      </a:r>
                      <a:endParaRPr lang="en-US" sz="1800">
                        <a:effectLst/>
                        <a:latin typeface="Times New Roman" pitchFamily="18" charset="0"/>
                        <a:ea typeface="Calibri"/>
                        <a:cs typeface="Times New Roman" pitchFamily="18" charset="0"/>
                      </a:endParaRPr>
                    </a:p>
                  </a:txBody>
                  <a:tcPr marL="37509" marR="37509" marT="0" marB="0"/>
                </a:tc>
              </a:tr>
              <a:tr h="632078">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13.00 GHz</a:t>
                      </a:r>
                      <a:endParaRPr lang="en-US" sz="1800">
                        <a:effectLst/>
                        <a:latin typeface="Times New Roman" pitchFamily="18" charset="0"/>
                        <a:ea typeface="Calibri"/>
                        <a:cs typeface="Times New Roman" pitchFamily="18" charset="0"/>
                      </a:endParaRPr>
                    </a:p>
                  </a:txBody>
                  <a:tcPr marL="37509" marR="37509"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1.1589</a:t>
                      </a:r>
                      <a:endParaRPr lang="en-US" sz="1800">
                        <a:effectLst/>
                        <a:latin typeface="Times New Roman" pitchFamily="18" charset="0"/>
                        <a:ea typeface="Calibri"/>
                        <a:cs typeface="Times New Roman" pitchFamily="18" charset="0"/>
                      </a:endParaRPr>
                    </a:p>
                  </a:txBody>
                  <a:tcPr marL="37509" marR="37509" marT="0" marB="0"/>
                </a:tc>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1.6319</a:t>
                      </a:r>
                      <a:endParaRPr lang="en-US" sz="1800" dirty="0">
                        <a:effectLst/>
                        <a:latin typeface="Times New Roman" pitchFamily="18" charset="0"/>
                        <a:ea typeface="Calibri"/>
                        <a:cs typeface="Times New Roman" pitchFamily="18" charset="0"/>
                      </a:endParaRPr>
                    </a:p>
                  </a:txBody>
                  <a:tcPr marL="37509" marR="37509" marT="0" marB="0"/>
                </a:tc>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1.4512</a:t>
                      </a:r>
                      <a:endParaRPr lang="en-US" sz="1800" dirty="0">
                        <a:effectLst/>
                        <a:latin typeface="Times New Roman" pitchFamily="18" charset="0"/>
                        <a:ea typeface="Calibri"/>
                        <a:cs typeface="Times New Roman" pitchFamily="18" charset="0"/>
                      </a:endParaRPr>
                    </a:p>
                  </a:txBody>
                  <a:tcPr marL="37509" marR="37509" marT="0" marB="0"/>
                </a:tc>
                <a:tc>
                  <a:txBody>
                    <a:bodyPr/>
                    <a:lstStyle/>
                    <a:p>
                      <a:pPr marL="0" marR="0" algn="ctr">
                        <a:lnSpc>
                          <a:spcPct val="150000"/>
                        </a:lnSpc>
                        <a:spcBef>
                          <a:spcPts val="0"/>
                        </a:spcBef>
                        <a:spcAft>
                          <a:spcPts val="0"/>
                        </a:spcAft>
                      </a:pPr>
                      <a:r>
                        <a:rPr lang="en-US" sz="1800">
                          <a:effectLst/>
                          <a:latin typeface="Times New Roman" pitchFamily="18" charset="0"/>
                          <a:cs typeface="Times New Roman" pitchFamily="18" charset="0"/>
                        </a:rPr>
                        <a:t>1.8119</a:t>
                      </a:r>
                      <a:endParaRPr lang="en-US" sz="1800">
                        <a:effectLst/>
                        <a:latin typeface="Times New Roman" pitchFamily="18" charset="0"/>
                        <a:ea typeface="Calibri"/>
                        <a:cs typeface="Times New Roman" pitchFamily="18" charset="0"/>
                      </a:endParaRPr>
                    </a:p>
                  </a:txBody>
                  <a:tcPr marL="37509" marR="37509" marT="0" marB="0"/>
                </a:tc>
                <a:tc>
                  <a:txBody>
                    <a:bodyPr/>
                    <a:lstStyle/>
                    <a:p>
                      <a:pPr marL="0" marR="0" algn="ctr">
                        <a:lnSpc>
                          <a:spcPct val="150000"/>
                        </a:lnSpc>
                        <a:spcBef>
                          <a:spcPts val="0"/>
                        </a:spcBef>
                        <a:spcAft>
                          <a:spcPts val="0"/>
                        </a:spcAft>
                      </a:pPr>
                      <a:r>
                        <a:rPr lang="en-US" sz="1800" dirty="0">
                          <a:effectLst/>
                          <a:latin typeface="Times New Roman" pitchFamily="18" charset="0"/>
                          <a:cs typeface="Times New Roman" pitchFamily="18" charset="0"/>
                        </a:rPr>
                        <a:t>.9630</a:t>
                      </a:r>
                      <a:endParaRPr lang="en-US" sz="1800" dirty="0">
                        <a:effectLst/>
                        <a:latin typeface="Times New Roman" pitchFamily="18" charset="0"/>
                        <a:ea typeface="Calibri"/>
                        <a:cs typeface="Times New Roman" pitchFamily="18" charset="0"/>
                      </a:endParaRPr>
                    </a:p>
                  </a:txBody>
                  <a:tcPr marL="37509" marR="37509" marT="0" marB="0"/>
                </a:tc>
              </a:tr>
            </a:tbl>
          </a:graphicData>
        </a:graphic>
      </p:graphicFrame>
      <p:pic>
        <p:nvPicPr>
          <p:cNvPr id="18433" name="Picture 1"/>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0" y="2857496"/>
            <a:ext cx="6215074" cy="400050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6" name="Slide Number Placeholder 5"/>
          <p:cNvSpPr>
            <a:spLocks noGrp="1"/>
          </p:cNvSpPr>
          <p:nvPr>
            <p:ph type="sldNum" sz="quarter" idx="11"/>
          </p:nvPr>
        </p:nvSpPr>
        <p:spPr/>
        <p:txBody>
          <a:bodyPr/>
          <a:lstStyle/>
          <a:p>
            <a:fld id="{C2C1A6A0-3F2F-4BAF-B319-837518E4456F}" type="slidenum">
              <a:rPr lang="en-US" smtClean="0"/>
              <a:pPr/>
              <a:t>58</a:t>
            </a:fld>
            <a:endParaRPr lang="en-US"/>
          </a:p>
        </p:txBody>
      </p:sp>
    </p:spTree>
    <p:extLst>
      <p:ext uri="{BB962C8B-B14F-4D97-AF65-F5344CB8AC3E}">
        <p14:creationId xmlns:p14="http://schemas.microsoft.com/office/powerpoint/2010/main" xmlns="" val="1892719173"/>
      </p:ext>
    </p:extLst>
  </p:cSld>
  <p:clrMapOvr>
    <a:masterClrMapping/>
  </p:clrMapOvr>
  <p:transition>
    <p:strips dir="ru"/>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857752" y="4429132"/>
            <a:ext cx="3300984" cy="1463040"/>
          </a:xfrm>
        </p:spPr>
        <p:style>
          <a:lnRef idx="1">
            <a:schemeClr val="accent2"/>
          </a:lnRef>
          <a:fillRef idx="2">
            <a:schemeClr val="accent2"/>
          </a:fillRef>
          <a:effectRef idx="1">
            <a:schemeClr val="accent2"/>
          </a:effectRef>
          <a:fontRef idx="minor">
            <a:schemeClr val="dk1"/>
          </a:fontRef>
        </p:style>
        <p:txBody>
          <a:bodyPr>
            <a:normAutofit/>
          </a:bodyPr>
          <a:lstStyle/>
          <a:p>
            <a:r>
              <a:rPr lang="en-US" sz="4000" b="1" dirty="0" smtClean="0"/>
              <a:t>THANK-YOU</a:t>
            </a:r>
            <a:endParaRPr lang="en-US" sz="4000" b="1" dirty="0"/>
          </a:p>
        </p:txBody>
      </p:sp>
      <p:pic>
        <p:nvPicPr>
          <p:cNvPr id="53250" name="Picture 2" descr="C:\Program Files\Microsoft Office\MEDIA\CAGCAT10\j0284916.jpg"/>
          <p:cNvPicPr>
            <a:picLocks noChangeAspect="1" noChangeArrowheads="1"/>
          </p:cNvPicPr>
          <p:nvPr/>
        </p:nvPicPr>
        <p:blipFill>
          <a:blip r:embed="rId2"/>
          <a:srcRect/>
          <a:stretch>
            <a:fillRect/>
          </a:stretch>
        </p:blipFill>
        <p:spPr bwMode="auto">
          <a:xfrm>
            <a:off x="785786" y="500042"/>
            <a:ext cx="4714908" cy="3643338"/>
          </a:xfrm>
          <a:prstGeom prst="rect">
            <a:avLst/>
          </a:prstGeom>
          <a:noFill/>
        </p:spPr>
      </p:pic>
      <p:sp>
        <p:nvSpPr>
          <p:cNvPr id="5" name="Slide Number Placeholder 4"/>
          <p:cNvSpPr>
            <a:spLocks noGrp="1"/>
          </p:cNvSpPr>
          <p:nvPr>
            <p:ph type="sldNum" sz="quarter" idx="11"/>
          </p:nvPr>
        </p:nvSpPr>
        <p:spPr/>
        <p:txBody>
          <a:bodyPr/>
          <a:lstStyle/>
          <a:p>
            <a:fld id="{C2C1A6A0-3F2F-4BAF-B319-837518E4456F}" type="slidenum">
              <a:rPr lang="en-US" smtClean="0"/>
              <a:pPr/>
              <a:t>59</a:t>
            </a:fld>
            <a:endParaRPr lang="en-US"/>
          </a:p>
        </p:txBody>
      </p:sp>
    </p:spTree>
  </p:cSld>
  <p:clrMapOvr>
    <a:masterClrMapping/>
  </p:clrMapOvr>
  <p:transition>
    <p:fade/>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500034" y="5429264"/>
            <a:ext cx="5786478" cy="1214446"/>
          </a:xfrm>
        </p:spPr>
        <p:txBody>
          <a:bodyPr>
            <a:noAutofit/>
          </a:bodyPr>
          <a:lstStyle/>
          <a:p>
            <a:endParaRPr lang="en-US" sz="4800" dirty="0" smtClean="0"/>
          </a:p>
          <a:p>
            <a:endParaRPr lang="en-US" sz="4800" dirty="0"/>
          </a:p>
        </p:txBody>
      </p:sp>
      <p:pic>
        <p:nvPicPr>
          <p:cNvPr id="5" name="Picture 2"/>
          <p:cNvPicPr>
            <a:picLocks noChangeAspect="1" noChangeArrowheads="1"/>
          </p:cNvPicPr>
          <p:nvPr/>
        </p:nvPicPr>
        <p:blipFill>
          <a:blip r:embed="rId2"/>
          <a:srcRect/>
          <a:stretch>
            <a:fillRect/>
          </a:stretch>
        </p:blipFill>
        <p:spPr bwMode="auto">
          <a:xfrm>
            <a:off x="357158" y="285728"/>
            <a:ext cx="4500594" cy="4429132"/>
          </a:xfrm>
          <a:prstGeom prst="rect">
            <a:avLst/>
          </a:prstGeom>
          <a:noFill/>
          <a:ln w="9525">
            <a:noFill/>
            <a:miter lim="800000"/>
            <a:headEnd/>
            <a:tailEnd/>
          </a:ln>
          <a:effectLst/>
        </p:spPr>
      </p:pic>
      <p:sp>
        <p:nvSpPr>
          <p:cNvPr id="6" name="Rectangle 5"/>
          <p:cNvSpPr/>
          <p:nvPr/>
        </p:nvSpPr>
        <p:spPr>
          <a:xfrm>
            <a:off x="357158" y="5572140"/>
            <a:ext cx="5634876" cy="923330"/>
          </a:xfrm>
          <a:prstGeom prst="rect">
            <a:avLst/>
          </a:prstGeom>
          <a:solidFill>
            <a:schemeClr val="bg1"/>
          </a:solid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en-US" sz="5400" b="1" cap="none" spc="0" dirty="0" smtClean="0">
                <a:ln w="11430"/>
                <a:solidFill>
                  <a:schemeClr val="accent3"/>
                </a:solidFill>
                <a:effectLst>
                  <a:outerShdw blurRad="50800" dist="39000" dir="5460000" algn="tl">
                    <a:srgbClr val="000000">
                      <a:alpha val="38000"/>
                    </a:srgbClr>
                  </a:outerShdw>
                </a:effectLst>
              </a:rPr>
              <a:t>QUEREIES????</a:t>
            </a:r>
            <a:endParaRPr lang="en-US" sz="5400" b="1" cap="none" spc="0" dirty="0">
              <a:ln w="11430"/>
              <a:solidFill>
                <a:schemeClr val="accent3"/>
              </a:solidFill>
              <a:effectLst>
                <a:outerShdw blurRad="50800" dist="39000" dir="5460000" algn="tl">
                  <a:srgbClr val="000000">
                    <a:alpha val="38000"/>
                  </a:srgbClr>
                </a:outerShdw>
              </a:effectLst>
            </a:endParaRPr>
          </a:p>
        </p:txBody>
      </p:sp>
      <p:sp>
        <p:nvSpPr>
          <p:cNvPr id="7" name="Slide Number Placeholder 6"/>
          <p:cNvSpPr>
            <a:spLocks noGrp="1"/>
          </p:cNvSpPr>
          <p:nvPr>
            <p:ph type="sldNum" sz="quarter" idx="11"/>
          </p:nvPr>
        </p:nvSpPr>
        <p:spPr/>
        <p:txBody>
          <a:bodyPr/>
          <a:lstStyle/>
          <a:p>
            <a:fld id="{C2C1A6A0-3F2F-4BAF-B319-837518E4456F}" type="slidenum">
              <a:rPr lang="en-US" smtClean="0"/>
              <a:pPr/>
              <a:t>60</a:t>
            </a:fld>
            <a:endParaRPr lang="en-US"/>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946</TotalTime>
  <Words>2836</Words>
  <Application>Microsoft Office PowerPoint</Application>
  <PresentationFormat>On-screen Show (4:3)</PresentationFormat>
  <Paragraphs>884</Paragraphs>
  <Slides>60</Slides>
  <Notes>1</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60</vt:i4>
      </vt:variant>
    </vt:vector>
  </HeadingPairs>
  <TitlesOfParts>
    <vt:vector size="62" baseType="lpstr">
      <vt:lpstr>Oriel</vt:lpstr>
      <vt:lpstr>Picture</vt:lpstr>
      <vt:lpstr>Slide 1</vt:lpstr>
      <vt:lpstr>Measurement  of  dielectric constant  of  various  cereals  </vt:lpstr>
      <vt:lpstr>Slide 3</vt:lpstr>
      <vt:lpstr>BRIEF ABOUT COMPANY</vt:lpstr>
      <vt:lpstr>Slide 5</vt:lpstr>
      <vt:lpstr>Slide 6</vt:lpstr>
      <vt:lpstr>Slide 7</vt:lpstr>
      <vt:lpstr>Slide 8</vt:lpstr>
      <vt:lpstr>Slide 9</vt:lpstr>
      <vt:lpstr>   WHAT ARE MICROWAVES?     </vt:lpstr>
      <vt:lpstr>Microwave Heating</vt:lpstr>
      <vt:lpstr>Slide 12</vt:lpstr>
      <vt:lpstr>MICROWAVE REMOTE SENSING  </vt:lpstr>
      <vt:lpstr>Slide 14</vt:lpstr>
      <vt:lpstr>MICROWAVE REMOTE SENSING- On the basis of types of sensors   Passive MRS:  -Also called Radiometers -Only can detect the radiated energy -Used for natural materials -Depends upon:                     Polarization                    Frequency                    Angle of incidence and                    Physical properties of surface </vt:lpstr>
      <vt:lpstr>Active MRS: -Uses scattering parameters -For this surface roughness should be has relation to wavelength of sensor -Can measure distance with high accuracy -Capable to produce very high resolution imagery -Depends upon:                         Dielectric constant                         Conductivity                         Also on texture                         Type of surface  </vt:lpstr>
      <vt:lpstr>Slide 17</vt:lpstr>
      <vt:lpstr>Slide 18</vt:lpstr>
      <vt:lpstr>Slide 19</vt:lpstr>
      <vt:lpstr>Slide 20</vt:lpstr>
      <vt:lpstr>Slide 21</vt:lpstr>
      <vt:lpstr>Slide 22</vt:lpstr>
      <vt:lpstr>Slide 23</vt:lpstr>
      <vt:lpstr>Slide 24</vt:lpstr>
      <vt:lpstr>BLOCK DIAGRAM FOR EXPERIMENTAL SETUP</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Graphs of Cereals for 3 States </vt:lpstr>
      <vt:lpstr>Slide 41</vt:lpstr>
      <vt:lpstr>Slide 42</vt:lpstr>
      <vt:lpstr>Dielectric Constant for Preliminary samples </vt:lpstr>
      <vt:lpstr>[B] For Dielectric   constant       Dielectric Constant for Oven dried samples    </vt:lpstr>
      <vt:lpstr>[C] For Dielectric          constant</vt:lpstr>
      <vt:lpstr>Loss Factor for Preliminary samples</vt:lpstr>
      <vt:lpstr>Loss Factor for oven dried samples </vt:lpstr>
      <vt:lpstr>[C]   For Loss Factor </vt:lpstr>
      <vt:lpstr>Slide 49</vt:lpstr>
      <vt:lpstr>Slide 50</vt:lpstr>
      <vt:lpstr>Dielectric Constant for 20% Moisture Content    </vt:lpstr>
      <vt:lpstr>Dielectric Constant for 10% Moisture content</vt:lpstr>
      <vt:lpstr>Dielectric Constant for 5% Moisture Content</vt:lpstr>
      <vt:lpstr>Dielectric Constant for 2% Moisture Content</vt:lpstr>
      <vt:lpstr>Loss Factor for 20% Moisture Content  </vt:lpstr>
      <vt:lpstr>Loss Factor for 10% Moisture Content</vt:lpstr>
      <vt:lpstr>Loss Factor for 5% Moisture Content </vt:lpstr>
      <vt:lpstr>Loss Factor for 2% Moisture Content </vt:lpstr>
      <vt:lpstr>THANK-YOU</vt:lpstr>
      <vt:lpstr>Slide 60</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Measurement of dielectric constant of various cereals</dc:title>
  <dc:creator>icrs</dc:creator>
  <cp:lastModifiedBy>Priya Saini</cp:lastModifiedBy>
  <cp:revision>103</cp:revision>
  <dcterms:created xsi:type="dcterms:W3CDTF">2012-07-01T21:22:29Z</dcterms:created>
  <dcterms:modified xsi:type="dcterms:W3CDTF">2012-10-02T13:34:51Z</dcterms:modified>
</cp:coreProperties>
</file>